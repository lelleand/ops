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73" r:id="rId3"/>
    <p:sldId id="275" r:id="rId4"/>
    <p:sldId id="295" r:id="rId5"/>
    <p:sldId id="309" r:id="rId6"/>
    <p:sldId id="296" r:id="rId7"/>
    <p:sldId id="288" r:id="rId8"/>
    <p:sldId id="287" r:id="rId9"/>
    <p:sldId id="306" r:id="rId10"/>
    <p:sldId id="304" r:id="rId11"/>
    <p:sldId id="307" r:id="rId12"/>
    <p:sldId id="305" r:id="rId13"/>
    <p:sldId id="308" r:id="rId14"/>
    <p:sldId id="335" r:id="rId15"/>
    <p:sldId id="289" r:id="rId16"/>
    <p:sldId id="290" r:id="rId17"/>
    <p:sldId id="291" r:id="rId18"/>
    <p:sldId id="292" r:id="rId19"/>
    <p:sldId id="284" r:id="rId20"/>
    <p:sldId id="285" r:id="rId21"/>
    <p:sldId id="298" r:id="rId22"/>
    <p:sldId id="313" r:id="rId23"/>
    <p:sldId id="263" r:id="rId24"/>
    <p:sldId id="318" r:id="rId25"/>
    <p:sldId id="297" r:id="rId26"/>
    <p:sldId id="286" r:id="rId27"/>
    <p:sldId id="303" r:id="rId28"/>
    <p:sldId id="315" r:id="rId29"/>
    <p:sldId id="316" r:id="rId30"/>
    <p:sldId id="317" r:id="rId31"/>
    <p:sldId id="270" r:id="rId32"/>
    <p:sldId id="299" r:id="rId33"/>
    <p:sldId id="300" r:id="rId34"/>
    <p:sldId id="301" r:id="rId35"/>
    <p:sldId id="277" r:id="rId36"/>
    <p:sldId id="278" r:id="rId37"/>
    <p:sldId id="320" r:id="rId38"/>
    <p:sldId id="319" r:id="rId39"/>
    <p:sldId id="323" r:id="rId40"/>
    <p:sldId id="333" r:id="rId41"/>
    <p:sldId id="334" r:id="rId42"/>
    <p:sldId id="324" r:id="rId43"/>
    <p:sldId id="321" r:id="rId44"/>
    <p:sldId id="322" r:id="rId45"/>
    <p:sldId id="332" r:id="rId46"/>
    <p:sldId id="325" r:id="rId47"/>
    <p:sldId id="326" r:id="rId48"/>
    <p:sldId id="327" r:id="rId49"/>
    <p:sldId id="328" r:id="rId50"/>
    <p:sldId id="329" r:id="rId51"/>
    <p:sldId id="330" r:id="rId52"/>
    <p:sldId id="331" r:id="rId53"/>
  </p:sldIdLst>
  <p:sldSz cx="12192000" cy="6858000"/>
  <p:notesSz cx="6797675" cy="9926638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76845" autoAdjust="0"/>
  </p:normalViewPr>
  <p:slideViewPr>
    <p:cSldViewPr snapToGrid="0">
      <p:cViewPr varScale="1">
        <p:scale>
          <a:sx n="88" d="100"/>
          <a:sy n="88" d="100"/>
        </p:scale>
        <p:origin x="129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837CD-390D-40E1-8F9E-E68DADF85571}" type="datetimeFigureOut">
              <a:rPr lang="sv-SE" smtClean="0"/>
              <a:t>2026-05-27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CD207-5EB8-4287-BF62-3DB1939375C1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6004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72011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Repo </a:t>
            </a:r>
            <a:r>
              <a:rPr lang="sv-SE" dirty="0" err="1" smtClean="0"/>
              <a:t>structure</a:t>
            </a:r>
            <a:r>
              <a:rPr lang="sv-SE" dirty="0" smtClean="0"/>
              <a:t>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How</a:t>
            </a:r>
            <a:r>
              <a:rPr lang="sv-SE" dirty="0" smtClean="0"/>
              <a:t> to </a:t>
            </a:r>
            <a:r>
              <a:rPr lang="sv-SE" dirty="0" err="1" smtClean="0"/>
              <a:t>build</a:t>
            </a:r>
            <a:r>
              <a:rPr lang="sv-SE" dirty="0" smtClean="0"/>
              <a:t>?</a:t>
            </a:r>
          </a:p>
          <a:p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00909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6405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6743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6496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aseline="0" dirty="0" smtClean="0"/>
              <a:t>OLD, </a:t>
            </a:r>
            <a:r>
              <a:rPr lang="sv-SE" baseline="0" dirty="0" err="1" smtClean="0"/>
              <a:t>Tool</a:t>
            </a:r>
            <a:r>
              <a:rPr lang="sv-SE" baseline="0" dirty="0" smtClean="0"/>
              <a:t> </a:t>
            </a:r>
            <a:r>
              <a:rPr lang="sv-SE" baseline="0" dirty="0" err="1" smtClean="0"/>
              <a:t>need</a:t>
            </a:r>
            <a:r>
              <a:rPr lang="sv-SE" baseline="0" dirty="0" smtClean="0"/>
              <a:t> </a:t>
            </a:r>
            <a:r>
              <a:rPr lang="sv-SE" baseline="0" dirty="0" err="1" smtClean="0"/>
              <a:t>updates</a:t>
            </a:r>
            <a:r>
              <a:rPr lang="sv-SE" baseline="0" dirty="0" smtClean="0"/>
              <a:t>, </a:t>
            </a:r>
          </a:p>
          <a:p>
            <a:r>
              <a:rPr lang="sv-SE" baseline="0" dirty="0" err="1" smtClean="0"/>
              <a:t>Add</a:t>
            </a:r>
            <a:r>
              <a:rPr lang="sv-SE" baseline="0" dirty="0" smtClean="0"/>
              <a:t> all </a:t>
            </a:r>
            <a:r>
              <a:rPr lang="sv-SE" baseline="0" dirty="0" err="1" smtClean="0"/>
              <a:t>languages</a:t>
            </a:r>
            <a:r>
              <a:rPr lang="sv-SE" baseline="0" dirty="0" smtClean="0"/>
              <a:t> to dialog</a:t>
            </a:r>
          </a:p>
          <a:p>
            <a:r>
              <a:rPr lang="sv-SE" baseline="0" dirty="0" err="1" smtClean="0"/>
              <a:t>Python</a:t>
            </a:r>
            <a:r>
              <a:rPr lang="sv-SE" baseline="0" dirty="0" smtClean="0"/>
              <a:t>, Ada, Delphi, JSON</a:t>
            </a:r>
          </a:p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8153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Note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OpsObject</a:t>
            </a:r>
            <a:r>
              <a:rPr lang="sv-SE" dirty="0" smtClean="0"/>
              <a:t> is the </a:t>
            </a:r>
            <a:r>
              <a:rPr lang="sv-SE" dirty="0" err="1" smtClean="0"/>
              <a:t>base</a:t>
            </a:r>
            <a:r>
              <a:rPr lang="sv-SE" dirty="0" smtClean="0"/>
              <a:t> </a:t>
            </a:r>
            <a:r>
              <a:rPr lang="sv-SE" dirty="0" err="1" smtClean="0"/>
              <a:t>class</a:t>
            </a:r>
            <a:endParaRPr lang="sv-SE" dirty="0" smtClean="0"/>
          </a:p>
          <a:p>
            <a:endParaRPr lang="sv-SE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3874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Constants </a:t>
            </a:r>
            <a:r>
              <a:rPr lang="en-US" sz="1200" dirty="0" smtClean="0"/>
              <a:t>(added 2019)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793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="1" baseline="0" dirty="0" smtClean="0"/>
              <a:t>char</a:t>
            </a:r>
            <a:r>
              <a:rPr lang="sv-SE" baseline="0" dirty="0" smtClean="0"/>
              <a:t> </a:t>
            </a:r>
            <a:r>
              <a:rPr lang="sv-SE" baseline="0" dirty="0" smtClean="0">
                <a:sym typeface="Wingdings" panose="05000000000000000000" pitchFamily="2" charset="2"/>
              </a:rPr>
              <a:t> </a:t>
            </a:r>
            <a:r>
              <a:rPr lang="sv-SE" b="1" baseline="0" dirty="0" smtClean="0">
                <a:sym typeface="Wingdings" panose="05000000000000000000" pitchFamily="2" charset="2"/>
              </a:rPr>
              <a:t>uint8_t</a:t>
            </a:r>
            <a:r>
              <a:rPr lang="sv-SE" baseline="0" dirty="0" smtClean="0">
                <a:sym typeface="Wingdings" panose="05000000000000000000" pitchFamily="2" charset="2"/>
              </a:rPr>
              <a:t> or </a:t>
            </a:r>
            <a:r>
              <a:rPr lang="sv-SE" b="1" baseline="0" dirty="0" smtClean="0">
                <a:sym typeface="Wingdings" panose="05000000000000000000" pitchFamily="2" charset="2"/>
              </a:rPr>
              <a:t>char</a:t>
            </a:r>
            <a:r>
              <a:rPr lang="sv-SE" baseline="0" dirty="0" smtClean="0">
                <a:sym typeface="Wingdings" panose="05000000000000000000" pitchFamily="2" charset="2"/>
              </a:rPr>
              <a:t>, </a:t>
            </a:r>
            <a:r>
              <a:rPr lang="sv-SE" baseline="0" dirty="0" err="1" smtClean="0">
                <a:sym typeface="Wingdings" panose="05000000000000000000" pitchFamily="2" charset="2"/>
              </a:rPr>
              <a:t>can</a:t>
            </a:r>
            <a:r>
              <a:rPr lang="sv-SE" baseline="0" dirty="0" smtClean="0">
                <a:sym typeface="Wingdings" panose="05000000000000000000" pitchFamily="2" charset="2"/>
              </a:rPr>
              <a:t> be </a:t>
            </a:r>
            <a:r>
              <a:rPr lang="sv-SE" baseline="0" dirty="0" err="1" smtClean="0">
                <a:sym typeface="Wingdings" panose="05000000000000000000" pitchFamily="2" charset="2"/>
              </a:rPr>
              <a:t>controlled</a:t>
            </a:r>
            <a:r>
              <a:rPr lang="sv-SE" baseline="0" dirty="0" smtClean="0">
                <a:sym typeface="Wingdings" panose="05000000000000000000" pitchFamily="2" charset="2"/>
              </a:rPr>
              <a:t> </a:t>
            </a:r>
            <a:r>
              <a:rPr lang="sv-SE" baseline="0" dirty="0" err="1" smtClean="0">
                <a:sym typeface="Wingdings" panose="05000000000000000000" pitchFamily="2" charset="2"/>
              </a:rPr>
              <a:t>with</a:t>
            </a:r>
            <a:r>
              <a:rPr lang="sv-SE" baseline="0" dirty="0" smtClean="0">
                <a:sym typeface="Wingdings" panose="05000000000000000000" pitchFamily="2" charset="2"/>
              </a:rPr>
              <a:t> </a:t>
            </a:r>
            <a:r>
              <a:rPr lang="sv-SE" baseline="0" dirty="0" err="1" smtClean="0">
                <a:sym typeface="Wingdings" panose="05000000000000000000" pitchFamily="2" charset="2"/>
              </a:rPr>
              <a:t>command</a:t>
            </a:r>
            <a:r>
              <a:rPr lang="sv-SE" baseline="0" dirty="0" smtClean="0">
                <a:sym typeface="Wingdings" panose="05000000000000000000" pitchFamily="2" charset="2"/>
              </a:rPr>
              <a:t> </a:t>
            </a:r>
            <a:r>
              <a:rPr lang="sv-SE" baseline="0" dirty="0" err="1" smtClean="0">
                <a:sym typeface="Wingdings" panose="05000000000000000000" pitchFamily="2" charset="2"/>
              </a:rPr>
              <a:t>line</a:t>
            </a:r>
            <a:r>
              <a:rPr lang="sv-SE" baseline="0" dirty="0" smtClean="0">
                <a:sym typeface="Wingdings" panose="05000000000000000000" pitchFamily="2" charset="2"/>
              </a:rPr>
              <a:t> argument to </a:t>
            </a:r>
            <a:r>
              <a:rPr lang="sv-SE" baseline="0" dirty="0" err="1" smtClean="0">
                <a:sym typeface="Wingdings" panose="05000000000000000000" pitchFamily="2" charset="2"/>
              </a:rPr>
              <a:t>opsc</a:t>
            </a:r>
            <a:endParaRPr lang="sv-SE" baseline="0" dirty="0" smtClean="0">
              <a:sym typeface="Wingdings" panose="05000000000000000000" pitchFamily="2" charset="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smtClean="0"/>
              <a:t>Default </a:t>
            </a:r>
            <a:r>
              <a:rPr lang="sv-SE" baseline="0" dirty="0" err="1" smtClean="0"/>
              <a:t>init</a:t>
            </a:r>
            <a:r>
              <a:rPr lang="sv-SE" baseline="0" dirty="0" smtClean="0"/>
              <a:t> </a:t>
            </a:r>
            <a:r>
              <a:rPr lang="sv-SE" baseline="0" dirty="0" err="1" smtClean="0"/>
              <a:t>false</a:t>
            </a:r>
            <a:r>
              <a:rPr lang="sv-SE" baseline="0" dirty="0" smtClean="0"/>
              <a:t> / 0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Can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changed</a:t>
            </a:r>
            <a:r>
              <a:rPr lang="sv-SE" baseline="0" dirty="0" smtClean="0"/>
              <a:t> by </a:t>
            </a:r>
            <a:r>
              <a:rPr lang="sv-SE" b="1" baseline="0" dirty="0" smtClean="0"/>
              <a:t>@//</a:t>
            </a:r>
            <a:r>
              <a:rPr lang="sv-SE" b="1" baseline="0" dirty="0" err="1" smtClean="0"/>
              <a:t>init</a:t>
            </a:r>
            <a:r>
              <a:rPr lang="sv-SE" baseline="0" dirty="0" smtClean="0"/>
              <a:t> </a:t>
            </a:r>
            <a:r>
              <a:rPr lang="sv-SE" baseline="0" dirty="0" err="1" smtClean="0"/>
              <a:t>directive</a:t>
            </a:r>
            <a:r>
              <a:rPr lang="sv-SE" baseline="0" dirty="0" smtClean="0"/>
              <a:t> in </a:t>
            </a:r>
            <a:r>
              <a:rPr lang="sv-SE" baseline="0" dirty="0" err="1" smtClean="0"/>
              <a:t>idl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26322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Enumerated types </a:t>
            </a:r>
            <a:r>
              <a:rPr lang="en-US" sz="1000" dirty="0" smtClean="0"/>
              <a:t>(added 2019)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Virtual</a:t>
            </a:r>
            <a:r>
              <a:rPr lang="sv-SE" baseline="0" dirty="0" smtClean="0"/>
              <a:t> and non-</a:t>
            </a:r>
            <a:r>
              <a:rPr lang="sv-SE" baseline="0" dirty="0" err="1" smtClean="0"/>
              <a:t>virtual</a:t>
            </a:r>
            <a:r>
              <a:rPr lang="sv-SE" baseline="0" dirty="0" smtClean="0"/>
              <a:t> Data </a:t>
            </a:r>
            <a:r>
              <a:rPr lang="sv-SE" baseline="0" dirty="0" err="1" smtClean="0"/>
              <a:t>Objects</a:t>
            </a:r>
            <a:r>
              <a:rPr lang="sv-SE" baseline="0" dirty="0" smtClean="0"/>
              <a:t>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smtClean="0"/>
              <a:t>Non-</a:t>
            </a:r>
            <a:r>
              <a:rPr lang="sv-SE" baseline="0" dirty="0" err="1" smtClean="0"/>
              <a:t>virtual</a:t>
            </a:r>
            <a:r>
              <a:rPr lang="sv-SE" baseline="0" dirty="0" smtClean="0"/>
              <a:t> </a:t>
            </a:r>
            <a:r>
              <a:rPr lang="sv-SE" baseline="0" dirty="0" smtClean="0">
                <a:sym typeface="Wingdings" panose="05000000000000000000" pitchFamily="2" charset="2"/>
              </a:rPr>
              <a:t> </a:t>
            </a:r>
            <a:r>
              <a:rPr lang="sv-SE" baseline="0" dirty="0" err="1" smtClean="0">
                <a:sym typeface="Wingdings" panose="05000000000000000000" pitchFamily="2" charset="2"/>
              </a:rPr>
              <a:t>static</a:t>
            </a:r>
            <a:r>
              <a:rPr lang="sv-SE" baseline="0" dirty="0" smtClean="0">
                <a:sym typeface="Wingdings" panose="05000000000000000000" pitchFamily="2" charset="2"/>
              </a:rPr>
              <a:t> </a:t>
            </a:r>
            <a:r>
              <a:rPr lang="sv-SE" baseline="0" dirty="0" err="1" smtClean="0">
                <a:sym typeface="Wingdings" panose="05000000000000000000" pitchFamily="2" charset="2"/>
              </a:rPr>
              <a:t>object</a:t>
            </a:r>
            <a:endParaRPr lang="sv-SE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virtual</a:t>
            </a:r>
            <a:r>
              <a:rPr lang="sv-SE" dirty="0" smtClean="0"/>
              <a:t> </a:t>
            </a:r>
            <a:r>
              <a:rPr lang="sv-SE" dirty="0" smtClean="0">
                <a:sym typeface="Wingdings" panose="05000000000000000000" pitchFamily="2" charset="2"/>
              </a:rPr>
              <a:t> </a:t>
            </a:r>
            <a:r>
              <a:rPr lang="sv-SE" dirty="0" err="1" smtClean="0">
                <a:sym typeface="Wingdings" panose="05000000000000000000" pitchFamily="2" charset="2"/>
              </a:rPr>
              <a:t>may</a:t>
            </a:r>
            <a:r>
              <a:rPr lang="sv-SE" dirty="0" smtClean="0">
                <a:sym typeface="Wingdings" panose="05000000000000000000" pitchFamily="2" charset="2"/>
              </a:rPr>
              <a:t> </a:t>
            </a:r>
            <a:r>
              <a:rPr lang="sv-SE" dirty="0" smtClean="0"/>
              <a:t>ref. </a:t>
            </a:r>
            <a:r>
              <a:rPr lang="sv-SE" dirty="0" err="1" smtClean="0"/>
              <a:t>any</a:t>
            </a:r>
            <a:r>
              <a:rPr lang="sv-SE" dirty="0" smtClean="0"/>
              <a:t> </a:t>
            </a:r>
            <a:r>
              <a:rPr lang="sv-SE" dirty="0" err="1" smtClean="0"/>
              <a:t>object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inherits</a:t>
            </a:r>
            <a:r>
              <a:rPr lang="sv-SE" dirty="0" smtClean="0"/>
              <a:t> from </a:t>
            </a:r>
            <a:r>
              <a:rPr lang="sv-SE" dirty="0" err="1" smtClean="0"/>
              <a:t>specified</a:t>
            </a:r>
            <a:r>
              <a:rPr lang="sv-SE" dirty="0" smtClean="0"/>
              <a:t> </a:t>
            </a:r>
            <a:r>
              <a:rPr lang="sv-SE" baseline="0" dirty="0" err="1" smtClean="0"/>
              <a:t>base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5042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Enumerated types </a:t>
            </a:r>
            <a:r>
              <a:rPr lang="en-US" sz="1000" dirty="0" smtClean="0"/>
              <a:t>(added 2019)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Virtual</a:t>
            </a:r>
            <a:r>
              <a:rPr lang="sv-SE" baseline="0" dirty="0" smtClean="0"/>
              <a:t> and non-</a:t>
            </a:r>
            <a:r>
              <a:rPr lang="sv-SE" baseline="0" dirty="0" err="1" smtClean="0"/>
              <a:t>virtual</a:t>
            </a:r>
            <a:r>
              <a:rPr lang="sv-SE" baseline="0" dirty="0" smtClean="0"/>
              <a:t> Data </a:t>
            </a:r>
            <a:r>
              <a:rPr lang="sv-SE" baseline="0" dirty="0" err="1" smtClean="0"/>
              <a:t>Objects</a:t>
            </a:r>
            <a:r>
              <a:rPr lang="sv-SE" baseline="0" dirty="0" smtClean="0"/>
              <a:t>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smtClean="0"/>
              <a:t>Non-</a:t>
            </a:r>
            <a:r>
              <a:rPr lang="sv-SE" baseline="0" dirty="0" err="1" smtClean="0"/>
              <a:t>virtual</a:t>
            </a:r>
            <a:r>
              <a:rPr lang="sv-SE" baseline="0" dirty="0" smtClean="0"/>
              <a:t> </a:t>
            </a:r>
            <a:r>
              <a:rPr lang="sv-SE" baseline="0" dirty="0" smtClean="0">
                <a:sym typeface="Wingdings" panose="05000000000000000000" pitchFamily="2" charset="2"/>
              </a:rPr>
              <a:t> </a:t>
            </a:r>
            <a:r>
              <a:rPr lang="sv-SE" baseline="0" dirty="0" err="1" smtClean="0">
                <a:sym typeface="Wingdings" panose="05000000000000000000" pitchFamily="2" charset="2"/>
              </a:rPr>
              <a:t>static</a:t>
            </a:r>
            <a:r>
              <a:rPr lang="sv-SE" baseline="0" dirty="0" smtClean="0">
                <a:sym typeface="Wingdings" panose="05000000000000000000" pitchFamily="2" charset="2"/>
              </a:rPr>
              <a:t> </a:t>
            </a:r>
            <a:r>
              <a:rPr lang="sv-SE" baseline="0" dirty="0" err="1" smtClean="0">
                <a:sym typeface="Wingdings" panose="05000000000000000000" pitchFamily="2" charset="2"/>
              </a:rPr>
              <a:t>object</a:t>
            </a:r>
            <a:endParaRPr lang="sv-SE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virtual</a:t>
            </a:r>
            <a:r>
              <a:rPr lang="sv-SE" dirty="0" smtClean="0"/>
              <a:t> </a:t>
            </a:r>
            <a:r>
              <a:rPr lang="sv-SE" dirty="0" smtClean="0">
                <a:sym typeface="Wingdings" panose="05000000000000000000" pitchFamily="2" charset="2"/>
              </a:rPr>
              <a:t> </a:t>
            </a:r>
            <a:r>
              <a:rPr lang="sv-SE" dirty="0" err="1" smtClean="0">
                <a:sym typeface="Wingdings" panose="05000000000000000000" pitchFamily="2" charset="2"/>
              </a:rPr>
              <a:t>may</a:t>
            </a:r>
            <a:r>
              <a:rPr lang="sv-SE" dirty="0" smtClean="0">
                <a:sym typeface="Wingdings" panose="05000000000000000000" pitchFamily="2" charset="2"/>
              </a:rPr>
              <a:t> </a:t>
            </a:r>
            <a:r>
              <a:rPr lang="sv-SE" dirty="0" smtClean="0"/>
              <a:t>ref. </a:t>
            </a:r>
            <a:r>
              <a:rPr lang="sv-SE" dirty="0" err="1" smtClean="0"/>
              <a:t>any</a:t>
            </a:r>
            <a:r>
              <a:rPr lang="sv-SE" dirty="0" smtClean="0"/>
              <a:t> </a:t>
            </a:r>
            <a:r>
              <a:rPr lang="sv-SE" dirty="0" err="1" smtClean="0"/>
              <a:t>object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inherits</a:t>
            </a:r>
            <a:r>
              <a:rPr lang="sv-SE" dirty="0" smtClean="0"/>
              <a:t> from </a:t>
            </a:r>
            <a:r>
              <a:rPr lang="sv-SE" dirty="0" err="1" smtClean="0"/>
              <a:t>specified</a:t>
            </a:r>
            <a:r>
              <a:rPr lang="sv-SE" dirty="0" smtClean="0"/>
              <a:t> </a:t>
            </a:r>
            <a:r>
              <a:rPr lang="sv-SE" baseline="0" dirty="0" err="1" smtClean="0"/>
              <a:t>base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Init</a:t>
            </a:r>
            <a:r>
              <a:rPr lang="sv-SE" baseline="0" dirty="0" smtClean="0"/>
              <a:t>: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smtClean="0"/>
              <a:t>- </a:t>
            </a:r>
            <a:r>
              <a:rPr lang="sv-SE" baseline="0" dirty="0" err="1" smtClean="0"/>
              <a:t>virtual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</a:t>
            </a:r>
            <a:r>
              <a:rPr lang="sv-SE" baseline="0" dirty="0" smtClean="0"/>
              <a:t> </a:t>
            </a:r>
            <a:r>
              <a:rPr lang="sv-SE" b="1" baseline="0" dirty="0" err="1" smtClean="0"/>
              <a:t>tdp</a:t>
            </a:r>
            <a:r>
              <a:rPr lang="sv-SE" baseline="0" dirty="0" smtClean="0"/>
              <a:t> </a:t>
            </a:r>
            <a:r>
              <a:rPr lang="sv-SE" baseline="0" dirty="0" err="1" smtClean="0"/>
              <a:t>created</a:t>
            </a:r>
            <a:r>
              <a:rPr lang="sv-SE" baseline="0" dirty="0" smtClean="0"/>
              <a:t> in </a:t>
            </a:r>
            <a:r>
              <a:rPr lang="sv-SE" baseline="0" dirty="0" err="1" smtClean="0"/>
              <a:t>constructor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10739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Vectors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with</a:t>
            </a:r>
            <a:r>
              <a:rPr lang="sv-SE" baseline="0" dirty="0" smtClean="0"/>
              <a:t> </a:t>
            </a:r>
            <a:r>
              <a:rPr lang="sv-SE" dirty="0" err="1" smtClean="0"/>
              <a:t>virtual</a:t>
            </a:r>
            <a:r>
              <a:rPr lang="sv-SE" dirty="0" smtClean="0"/>
              <a:t> </a:t>
            </a:r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 err="1" smtClean="0"/>
              <a:t>contain</a:t>
            </a:r>
            <a:r>
              <a:rPr lang="sv-SE" dirty="0" smtClean="0"/>
              <a:t> </a:t>
            </a:r>
            <a:r>
              <a:rPr lang="sv-SE" dirty="0" err="1" smtClean="0"/>
              <a:t>any</a:t>
            </a:r>
            <a:r>
              <a:rPr lang="sv-SE" dirty="0" smtClean="0"/>
              <a:t> </a:t>
            </a:r>
            <a:r>
              <a:rPr lang="sv-SE" dirty="0" err="1" smtClean="0"/>
              <a:t>object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baseline="0" dirty="0" smtClean="0"/>
              <a:t> </a:t>
            </a:r>
            <a:r>
              <a:rPr lang="sv-SE" baseline="0" dirty="0" err="1" smtClean="0"/>
              <a:t>inherits</a:t>
            </a:r>
            <a:r>
              <a:rPr lang="sv-SE" baseline="0" dirty="0" smtClean="0"/>
              <a:t> from the </a:t>
            </a:r>
            <a:r>
              <a:rPr lang="sv-SE" baseline="0" dirty="0" err="1" smtClean="0"/>
              <a:t>base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Directives</a:t>
            </a:r>
            <a:r>
              <a:rPr lang="sv-SE" baseline="0" dirty="0" smtClean="0"/>
              <a:t>…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6073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Vectors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with</a:t>
            </a:r>
            <a:r>
              <a:rPr lang="sv-SE" baseline="0" dirty="0" smtClean="0"/>
              <a:t> </a:t>
            </a:r>
            <a:r>
              <a:rPr lang="sv-SE" dirty="0" err="1" smtClean="0"/>
              <a:t>virtual</a:t>
            </a:r>
            <a:r>
              <a:rPr lang="sv-SE" dirty="0" smtClean="0"/>
              <a:t> </a:t>
            </a:r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 err="1" smtClean="0"/>
              <a:t>contain</a:t>
            </a:r>
            <a:r>
              <a:rPr lang="sv-SE" dirty="0" smtClean="0"/>
              <a:t> </a:t>
            </a:r>
            <a:r>
              <a:rPr lang="sv-SE" dirty="0" err="1" smtClean="0"/>
              <a:t>any</a:t>
            </a:r>
            <a:r>
              <a:rPr lang="sv-SE" dirty="0" smtClean="0"/>
              <a:t> </a:t>
            </a:r>
            <a:r>
              <a:rPr lang="sv-SE" dirty="0" err="1" smtClean="0"/>
              <a:t>object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baseline="0" dirty="0" smtClean="0"/>
              <a:t> </a:t>
            </a:r>
            <a:r>
              <a:rPr lang="sv-SE" baseline="0" dirty="0" err="1" smtClean="0"/>
              <a:t>inherits</a:t>
            </a:r>
            <a:r>
              <a:rPr lang="sv-SE" baseline="0" dirty="0" smtClean="0"/>
              <a:t> from the </a:t>
            </a:r>
            <a:r>
              <a:rPr lang="sv-SE" baseline="0" dirty="0" err="1" smtClean="0"/>
              <a:t>base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Fixed</a:t>
            </a:r>
            <a:r>
              <a:rPr lang="sv-SE" baseline="0" dirty="0" smtClean="0"/>
              <a:t> </a:t>
            </a:r>
            <a:r>
              <a:rPr lang="sv-SE" baseline="0" dirty="0" err="1" smtClean="0"/>
              <a:t>size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vectors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initialized</a:t>
            </a:r>
            <a:r>
              <a:rPr lang="sv-SE" baseline="0" dirty="0" smtClean="0"/>
              <a:t> in </a:t>
            </a:r>
            <a:r>
              <a:rPr lang="sv-SE" baseline="0" dirty="0" err="1" smtClean="0"/>
              <a:t>constructor</a:t>
            </a: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Directives</a:t>
            </a:r>
            <a:r>
              <a:rPr lang="sv-SE" baseline="0" dirty="0" smtClean="0"/>
              <a:t>… (</a:t>
            </a:r>
            <a:r>
              <a:rPr lang="sv-SE" baseline="0" dirty="0" err="1" smtClean="0"/>
              <a:t>see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github</a:t>
            </a:r>
            <a:r>
              <a:rPr lang="sv-SE" baseline="0" dirty="0" smtClean="0"/>
              <a:t> </a:t>
            </a:r>
            <a:r>
              <a:rPr lang="sv-SE" baseline="0" dirty="0" err="1" smtClean="0"/>
              <a:t>doc</a:t>
            </a:r>
            <a:r>
              <a:rPr lang="sv-SE" baseline="0" dirty="0" smtClean="0"/>
              <a:t>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baseline="0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15173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Separate</a:t>
            </a:r>
            <a:r>
              <a:rPr lang="sv-SE" dirty="0" smtClean="0"/>
              <a:t> </a:t>
            </a:r>
            <a:r>
              <a:rPr lang="sv-SE" dirty="0" err="1" smtClean="0"/>
              <a:t>compilations</a:t>
            </a:r>
            <a:r>
              <a:rPr lang="sv-SE" baseline="0" dirty="0" smtClean="0"/>
              <a:t> for </a:t>
            </a:r>
            <a:r>
              <a:rPr lang="sv-SE" baseline="0" dirty="0" err="1" smtClean="0"/>
              <a:t>each</a:t>
            </a:r>
            <a:r>
              <a:rPr lang="sv-SE" baseline="0" dirty="0" smtClean="0"/>
              <a:t> </a:t>
            </a:r>
            <a:r>
              <a:rPr lang="sv-SE" baseline="0" dirty="0" err="1" smtClean="0"/>
              <a:t>project</a:t>
            </a:r>
            <a:endParaRPr lang="sv-SE" baseline="0" dirty="0" smtClean="0"/>
          </a:p>
          <a:p>
            <a:r>
              <a:rPr lang="sv-SE" baseline="0" dirty="0" err="1" smtClean="0"/>
              <a:t>Can</a:t>
            </a:r>
            <a:r>
              <a:rPr lang="sv-SE" baseline="0" dirty="0" smtClean="0"/>
              <a:t> </a:t>
            </a:r>
            <a:r>
              <a:rPr lang="sv-SE" baseline="0" dirty="0" err="1" smtClean="0"/>
              <a:t>use</a:t>
            </a:r>
            <a:r>
              <a:rPr lang="sv-SE" baseline="0" dirty="0" smtClean="0"/>
              <a:t> Data </a:t>
            </a:r>
            <a:r>
              <a:rPr lang="sv-SE" baseline="0" dirty="0" err="1" smtClean="0"/>
              <a:t>Objects</a:t>
            </a:r>
            <a:r>
              <a:rPr lang="sv-SE" baseline="0" dirty="0" smtClean="0"/>
              <a:t> (</a:t>
            </a:r>
            <a:r>
              <a:rPr lang="sv-SE" baseline="0" dirty="0" err="1" smtClean="0"/>
              <a:t>classes</a:t>
            </a:r>
            <a:r>
              <a:rPr lang="sv-SE" baseline="0" dirty="0" smtClean="0"/>
              <a:t>) from </a:t>
            </a:r>
            <a:r>
              <a:rPr lang="sv-SE" baseline="0" dirty="0" err="1" smtClean="0"/>
              <a:t>other</a:t>
            </a:r>
            <a:r>
              <a:rPr lang="sv-SE" baseline="0" dirty="0" smtClean="0"/>
              <a:t> </a:t>
            </a:r>
            <a:r>
              <a:rPr lang="sv-SE" baseline="0" dirty="0" err="1" smtClean="0"/>
              <a:t>projects</a:t>
            </a:r>
            <a:r>
              <a:rPr lang="sv-SE" baseline="0" dirty="0" smtClean="0"/>
              <a:t> (not </a:t>
            </a:r>
            <a:r>
              <a:rPr lang="sv-SE" baseline="0" dirty="0" err="1" smtClean="0"/>
              <a:t>enum-types</a:t>
            </a:r>
            <a:r>
              <a:rPr lang="sv-SE" baseline="0" dirty="0" smtClean="0"/>
              <a:t>)</a:t>
            </a:r>
          </a:p>
          <a:p>
            <a:r>
              <a:rPr lang="sv-SE" baseline="0" dirty="0" smtClean="0"/>
              <a:t>If C#-dll, Java-</a:t>
            </a:r>
            <a:r>
              <a:rPr lang="sv-SE" baseline="0" dirty="0" err="1" smtClean="0"/>
              <a:t>jar</a:t>
            </a:r>
            <a:r>
              <a:rPr lang="sv-SE" baseline="0" dirty="0" smtClean="0"/>
              <a:t> or </a:t>
            </a:r>
            <a:r>
              <a:rPr lang="sv-SE" baseline="0" dirty="0" err="1" smtClean="0"/>
              <a:t>Python-packages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should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built</a:t>
            </a:r>
            <a:r>
              <a:rPr lang="sv-SE" baseline="0" dirty="0" smtClean="0"/>
              <a:t>, the </a:t>
            </a:r>
            <a:r>
              <a:rPr lang="sv-SE" baseline="0" dirty="0" err="1" smtClean="0"/>
              <a:t>dependencies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need</a:t>
            </a:r>
            <a:r>
              <a:rPr lang="sv-SE" baseline="0" dirty="0" smtClean="0"/>
              <a:t> to be </a:t>
            </a:r>
            <a:r>
              <a:rPr lang="sv-SE" baseline="0" dirty="0" err="1" smtClean="0"/>
              <a:t>provided</a:t>
            </a:r>
            <a:r>
              <a:rPr lang="sv-SE" baseline="0" dirty="0" smtClean="0"/>
              <a:t>.</a:t>
            </a:r>
          </a:p>
          <a:p>
            <a:endParaRPr lang="sv-SE" dirty="0" smtClean="0"/>
          </a:p>
          <a:p>
            <a:r>
              <a:rPr lang="sv-SE" dirty="0" err="1" smtClean="0"/>
              <a:t>One</a:t>
            </a:r>
            <a:r>
              <a:rPr lang="sv-SE" dirty="0" smtClean="0"/>
              <a:t> </a:t>
            </a:r>
            <a:r>
              <a:rPr lang="sv-SE" dirty="0" err="1" smtClean="0"/>
              <a:t>factory</a:t>
            </a:r>
            <a:r>
              <a:rPr lang="sv-SE" dirty="0" smtClean="0"/>
              <a:t> is </a:t>
            </a:r>
            <a:r>
              <a:rPr lang="sv-SE" dirty="0" err="1" smtClean="0"/>
              <a:t>generated</a:t>
            </a:r>
            <a:r>
              <a:rPr lang="sv-SE" dirty="0" smtClean="0"/>
              <a:t> for </a:t>
            </a:r>
            <a:r>
              <a:rPr lang="sv-SE" dirty="0" err="1" smtClean="0"/>
              <a:t>each</a:t>
            </a:r>
            <a:r>
              <a:rPr lang="sv-SE" dirty="0" smtClean="0"/>
              <a:t> </a:t>
            </a:r>
            <a:r>
              <a:rPr lang="sv-SE" dirty="0" err="1" smtClean="0"/>
              <a:t>compilation</a:t>
            </a:r>
            <a:r>
              <a:rPr lang="sv-SE" dirty="0" smtClean="0"/>
              <a:t>. 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041327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sv-SE" baseline="0" dirty="0" smtClean="0"/>
          </a:p>
          <a:p>
            <a:pPr marL="0" indent="0">
              <a:buFontTx/>
              <a:buNone/>
            </a:pPr>
            <a:r>
              <a:rPr lang="sv-SE" baseline="0" dirty="0" smtClean="0"/>
              <a:t>PORT </a:t>
            </a:r>
            <a:r>
              <a:rPr lang="sv-SE" baseline="0" dirty="0" err="1" smtClean="0"/>
              <a:t>can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configured</a:t>
            </a:r>
            <a:r>
              <a:rPr lang="sv-SE" baseline="0" dirty="0" smtClean="0"/>
              <a:t> in </a:t>
            </a:r>
            <a:r>
              <a:rPr lang="sv-SE" baseline="0" dirty="0" err="1" smtClean="0"/>
              <a:t>several</a:t>
            </a:r>
            <a:r>
              <a:rPr lang="sv-SE" baseline="0" dirty="0" smtClean="0"/>
              <a:t> different </a:t>
            </a:r>
            <a:r>
              <a:rPr lang="sv-SE" baseline="0" dirty="0" err="1" smtClean="0"/>
              <a:t>ways</a:t>
            </a:r>
            <a:endParaRPr lang="sv-SE" baseline="0" dirty="0" smtClean="0"/>
          </a:p>
          <a:p>
            <a:pPr marL="0" indent="0">
              <a:buFontTx/>
              <a:buNone/>
            </a:pPr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17372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29767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21509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Start()</a:t>
            </a:r>
          </a:p>
          <a:p>
            <a:r>
              <a:rPr lang="sv-SE" dirty="0" smtClean="0"/>
              <a:t>Stop()</a:t>
            </a:r>
          </a:p>
          <a:p>
            <a:endParaRPr lang="sv-SE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1951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Point </a:t>
            </a:r>
            <a:r>
              <a:rPr lang="sv-SE" dirty="0" err="1" smtClean="0"/>
              <a:t>out</a:t>
            </a:r>
            <a:r>
              <a:rPr lang="sv-SE" dirty="0" smtClean="0"/>
              <a:t> the LOCK.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Without</a:t>
            </a:r>
            <a:r>
              <a:rPr lang="sv-SE" baseline="0" dirty="0" smtClean="0"/>
              <a:t> </a:t>
            </a:r>
            <a:r>
              <a:rPr lang="sv-SE" baseline="0" dirty="0" err="1" smtClean="0"/>
              <a:t>locking</a:t>
            </a:r>
            <a:r>
              <a:rPr lang="sv-SE" baseline="0" dirty="0" smtClean="0"/>
              <a:t>, data </a:t>
            </a:r>
            <a:r>
              <a:rPr lang="sv-SE" baseline="0" dirty="0" err="1" smtClean="0"/>
              <a:t>can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changed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while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accessing</a:t>
            </a:r>
            <a:r>
              <a:rPr lang="sv-SE" baseline="0" dirty="0" smtClean="0"/>
              <a:t> it.</a:t>
            </a:r>
          </a:p>
          <a:p>
            <a:r>
              <a:rPr lang="sv-SE" baseline="0" dirty="0" err="1" smtClean="0"/>
              <a:t>Several</a:t>
            </a:r>
            <a:r>
              <a:rPr lang="sv-SE" baseline="0" dirty="0" smtClean="0"/>
              <a:t> different calls, </a:t>
            </a:r>
            <a:r>
              <a:rPr lang="sv-SE" baseline="0" dirty="0" err="1" smtClean="0"/>
              <a:t>some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takes</a:t>
            </a:r>
            <a:r>
              <a:rPr lang="sv-SE" baseline="0" dirty="0" smtClean="0"/>
              <a:t> the LOCK and makes a copy.</a:t>
            </a:r>
          </a:p>
          <a:p>
            <a:r>
              <a:rPr lang="sv-SE" baseline="0" dirty="0" smtClean="0"/>
              <a:t>The LOCK blocks all reception in the </a:t>
            </a:r>
            <a:r>
              <a:rPr lang="sv-SE" baseline="0" dirty="0" err="1" smtClean="0"/>
              <a:t>participant</a:t>
            </a:r>
            <a:r>
              <a:rPr lang="sv-SE" baseline="0" dirty="0" smtClean="0"/>
              <a:t> (C++) </a:t>
            </a:r>
            <a:r>
              <a:rPr lang="sv-SE" baseline="0" dirty="0" err="1" smtClean="0"/>
              <a:t>while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held</a:t>
            </a:r>
            <a:r>
              <a:rPr lang="sv-SE" baseline="0" dirty="0" smtClean="0"/>
              <a:t>.</a:t>
            </a:r>
          </a:p>
          <a:p>
            <a:endParaRPr lang="sv-SE" dirty="0" smtClean="0"/>
          </a:p>
          <a:p>
            <a:r>
              <a:rPr lang="sv-SE" dirty="0" smtClean="0"/>
              <a:t>Point </a:t>
            </a:r>
            <a:r>
              <a:rPr lang="sv-SE" dirty="0" err="1" smtClean="0"/>
              <a:t>out</a:t>
            </a:r>
            <a:r>
              <a:rPr lang="sv-SE" dirty="0" smtClean="0"/>
              <a:t> the RAII </a:t>
            </a:r>
            <a:r>
              <a:rPr lang="sv-SE" dirty="0" err="1" smtClean="0"/>
              <a:t>helper</a:t>
            </a:r>
            <a:r>
              <a:rPr lang="sv-SE" dirty="0" smtClean="0"/>
              <a:t> for the LOCK (</a:t>
            </a:r>
            <a:r>
              <a:rPr lang="sv-SE" dirty="0" err="1" smtClean="0"/>
              <a:t>ops</a:t>
            </a:r>
            <a:r>
              <a:rPr lang="sv-SE" dirty="0" smtClean="0"/>
              <a:t>::</a:t>
            </a:r>
            <a:r>
              <a:rPr lang="sv-SE" dirty="0" err="1" smtClean="0"/>
              <a:t>MessageLock</a:t>
            </a:r>
            <a:r>
              <a:rPr lang="sv-SE" dirty="0" smtClean="0"/>
              <a:t>).</a:t>
            </a:r>
          </a:p>
          <a:p>
            <a:endParaRPr lang="sv-SE" dirty="0" smtClean="0"/>
          </a:p>
          <a:p>
            <a:r>
              <a:rPr lang="sv-SE" dirty="0" err="1" smtClean="0"/>
              <a:t>Polling</a:t>
            </a:r>
            <a:r>
              <a:rPr lang="sv-SE" dirty="0" smtClean="0"/>
              <a:t>: If </a:t>
            </a:r>
            <a:r>
              <a:rPr lang="sv-SE" dirty="0" err="1" smtClean="0"/>
              <a:t>messages</a:t>
            </a:r>
            <a:r>
              <a:rPr lang="sv-SE" dirty="0" smtClean="0"/>
              <a:t> </a:t>
            </a:r>
            <a:r>
              <a:rPr lang="sv-SE" dirty="0" err="1" smtClean="0"/>
              <a:t>arrive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close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together</a:t>
            </a:r>
            <a:r>
              <a:rPr lang="sv-SE" baseline="0" dirty="0" smtClean="0"/>
              <a:t>, </a:t>
            </a:r>
            <a:r>
              <a:rPr lang="sv-SE" baseline="0" dirty="0" err="1" smtClean="0"/>
              <a:t>they</a:t>
            </a:r>
            <a:r>
              <a:rPr lang="sv-SE" baseline="0" dirty="0" smtClean="0"/>
              <a:t> </a:t>
            </a:r>
            <a:r>
              <a:rPr lang="sv-SE" baseline="0" dirty="0" err="1" smtClean="0"/>
              <a:t>can</a:t>
            </a:r>
            <a:r>
              <a:rPr lang="sv-SE" baseline="0" dirty="0" smtClean="0"/>
              <a:t> </a:t>
            </a:r>
            <a:r>
              <a:rPr lang="sv-SE" baseline="0" dirty="0" err="1" smtClean="0"/>
              <a:t>easily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missed</a:t>
            </a:r>
            <a:r>
              <a:rPr lang="sv-SE" baseline="0" dirty="0" smtClean="0"/>
              <a:t>. </a:t>
            </a:r>
            <a:r>
              <a:rPr lang="sv-SE" baseline="0" dirty="0" err="1" smtClean="0"/>
              <a:t>Only</a:t>
            </a:r>
            <a:r>
              <a:rPr lang="sv-SE" baseline="0" dirty="0" smtClean="0"/>
              <a:t> the </a:t>
            </a:r>
            <a:r>
              <a:rPr lang="sv-SE" baseline="0" dirty="0" err="1" smtClean="0"/>
              <a:t>latest</a:t>
            </a:r>
            <a:r>
              <a:rPr lang="sv-SE" baseline="0" dirty="0" smtClean="0"/>
              <a:t> is </a:t>
            </a:r>
            <a:r>
              <a:rPr lang="sv-SE" baseline="0" dirty="0" err="1" smtClean="0"/>
              <a:t>saved</a:t>
            </a:r>
            <a:r>
              <a:rPr lang="sv-SE" baseline="0" dirty="0" smtClean="0"/>
              <a:t> in the </a:t>
            </a:r>
            <a:r>
              <a:rPr lang="sv-SE" baseline="0" dirty="0" err="1" smtClean="0"/>
              <a:t>Subscriber</a:t>
            </a:r>
            <a:r>
              <a:rPr lang="sv-SE" baseline="0" dirty="0" smtClean="0"/>
              <a:t>. </a:t>
            </a:r>
          </a:p>
          <a:p>
            <a:r>
              <a:rPr lang="sv-SE" baseline="0" dirty="0" err="1" smtClean="0"/>
              <a:t>Advanced</a:t>
            </a:r>
            <a:r>
              <a:rPr lang="sv-SE" baseline="0" dirty="0" smtClean="0"/>
              <a:t>: C++ and Delphi </a:t>
            </a:r>
            <a:r>
              <a:rPr lang="sv-SE" baseline="0" dirty="0" err="1" smtClean="0"/>
              <a:t>implements</a:t>
            </a:r>
            <a:r>
              <a:rPr lang="sv-SE" baseline="0" dirty="0" smtClean="0"/>
              <a:t> a </a:t>
            </a:r>
            <a:r>
              <a:rPr lang="sv-SE" baseline="0" dirty="0" err="1" smtClean="0"/>
              <a:t>history</a:t>
            </a:r>
            <a:r>
              <a:rPr lang="sv-SE" baseline="0" dirty="0" smtClean="0"/>
              <a:t> </a:t>
            </a:r>
            <a:r>
              <a:rPr lang="sv-SE" baseline="0" dirty="0" err="1" smtClean="0"/>
              <a:t>buffer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with</a:t>
            </a:r>
            <a:r>
              <a:rPr lang="sv-SE" baseline="0" dirty="0" smtClean="0"/>
              <a:t> </a:t>
            </a:r>
            <a:r>
              <a:rPr lang="sv-SE" baseline="0" dirty="0" err="1" smtClean="0"/>
              <a:t>adjutstable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size</a:t>
            </a:r>
            <a:r>
              <a:rPr lang="sv-SE" baseline="0" dirty="0" smtClean="0"/>
              <a:t>, </a:t>
            </a:r>
            <a:r>
              <a:rPr lang="sv-SE" baseline="0" dirty="0" err="1" smtClean="0"/>
              <a:t>but</a:t>
            </a:r>
            <a:r>
              <a:rPr lang="sv-SE" baseline="0" dirty="0" smtClean="0"/>
              <a:t> it is </a:t>
            </a:r>
            <a:r>
              <a:rPr lang="sv-SE" baseline="0" dirty="0" err="1" smtClean="0"/>
              <a:t>difficult</a:t>
            </a:r>
            <a:r>
              <a:rPr lang="sv-SE" baseline="0" dirty="0" smtClean="0"/>
              <a:t> to </a:t>
            </a:r>
            <a:r>
              <a:rPr lang="sv-SE" baseline="0" dirty="0" err="1" smtClean="0"/>
              <a:t>use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correct</a:t>
            </a:r>
            <a:r>
              <a:rPr lang="sv-SE" baseline="0" dirty="0" smtClean="0"/>
              <a:t>. </a:t>
            </a:r>
            <a:r>
              <a:rPr lang="sv-SE" baseline="0" dirty="0" err="1" smtClean="0"/>
              <a:t>Easier</a:t>
            </a:r>
            <a:r>
              <a:rPr lang="sv-SE" baseline="0" dirty="0" smtClean="0"/>
              <a:t> to </a:t>
            </a:r>
            <a:r>
              <a:rPr lang="sv-SE" baseline="0" dirty="0" err="1" smtClean="0"/>
              <a:t>use</a:t>
            </a:r>
            <a:r>
              <a:rPr lang="sv-SE" baseline="0" dirty="0" smtClean="0"/>
              <a:t> callbacks.</a:t>
            </a:r>
          </a:p>
          <a:p>
            <a:r>
              <a:rPr lang="sv-SE" dirty="0" smtClean="0"/>
              <a:t>Ada </a:t>
            </a:r>
            <a:r>
              <a:rPr lang="sv-SE" dirty="0" err="1" smtClean="0"/>
              <a:t>also</a:t>
            </a:r>
            <a:r>
              <a:rPr lang="sv-SE" dirty="0" smtClean="0"/>
              <a:t> </a:t>
            </a:r>
            <a:r>
              <a:rPr lang="sv-SE" dirty="0" err="1" smtClean="0"/>
              <a:t>have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some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code</a:t>
            </a:r>
            <a:r>
              <a:rPr lang="sv-SE" baseline="0" dirty="0" smtClean="0"/>
              <a:t> for a </a:t>
            </a:r>
            <a:r>
              <a:rPr lang="sv-SE" dirty="0" err="1" smtClean="0"/>
              <a:t>history</a:t>
            </a:r>
            <a:r>
              <a:rPr lang="sv-SE" dirty="0" smtClean="0"/>
              <a:t> </a:t>
            </a:r>
            <a:r>
              <a:rPr lang="sv-SE" dirty="0" err="1" smtClean="0"/>
              <a:t>buffer</a:t>
            </a:r>
            <a:r>
              <a:rPr lang="sv-SE" dirty="0" smtClean="0"/>
              <a:t>,</a:t>
            </a:r>
            <a:r>
              <a:rPr lang="sv-SE" baseline="0" dirty="0" smtClean="0"/>
              <a:t> </a:t>
            </a:r>
            <a:r>
              <a:rPr lang="sv-SE" baseline="0" dirty="0" err="1" smtClean="0"/>
              <a:t>but</a:t>
            </a:r>
            <a:r>
              <a:rPr lang="sv-SE" baseline="0" dirty="0" smtClean="0"/>
              <a:t> it is not </a:t>
            </a:r>
            <a:r>
              <a:rPr lang="sv-SE" baseline="0" dirty="0" err="1" smtClean="0"/>
              <a:t>fully</a:t>
            </a:r>
            <a:r>
              <a:rPr lang="sv-SE" baseline="0" dirty="0" smtClean="0"/>
              <a:t> </a:t>
            </a:r>
            <a:r>
              <a:rPr lang="sv-SE" baseline="0" dirty="0" err="1" smtClean="0"/>
              <a:t>implemented</a:t>
            </a:r>
            <a:r>
              <a:rPr lang="sv-SE" baseline="0" dirty="0" smtClean="0"/>
              <a:t> </a:t>
            </a:r>
            <a:r>
              <a:rPr lang="sv-SE" baseline="0" dirty="0" err="1" smtClean="0"/>
              <a:t>yet</a:t>
            </a:r>
            <a:r>
              <a:rPr lang="sv-SE" baseline="0" dirty="0" smtClean="0"/>
              <a:t>.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9404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Point </a:t>
            </a:r>
            <a:r>
              <a:rPr lang="sv-SE" dirty="0" err="1" smtClean="0"/>
              <a:t>out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objects</a:t>
            </a:r>
            <a:r>
              <a:rPr lang="sv-SE" dirty="0" smtClean="0"/>
              <a:t> </a:t>
            </a:r>
            <a:r>
              <a:rPr lang="sv-SE" dirty="0" err="1" smtClean="0"/>
              <a:t>are</a:t>
            </a:r>
            <a:r>
              <a:rPr lang="sv-SE" dirty="0" smtClean="0"/>
              <a:t> </a:t>
            </a:r>
            <a:r>
              <a:rPr lang="sv-SE" dirty="0" err="1" smtClean="0"/>
              <a:t>removed</a:t>
            </a:r>
            <a:r>
              <a:rPr lang="sv-SE" dirty="0" smtClean="0"/>
              <a:t> as </a:t>
            </a:r>
            <a:r>
              <a:rPr lang="sv-SE" dirty="0" err="1" smtClean="0"/>
              <a:t>soon</a:t>
            </a:r>
            <a:r>
              <a:rPr lang="sv-SE" dirty="0" smtClean="0"/>
              <a:t> as the callbacken </a:t>
            </a:r>
            <a:r>
              <a:rPr lang="sv-SE" dirty="0" err="1" smtClean="0"/>
              <a:t>returns</a:t>
            </a:r>
            <a:r>
              <a:rPr lang="sv-SE" dirty="0" smtClean="0"/>
              <a:t>.</a:t>
            </a:r>
          </a:p>
          <a:p>
            <a:endParaRPr lang="sv-SE" dirty="0" smtClean="0"/>
          </a:p>
          <a:p>
            <a:r>
              <a:rPr lang="sv-SE" dirty="0" err="1" smtClean="0"/>
              <a:t>OPSMessage</a:t>
            </a:r>
            <a:r>
              <a:rPr lang="sv-SE" dirty="0" smtClean="0"/>
              <a:t> </a:t>
            </a:r>
            <a:r>
              <a:rPr lang="sv-SE" dirty="0" err="1" smtClean="0"/>
              <a:t>contra</a:t>
            </a:r>
            <a:r>
              <a:rPr lang="sv-SE" dirty="0" smtClean="0"/>
              <a:t> </a:t>
            </a:r>
            <a:r>
              <a:rPr lang="sv-SE" dirty="0" err="1" smtClean="0"/>
              <a:t>OPSObject</a:t>
            </a:r>
            <a:endParaRPr lang="sv-SE" dirty="0" smtClean="0"/>
          </a:p>
          <a:p>
            <a:endParaRPr lang="sv-SE" baseline="0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630935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Point </a:t>
            </a:r>
            <a:r>
              <a:rPr lang="sv-SE" dirty="0" err="1" smtClean="0"/>
              <a:t>out</a:t>
            </a:r>
            <a:r>
              <a:rPr lang="sv-SE" dirty="0" smtClean="0"/>
              <a:t>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objects</a:t>
            </a:r>
            <a:r>
              <a:rPr lang="sv-SE" dirty="0" smtClean="0"/>
              <a:t> </a:t>
            </a:r>
            <a:r>
              <a:rPr lang="sv-SE" dirty="0" err="1" smtClean="0"/>
              <a:t>are</a:t>
            </a:r>
            <a:r>
              <a:rPr lang="sv-SE" dirty="0" smtClean="0"/>
              <a:t> </a:t>
            </a:r>
            <a:r>
              <a:rPr lang="sv-SE" dirty="0" err="1" smtClean="0"/>
              <a:t>removed</a:t>
            </a:r>
            <a:r>
              <a:rPr lang="sv-SE" dirty="0" smtClean="0"/>
              <a:t> as </a:t>
            </a:r>
            <a:r>
              <a:rPr lang="sv-SE" dirty="0" err="1" smtClean="0"/>
              <a:t>soon</a:t>
            </a:r>
            <a:r>
              <a:rPr lang="sv-SE" dirty="0" smtClean="0"/>
              <a:t> as the callback </a:t>
            </a:r>
            <a:r>
              <a:rPr lang="sv-SE" dirty="0" err="1" smtClean="0"/>
              <a:t>returns</a:t>
            </a:r>
            <a:r>
              <a:rPr lang="sv-SE" dirty="0" smtClean="0"/>
              <a:t>.</a:t>
            </a:r>
          </a:p>
          <a:p>
            <a:endParaRPr lang="sv-SE" dirty="0" smtClean="0"/>
          </a:p>
          <a:p>
            <a:endParaRPr lang="sv-SE" dirty="0" smtClean="0"/>
          </a:p>
          <a:p>
            <a:endParaRPr lang="sv-SE" baseline="0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390124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  <a:p>
            <a:r>
              <a:rPr lang="sv-SE" dirty="0" smtClean="0"/>
              <a:t>UDP/TCP</a:t>
            </a:r>
            <a:r>
              <a:rPr lang="sv-SE" baseline="0" dirty="0" smtClean="0"/>
              <a:t> </a:t>
            </a:r>
            <a:r>
              <a:rPr lang="sv-SE" baseline="0" dirty="0" err="1" smtClean="0"/>
              <a:t>many</a:t>
            </a:r>
            <a:r>
              <a:rPr lang="sv-SE" baseline="0" dirty="0" smtClean="0"/>
              <a:t>-to-</a:t>
            </a:r>
            <a:r>
              <a:rPr lang="sv-SE" baseline="0" dirty="0" err="1" smtClean="0"/>
              <a:t>many</a:t>
            </a:r>
            <a:r>
              <a:rPr lang="sv-SE" baseline="0" dirty="0" smtClean="0"/>
              <a:t> </a:t>
            </a:r>
            <a:r>
              <a:rPr lang="sv-SE" baseline="0" dirty="0" err="1" smtClean="0"/>
              <a:t>requires</a:t>
            </a:r>
            <a:r>
              <a:rPr lang="sv-SE" baseline="0" dirty="0" smtClean="0"/>
              <a:t> metadata to be </a:t>
            </a:r>
            <a:r>
              <a:rPr lang="sv-SE" baseline="0" dirty="0" err="1" smtClean="0"/>
              <a:t>used</a:t>
            </a:r>
            <a:r>
              <a:rPr lang="sv-SE" baseline="0" dirty="0" smtClean="0"/>
              <a:t> </a:t>
            </a:r>
          </a:p>
          <a:p>
            <a:r>
              <a:rPr lang="sv-SE" baseline="0" dirty="0" smtClean="0"/>
              <a:t>Metadata </a:t>
            </a:r>
            <a:r>
              <a:rPr lang="sv-SE" baseline="0" dirty="0" err="1" smtClean="0"/>
              <a:t>always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use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multicast</a:t>
            </a:r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0579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  <a:p>
            <a:r>
              <a:rPr lang="sv-SE" dirty="0" smtClean="0"/>
              <a:t>UDP/TCP</a:t>
            </a:r>
            <a:r>
              <a:rPr lang="sv-SE" baseline="0" dirty="0" smtClean="0"/>
              <a:t> </a:t>
            </a:r>
            <a:r>
              <a:rPr lang="sv-SE" baseline="0" dirty="0" err="1" smtClean="0"/>
              <a:t>many</a:t>
            </a:r>
            <a:r>
              <a:rPr lang="sv-SE" baseline="0" dirty="0" smtClean="0"/>
              <a:t>-to-</a:t>
            </a:r>
            <a:r>
              <a:rPr lang="sv-SE" baseline="0" dirty="0" err="1" smtClean="0"/>
              <a:t>many</a:t>
            </a:r>
            <a:r>
              <a:rPr lang="sv-SE" baseline="0" dirty="0" smtClean="0"/>
              <a:t> </a:t>
            </a:r>
            <a:r>
              <a:rPr lang="sv-SE" baseline="0" dirty="0" err="1" smtClean="0"/>
              <a:t>requires</a:t>
            </a:r>
            <a:r>
              <a:rPr lang="sv-SE" baseline="0" dirty="0" smtClean="0"/>
              <a:t> metadata to be </a:t>
            </a:r>
            <a:r>
              <a:rPr lang="sv-SE" baseline="0" dirty="0" err="1" smtClean="0"/>
              <a:t>used</a:t>
            </a:r>
            <a:r>
              <a:rPr lang="sv-SE" baseline="0" dirty="0" smtClean="0"/>
              <a:t> </a:t>
            </a:r>
          </a:p>
          <a:p>
            <a:r>
              <a:rPr lang="sv-SE" baseline="0" dirty="0" smtClean="0"/>
              <a:t>Metadata </a:t>
            </a:r>
            <a:r>
              <a:rPr lang="sv-SE" baseline="0" dirty="0" err="1" smtClean="0"/>
              <a:t>always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use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multicast</a:t>
            </a:r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96512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Can</a:t>
            </a:r>
            <a:r>
              <a:rPr lang="sv-SE" dirty="0" smtClean="0"/>
              <a:t> </a:t>
            </a:r>
            <a:r>
              <a:rPr lang="sv-SE" dirty="0" err="1" smtClean="0"/>
              <a:t>use</a:t>
            </a:r>
            <a:r>
              <a:rPr lang="sv-SE" dirty="0" smtClean="0"/>
              <a:t> </a:t>
            </a:r>
            <a:r>
              <a:rPr lang="sv-SE" dirty="0" err="1" smtClean="0"/>
              <a:t>multiple</a:t>
            </a:r>
            <a:r>
              <a:rPr lang="sv-SE" dirty="0" smtClean="0"/>
              <a:t> </a:t>
            </a:r>
            <a:r>
              <a:rPr lang="sv-SE" dirty="0" err="1" smtClean="0"/>
              <a:t>participants</a:t>
            </a:r>
            <a:endParaRPr lang="sv-SE" dirty="0" smtClean="0"/>
          </a:p>
          <a:p>
            <a:endParaRPr lang="sv-SE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552886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Minimal </a:t>
            </a:r>
            <a:r>
              <a:rPr lang="sv-SE" dirty="0" err="1" smtClean="0"/>
              <a:t>configuration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err="1" smtClean="0"/>
              <a:t>Add</a:t>
            </a:r>
            <a:r>
              <a:rPr lang="sv-SE" dirty="0" smtClean="0"/>
              <a:t> </a:t>
            </a:r>
            <a:r>
              <a:rPr lang="sv-SE" dirty="0" err="1" smtClean="0"/>
              <a:t>something</a:t>
            </a:r>
            <a:r>
              <a:rPr lang="sv-SE" dirty="0" smtClean="0"/>
              <a:t> </a:t>
            </a:r>
            <a:r>
              <a:rPr lang="sv-SE" dirty="0" err="1" smtClean="0"/>
              <a:t>about</a:t>
            </a:r>
            <a:r>
              <a:rPr lang="sv-SE" dirty="0" smtClean="0"/>
              <a:t> </a:t>
            </a:r>
            <a:r>
              <a:rPr lang="sv-SE" dirty="0" err="1" smtClean="0"/>
              <a:t>OpsConfigRepository</a:t>
            </a:r>
            <a:r>
              <a:rPr lang="sv-SE" dirty="0" smtClean="0"/>
              <a:t>, to make it </a:t>
            </a:r>
            <a:r>
              <a:rPr lang="sv-SE" dirty="0" err="1" smtClean="0"/>
              <a:t>easier</a:t>
            </a:r>
            <a:r>
              <a:rPr lang="sv-SE" dirty="0" smtClean="0"/>
              <a:t> to </a:t>
            </a:r>
            <a:r>
              <a:rPr lang="sv-SE" dirty="0" err="1" smtClean="0"/>
              <a:t>use</a:t>
            </a:r>
            <a:r>
              <a:rPr lang="sv-SE" dirty="0" smtClean="0"/>
              <a:t> </a:t>
            </a:r>
            <a:r>
              <a:rPr lang="sv-SE" dirty="0" err="1" smtClean="0"/>
              <a:t>multiple</a:t>
            </a:r>
            <a:r>
              <a:rPr lang="sv-SE" dirty="0" smtClean="0"/>
              <a:t> </a:t>
            </a:r>
            <a:r>
              <a:rPr lang="sv-SE" dirty="0" err="1" smtClean="0"/>
              <a:t>config-files</a:t>
            </a:r>
            <a:r>
              <a:rPr lang="sv-SE" dirty="0" smtClean="0"/>
              <a:t> (</a:t>
            </a:r>
            <a:r>
              <a:rPr lang="sv-SE" dirty="0" err="1" smtClean="0"/>
              <a:t>currently</a:t>
            </a:r>
            <a:r>
              <a:rPr lang="sv-SE" dirty="0" smtClean="0"/>
              <a:t> </a:t>
            </a:r>
            <a:r>
              <a:rPr lang="sv-SE" dirty="0" err="1" smtClean="0"/>
              <a:t>missing</a:t>
            </a:r>
            <a:r>
              <a:rPr lang="sv-SE" dirty="0" smtClean="0"/>
              <a:t> for </a:t>
            </a:r>
            <a:r>
              <a:rPr lang="sv-SE" dirty="0" err="1" smtClean="0"/>
              <a:t>Python</a:t>
            </a:r>
            <a:r>
              <a:rPr lang="sv-SE" dirty="0" smtClean="0"/>
              <a:t>)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63923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Different</a:t>
            </a:r>
            <a:r>
              <a:rPr lang="sv-SE" baseline="0" dirty="0" smtClean="0"/>
              <a:t> ports, same ports</a:t>
            </a:r>
          </a:p>
          <a:p>
            <a:endParaRPr lang="sv-SE" baseline="0" dirty="0" smtClean="0"/>
          </a:p>
          <a:p>
            <a:r>
              <a:rPr lang="sv-SE" baseline="0" dirty="0" smtClean="0"/>
              <a:t>Socket </a:t>
            </a:r>
            <a:r>
              <a:rPr lang="sv-SE" baseline="0" dirty="0" err="1" smtClean="0"/>
              <a:t>buffers</a:t>
            </a:r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18358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Different</a:t>
            </a:r>
            <a:r>
              <a:rPr lang="sv-SE" baseline="0" dirty="0" smtClean="0"/>
              <a:t> ports, same ports</a:t>
            </a:r>
          </a:p>
          <a:p>
            <a:endParaRPr lang="sv-SE" baseline="0" dirty="0" smtClean="0"/>
          </a:p>
          <a:p>
            <a:r>
              <a:rPr lang="sv-SE" baseline="0" dirty="0" smtClean="0"/>
              <a:t>Socket </a:t>
            </a:r>
            <a:r>
              <a:rPr lang="sv-SE" baseline="0" dirty="0" err="1" smtClean="0"/>
              <a:t>buffers</a:t>
            </a:r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190254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Different</a:t>
            </a:r>
            <a:r>
              <a:rPr lang="sv-SE" baseline="0" dirty="0" smtClean="0"/>
              <a:t> ports, same ports</a:t>
            </a:r>
          </a:p>
          <a:p>
            <a:endParaRPr lang="sv-SE" baseline="0" dirty="0" smtClean="0"/>
          </a:p>
          <a:p>
            <a:r>
              <a:rPr lang="sv-SE" baseline="0" dirty="0" smtClean="0"/>
              <a:t>Socket </a:t>
            </a:r>
            <a:r>
              <a:rPr lang="sv-SE" baseline="0" dirty="0" err="1" smtClean="0"/>
              <a:t>buffers</a:t>
            </a:r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29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666846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Different</a:t>
            </a:r>
            <a:r>
              <a:rPr lang="sv-SE" baseline="0" dirty="0" smtClean="0"/>
              <a:t> ports, same ports</a:t>
            </a:r>
          </a:p>
          <a:p>
            <a:endParaRPr lang="sv-SE" baseline="0" dirty="0" smtClean="0"/>
          </a:p>
          <a:p>
            <a:r>
              <a:rPr lang="sv-SE" baseline="0" dirty="0" smtClean="0"/>
              <a:t>Socket </a:t>
            </a:r>
            <a:r>
              <a:rPr lang="sv-SE" baseline="0" dirty="0" err="1" smtClean="0"/>
              <a:t>buffers</a:t>
            </a:r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28183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DISCUSSION: </a:t>
            </a:r>
            <a:r>
              <a:rPr lang="sv-SE" dirty="0" err="1" smtClean="0"/>
              <a:t>Large</a:t>
            </a:r>
            <a:r>
              <a:rPr lang="sv-SE" dirty="0" smtClean="0"/>
              <a:t> data on</a:t>
            </a:r>
            <a:r>
              <a:rPr lang="sv-SE" baseline="0" dirty="0" smtClean="0"/>
              <a:t> same or </a:t>
            </a:r>
            <a:r>
              <a:rPr lang="sv-SE" baseline="0" dirty="0" err="1" smtClean="0"/>
              <a:t>separate</a:t>
            </a:r>
            <a:r>
              <a:rPr lang="sv-SE" baseline="0" dirty="0" smtClean="0"/>
              <a:t> </a:t>
            </a:r>
            <a:r>
              <a:rPr lang="sv-SE" dirty="0" err="1" smtClean="0"/>
              <a:t>topics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smtClean="0"/>
              <a:t>Jumbo packets</a:t>
            </a:r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630246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  <a:p>
            <a:r>
              <a:rPr lang="sv-SE" dirty="0" err="1" smtClean="0"/>
              <a:t>OPSMessage</a:t>
            </a:r>
            <a:endParaRPr lang="sv-SE" dirty="0" smtClean="0"/>
          </a:p>
          <a:p>
            <a:endParaRPr lang="sv-SE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819972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36586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baseline="0" dirty="0" smtClean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4952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945852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14701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Factories</a:t>
            </a:r>
            <a:r>
              <a:rPr lang="sv-SE" dirty="0" smtClean="0"/>
              <a:t> ?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551509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OPS </a:t>
            </a:r>
            <a:r>
              <a:rPr lang="sv-SE" dirty="0" err="1" smtClean="0"/>
              <a:t>internal</a:t>
            </a:r>
            <a:r>
              <a:rPr lang="sv-SE" dirty="0" smtClean="0"/>
              <a:t> </a:t>
            </a:r>
            <a:r>
              <a:rPr lang="sv-SE" dirty="0" err="1" smtClean="0"/>
              <a:t>OPSObjects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err="1" smtClean="0"/>
              <a:t>Method</a:t>
            </a:r>
            <a:r>
              <a:rPr lang="sv-SE" baseline="0" dirty="0" smtClean="0"/>
              <a:t> </a:t>
            </a:r>
            <a:r>
              <a:rPr lang="sv-SE" dirty="0" err="1" smtClean="0"/>
              <a:t>Serialize</a:t>
            </a:r>
            <a:r>
              <a:rPr lang="sv-SE" dirty="0" smtClean="0"/>
              <a:t>() and </a:t>
            </a:r>
            <a:r>
              <a:rPr lang="sv-SE" dirty="0" err="1" smtClean="0"/>
              <a:t>Archivers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err="1" smtClean="0"/>
              <a:t>OPSMessage</a:t>
            </a:r>
            <a:r>
              <a:rPr lang="sv-SE" dirty="0" smtClean="0"/>
              <a:t> and </a:t>
            </a:r>
            <a:r>
              <a:rPr lang="sv-SE" dirty="0" err="1" smtClean="0"/>
              <a:t>Reservable</a:t>
            </a:r>
            <a:endParaRPr lang="sv-SE" dirty="0" smtClean="0"/>
          </a:p>
          <a:p>
            <a:endParaRPr lang="sv-SE" dirty="0" smtClean="0"/>
          </a:p>
          <a:p>
            <a:r>
              <a:rPr lang="sv-SE" dirty="0" smtClean="0"/>
              <a:t>Publisher </a:t>
            </a:r>
            <a:r>
              <a:rPr lang="sv-SE" dirty="0" err="1" smtClean="0"/>
              <a:t>always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sends</a:t>
            </a:r>
            <a:r>
              <a:rPr lang="sv-SE" baseline="0" dirty="0" smtClean="0"/>
              <a:t> an </a:t>
            </a:r>
            <a:r>
              <a:rPr lang="sv-SE" baseline="0" dirty="0" err="1" smtClean="0"/>
              <a:t>OPSMessage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with</a:t>
            </a:r>
            <a:r>
              <a:rPr lang="sv-SE" baseline="0" dirty="0" smtClean="0"/>
              <a:t> </a:t>
            </a:r>
            <a:r>
              <a:rPr lang="sv-SE" baseline="0" dirty="0" err="1" smtClean="0"/>
              <a:t>its</a:t>
            </a:r>
            <a:r>
              <a:rPr lang="sv-SE" baseline="0" dirty="0" smtClean="0"/>
              <a:t> ’data’ </a:t>
            </a:r>
            <a:r>
              <a:rPr lang="sv-SE" baseline="0" dirty="0" err="1" smtClean="0"/>
              <a:t>field</a:t>
            </a:r>
            <a:r>
              <a:rPr lang="sv-SE" baseline="0" dirty="0" smtClean="0"/>
              <a:t> </a:t>
            </a:r>
            <a:r>
              <a:rPr lang="sv-SE" baseline="0" dirty="0" err="1" smtClean="0"/>
              <a:t>being</a:t>
            </a:r>
            <a:r>
              <a:rPr lang="sv-SE" baseline="0" dirty="0" smtClean="0"/>
              <a:t> the </a:t>
            </a:r>
            <a:r>
              <a:rPr lang="sv-SE" baseline="0" dirty="0" err="1" smtClean="0"/>
              <a:t>actual</a:t>
            </a:r>
            <a:r>
              <a:rPr lang="sv-SE" baseline="0" dirty="0" smtClean="0"/>
              <a:t> data from the </a:t>
            </a:r>
            <a:r>
              <a:rPr lang="sv-SE" baseline="0" dirty="0" err="1" smtClean="0"/>
              <a:t>user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615798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Example</a:t>
            </a:r>
            <a:r>
              <a:rPr lang="sv-SE" dirty="0" smtClean="0"/>
              <a:t> </a:t>
            </a:r>
            <a:r>
              <a:rPr lang="sv-SE" dirty="0" err="1" smtClean="0"/>
              <a:t>idl</a:t>
            </a:r>
            <a:r>
              <a:rPr lang="sv-SE" dirty="0" smtClean="0"/>
              <a:t> --&gt; C++</a:t>
            </a:r>
          </a:p>
          <a:p>
            <a:r>
              <a:rPr lang="sv-SE" dirty="0" err="1" smtClean="0"/>
              <a:t>TypeName</a:t>
            </a:r>
            <a:endParaRPr lang="sv-SE" dirty="0" smtClean="0"/>
          </a:p>
          <a:p>
            <a:r>
              <a:rPr lang="sv-SE" dirty="0" err="1" smtClean="0"/>
              <a:t>Inheritance</a:t>
            </a:r>
            <a:r>
              <a:rPr lang="sv-SE" dirty="0" smtClean="0"/>
              <a:t> string (C++17 and later </a:t>
            </a:r>
            <a:r>
              <a:rPr lang="sv-SE" dirty="0" err="1" smtClean="0"/>
              <a:t>created</a:t>
            </a:r>
            <a:r>
              <a:rPr lang="sv-SE" dirty="0" smtClean="0"/>
              <a:t> at </a:t>
            </a:r>
            <a:r>
              <a:rPr lang="sv-SE" dirty="0" err="1" smtClean="0"/>
              <a:t>compile</a:t>
            </a:r>
            <a:r>
              <a:rPr lang="sv-SE" dirty="0" smtClean="0"/>
              <a:t> </a:t>
            </a:r>
            <a:r>
              <a:rPr lang="sv-SE" dirty="0" err="1" smtClean="0"/>
              <a:t>time</a:t>
            </a:r>
            <a:r>
              <a:rPr lang="sv-SE" dirty="0" smtClean="0"/>
              <a:t>)</a:t>
            </a:r>
          </a:p>
          <a:p>
            <a:r>
              <a:rPr lang="sv-SE" dirty="0" smtClean="0"/>
              <a:t>Version </a:t>
            </a:r>
            <a:r>
              <a:rPr lang="sv-SE" dirty="0" err="1" smtClean="0"/>
              <a:t>fields</a:t>
            </a:r>
            <a:endParaRPr lang="sv-SE" dirty="0" smtClean="0"/>
          </a:p>
          <a:p>
            <a:r>
              <a:rPr lang="sv-SE" dirty="0" err="1" smtClean="0"/>
              <a:t>Constructors</a:t>
            </a:r>
            <a:r>
              <a:rPr lang="sv-SE" dirty="0" smtClean="0"/>
              <a:t>/</a:t>
            </a:r>
            <a:r>
              <a:rPr lang="sv-SE" dirty="0" err="1" smtClean="0"/>
              <a:t>Assignment</a:t>
            </a:r>
            <a:r>
              <a:rPr lang="sv-SE" dirty="0" smtClean="0"/>
              <a:t>/</a:t>
            </a:r>
            <a:r>
              <a:rPr lang="sv-SE" dirty="0" err="1" smtClean="0"/>
              <a:t>Destructor</a:t>
            </a:r>
            <a:endParaRPr lang="sv-SE" dirty="0" smtClean="0"/>
          </a:p>
          <a:p>
            <a:r>
              <a:rPr lang="sv-SE" dirty="0" err="1" smtClean="0"/>
              <a:t>Serialize</a:t>
            </a:r>
            <a:endParaRPr lang="sv-SE" dirty="0" smtClean="0"/>
          </a:p>
          <a:p>
            <a:r>
              <a:rPr lang="sv-SE" dirty="0" err="1" smtClean="0"/>
              <a:t>Cloning</a:t>
            </a:r>
            <a:endParaRPr lang="sv-SE" dirty="0" smtClean="0"/>
          </a:p>
          <a:p>
            <a:r>
              <a:rPr lang="sv-SE" dirty="0" err="1" smtClean="0"/>
              <a:t>Validation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39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35575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Example</a:t>
            </a:r>
            <a:r>
              <a:rPr lang="sv-SE" dirty="0" smtClean="0"/>
              <a:t> </a:t>
            </a:r>
            <a:r>
              <a:rPr lang="sv-SE" dirty="0" err="1" smtClean="0"/>
              <a:t>idl</a:t>
            </a:r>
            <a:r>
              <a:rPr lang="sv-SE" dirty="0" smtClean="0"/>
              <a:t> --&gt; C++</a:t>
            </a:r>
          </a:p>
          <a:p>
            <a:r>
              <a:rPr lang="sv-SE" dirty="0" err="1" smtClean="0"/>
              <a:t>TypeName</a:t>
            </a:r>
            <a:endParaRPr lang="sv-SE" dirty="0" smtClean="0"/>
          </a:p>
          <a:p>
            <a:r>
              <a:rPr lang="sv-SE" dirty="0" err="1" smtClean="0"/>
              <a:t>Inheritance</a:t>
            </a:r>
            <a:r>
              <a:rPr lang="sv-SE" dirty="0" smtClean="0"/>
              <a:t> string (C++17 and later </a:t>
            </a:r>
            <a:r>
              <a:rPr lang="sv-SE" dirty="0" err="1" smtClean="0"/>
              <a:t>created</a:t>
            </a:r>
            <a:r>
              <a:rPr lang="sv-SE" dirty="0" smtClean="0"/>
              <a:t> at </a:t>
            </a:r>
            <a:r>
              <a:rPr lang="sv-SE" dirty="0" err="1" smtClean="0"/>
              <a:t>compile</a:t>
            </a:r>
            <a:r>
              <a:rPr lang="sv-SE" dirty="0" smtClean="0"/>
              <a:t> </a:t>
            </a:r>
            <a:r>
              <a:rPr lang="sv-SE" dirty="0" err="1" smtClean="0"/>
              <a:t>time</a:t>
            </a:r>
            <a:r>
              <a:rPr lang="sv-SE" dirty="0" smtClean="0"/>
              <a:t>)</a:t>
            </a:r>
          </a:p>
          <a:p>
            <a:r>
              <a:rPr lang="sv-SE" dirty="0" smtClean="0"/>
              <a:t>Version </a:t>
            </a:r>
            <a:r>
              <a:rPr lang="sv-SE" dirty="0" err="1" smtClean="0"/>
              <a:t>fields</a:t>
            </a:r>
            <a:endParaRPr lang="sv-SE" dirty="0" smtClean="0"/>
          </a:p>
          <a:p>
            <a:r>
              <a:rPr lang="sv-SE" dirty="0" err="1" smtClean="0"/>
              <a:t>Constructors</a:t>
            </a:r>
            <a:r>
              <a:rPr lang="sv-SE" dirty="0" smtClean="0"/>
              <a:t>/</a:t>
            </a:r>
            <a:r>
              <a:rPr lang="sv-SE" dirty="0" err="1" smtClean="0"/>
              <a:t>Assignment</a:t>
            </a:r>
            <a:r>
              <a:rPr lang="sv-SE" dirty="0" smtClean="0"/>
              <a:t>/</a:t>
            </a:r>
            <a:r>
              <a:rPr lang="sv-SE" dirty="0" err="1" smtClean="0"/>
              <a:t>Destructor</a:t>
            </a:r>
            <a:endParaRPr lang="sv-SE" dirty="0" smtClean="0"/>
          </a:p>
          <a:p>
            <a:r>
              <a:rPr lang="sv-SE" dirty="0" err="1" smtClean="0"/>
              <a:t>Serialize</a:t>
            </a:r>
            <a:endParaRPr lang="sv-SE" dirty="0" smtClean="0"/>
          </a:p>
          <a:p>
            <a:r>
              <a:rPr lang="sv-SE" dirty="0" err="1" smtClean="0"/>
              <a:t>Cloning</a:t>
            </a:r>
            <a:endParaRPr lang="sv-SE" dirty="0" smtClean="0"/>
          </a:p>
          <a:p>
            <a:r>
              <a:rPr lang="sv-SE" dirty="0" err="1" smtClean="0"/>
              <a:t>Validation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82143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Serialize</a:t>
            </a:r>
            <a:r>
              <a:rPr lang="sv-SE" dirty="0" smtClean="0"/>
              <a:t> or </a:t>
            </a:r>
            <a:r>
              <a:rPr lang="sv-SE" dirty="0" err="1" smtClean="0"/>
              <a:t>deserialize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depending</a:t>
            </a:r>
            <a:r>
              <a:rPr lang="sv-SE" baseline="0" dirty="0" smtClean="0"/>
              <a:t> on given </a:t>
            </a:r>
            <a:r>
              <a:rPr lang="sv-SE" baseline="0" dirty="0" err="1" smtClean="0"/>
              <a:t>archiver</a:t>
            </a:r>
            <a:endParaRPr lang="sv-SE" baseline="0" dirty="0" smtClean="0"/>
          </a:p>
          <a:p>
            <a:endParaRPr lang="sv-SE" dirty="0" smtClean="0"/>
          </a:p>
          <a:p>
            <a:r>
              <a:rPr lang="sv-SE" dirty="0" err="1" smtClean="0"/>
              <a:t>Archivers</a:t>
            </a:r>
            <a:r>
              <a:rPr lang="sv-SE" dirty="0" smtClean="0"/>
              <a:t> </a:t>
            </a:r>
            <a:r>
              <a:rPr lang="sv-SE" dirty="0" err="1" smtClean="0"/>
              <a:t>have</a:t>
            </a:r>
            <a:r>
              <a:rPr lang="sv-SE" dirty="0" smtClean="0"/>
              <a:t> a </a:t>
            </a:r>
            <a:r>
              <a:rPr lang="sv-SE" dirty="0" err="1" smtClean="0"/>
              <a:t>lot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inout</a:t>
            </a:r>
            <a:r>
              <a:rPr lang="sv-SE" dirty="0" smtClean="0"/>
              <a:t>() </a:t>
            </a:r>
            <a:r>
              <a:rPr lang="sv-SE" dirty="0" err="1" smtClean="0"/>
              <a:t>methods</a:t>
            </a:r>
            <a:r>
              <a:rPr lang="sv-SE" dirty="0" smtClean="0"/>
              <a:t> for different </a:t>
            </a:r>
            <a:r>
              <a:rPr lang="sv-SE" dirty="0" err="1" smtClean="0"/>
              <a:t>types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267355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Different </a:t>
            </a:r>
            <a:r>
              <a:rPr lang="sv-SE" dirty="0" err="1" smtClean="0"/>
              <a:t>Archivers</a:t>
            </a:r>
            <a:endParaRPr lang="sv-SE" dirty="0" smtClean="0"/>
          </a:p>
          <a:p>
            <a:r>
              <a:rPr lang="sv-SE" dirty="0" err="1" smtClean="0"/>
              <a:t>Can</a:t>
            </a:r>
            <a:r>
              <a:rPr lang="sv-SE" baseline="0" dirty="0" smtClean="0"/>
              <a:t> be </a:t>
            </a:r>
            <a:r>
              <a:rPr lang="sv-SE" baseline="0" dirty="0" err="1" smtClean="0"/>
              <a:t>used</a:t>
            </a:r>
            <a:r>
              <a:rPr lang="sv-SE" baseline="0" dirty="0" smtClean="0"/>
              <a:t> as argument to </a:t>
            </a:r>
            <a:r>
              <a:rPr lang="sv-SE" baseline="0" dirty="0" err="1" smtClean="0"/>
              <a:t>Serialize</a:t>
            </a:r>
            <a:r>
              <a:rPr lang="sv-SE" baseline="0" dirty="0" smtClean="0"/>
              <a:t>() </a:t>
            </a:r>
            <a:r>
              <a:rPr lang="sv-SE" baseline="0" dirty="0" err="1" smtClean="0"/>
              <a:t>method</a:t>
            </a:r>
            <a:r>
              <a:rPr lang="sv-SE" baseline="0" dirty="0" smtClean="0"/>
              <a:t> on </a:t>
            </a:r>
            <a:r>
              <a:rPr lang="sv-SE" baseline="0" dirty="0" err="1" smtClean="0"/>
              <a:t>OPSObjects</a:t>
            </a:r>
            <a:endParaRPr lang="sv-SE" baseline="0" dirty="0" smtClean="0"/>
          </a:p>
          <a:p>
            <a:endParaRPr lang="sv-SE" dirty="0" smtClean="0"/>
          </a:p>
          <a:p>
            <a:r>
              <a:rPr lang="sv-SE" dirty="0" err="1" smtClean="0"/>
              <a:t>OPSArchiverIn</a:t>
            </a:r>
            <a:r>
              <a:rPr lang="sv-SE" dirty="0" smtClean="0"/>
              <a:t>/</a:t>
            </a:r>
            <a:r>
              <a:rPr lang="sv-SE" dirty="0" err="1" smtClean="0"/>
              <a:t>Out</a:t>
            </a:r>
            <a:r>
              <a:rPr lang="sv-SE" dirty="0" smtClean="0"/>
              <a:t> </a:t>
            </a:r>
            <a:r>
              <a:rPr lang="sv-SE" dirty="0" err="1" smtClean="0"/>
              <a:t>used</a:t>
            </a:r>
            <a:r>
              <a:rPr lang="sv-SE" dirty="0" smtClean="0"/>
              <a:t> </a:t>
            </a:r>
            <a:r>
              <a:rPr lang="sv-SE" dirty="0" err="1" smtClean="0"/>
              <a:t>internally</a:t>
            </a:r>
            <a:r>
              <a:rPr lang="sv-SE" baseline="0" dirty="0" smtClean="0"/>
              <a:t> for </a:t>
            </a:r>
            <a:r>
              <a:rPr lang="sv-SE" baseline="0" dirty="0" err="1" smtClean="0"/>
              <a:t>send</a:t>
            </a:r>
            <a:r>
              <a:rPr lang="sv-SE" baseline="0" dirty="0" smtClean="0"/>
              <a:t>/</a:t>
            </a:r>
            <a:r>
              <a:rPr lang="sv-SE" baseline="0" dirty="0" err="1" smtClean="0"/>
              <a:t>receive</a:t>
            </a:r>
            <a:r>
              <a:rPr lang="sv-SE" baseline="0" dirty="0" smtClean="0"/>
              <a:t> (</a:t>
            </a:r>
            <a:r>
              <a:rPr lang="sv-SE" baseline="0" dirty="0" err="1" smtClean="0"/>
              <a:t>binary</a:t>
            </a:r>
            <a:r>
              <a:rPr lang="sv-SE" baseline="0" dirty="0" smtClean="0"/>
              <a:t> format)</a:t>
            </a:r>
          </a:p>
          <a:p>
            <a:endParaRPr lang="sv-SE" baseline="0" dirty="0" smtClean="0"/>
          </a:p>
          <a:p>
            <a:r>
              <a:rPr lang="sv-SE" baseline="0" dirty="0" err="1" smtClean="0"/>
              <a:t>Archivers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of</a:t>
            </a:r>
            <a:r>
              <a:rPr lang="sv-SE" baseline="0" dirty="0" smtClean="0"/>
              <a:t> In-</a:t>
            </a:r>
            <a:r>
              <a:rPr lang="sv-SE" baseline="0" dirty="0" err="1" smtClean="0"/>
              <a:t>type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need</a:t>
            </a:r>
            <a:r>
              <a:rPr lang="sv-SE" baseline="0" dirty="0" smtClean="0"/>
              <a:t> a </a:t>
            </a:r>
            <a:r>
              <a:rPr lang="sv-SE" baseline="0" dirty="0" err="1" smtClean="0"/>
              <a:t>factory</a:t>
            </a:r>
            <a:r>
              <a:rPr lang="sv-SE" baseline="0" dirty="0" smtClean="0"/>
              <a:t> to be </a:t>
            </a:r>
            <a:r>
              <a:rPr lang="sv-SE" baseline="0" dirty="0" err="1" smtClean="0"/>
              <a:t>able</a:t>
            </a:r>
            <a:r>
              <a:rPr lang="sv-SE" baseline="0" dirty="0" smtClean="0"/>
              <a:t> to </a:t>
            </a:r>
            <a:r>
              <a:rPr lang="sv-SE" baseline="0" dirty="0" err="1" smtClean="0"/>
              <a:t>create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objects</a:t>
            </a:r>
            <a:endParaRPr lang="sv-SE" baseline="0" dirty="0" smtClean="0"/>
          </a:p>
          <a:p>
            <a:endParaRPr lang="sv-SE" baseline="0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386595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73098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Singleton: </a:t>
            </a:r>
            <a:r>
              <a:rPr lang="sv-SE" dirty="0" err="1" smtClean="0"/>
              <a:t>OPSConfigRepository</a:t>
            </a:r>
            <a:r>
              <a:rPr lang="sv-SE" dirty="0" smtClean="0"/>
              <a:t>, ops_config.xml </a:t>
            </a:r>
          </a:p>
          <a:p>
            <a:r>
              <a:rPr lang="sv-SE" dirty="0" err="1" smtClean="0"/>
              <a:t>Partcipant</a:t>
            </a:r>
            <a:r>
              <a:rPr lang="sv-SE" dirty="0" smtClean="0"/>
              <a:t>::</a:t>
            </a:r>
            <a:r>
              <a:rPr lang="sv-SE" dirty="0" err="1" smtClean="0"/>
              <a:t>getInstance</a:t>
            </a:r>
            <a:r>
              <a:rPr lang="sv-SE" dirty="0" smtClean="0"/>
              <a:t>( </a:t>
            </a:r>
            <a:r>
              <a:rPr lang="sv-SE" dirty="0" err="1" smtClean="0"/>
              <a:t>domainID</a:t>
            </a:r>
            <a:r>
              <a:rPr lang="sv-SE" baseline="0" dirty="0" smtClean="0"/>
              <a:t> [, </a:t>
            </a:r>
            <a:r>
              <a:rPr lang="sv-SE" baseline="0" dirty="0" err="1" smtClean="0"/>
              <a:t>PartID</a:t>
            </a:r>
            <a:r>
              <a:rPr lang="sv-SE" baseline="0" dirty="0" smtClean="0"/>
              <a:t> [, </a:t>
            </a:r>
            <a:r>
              <a:rPr lang="sv-SE" baseline="0" dirty="0" err="1" smtClean="0"/>
              <a:t>configfile</a:t>
            </a:r>
            <a:r>
              <a:rPr lang="sv-SE" baseline="0" dirty="0" smtClean="0"/>
              <a:t>]] [, </a:t>
            </a:r>
            <a:r>
              <a:rPr lang="sv-SE" baseline="0" dirty="0" err="1" smtClean="0"/>
              <a:t>execution_policy</a:t>
            </a:r>
            <a:r>
              <a:rPr lang="sv-SE" baseline="0" dirty="0" smtClean="0"/>
              <a:t>]</a:t>
            </a:r>
            <a:r>
              <a:rPr lang="sv-SE" dirty="0" smtClean="0"/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Runnable</a:t>
            </a:r>
            <a:r>
              <a:rPr lang="sv-SE" dirty="0" smtClean="0"/>
              <a:t>, </a:t>
            </a:r>
            <a:r>
              <a:rPr lang="sv-SE" dirty="0" err="1" smtClean="0"/>
              <a:t>Thread</a:t>
            </a:r>
            <a:r>
              <a:rPr lang="sv-SE" baseline="0" dirty="0" smtClean="0"/>
              <a:t> / </a:t>
            </a:r>
            <a:r>
              <a:rPr lang="sv-SE" baseline="0" dirty="0" err="1" smtClean="0"/>
              <a:t>Polling</a:t>
            </a:r>
            <a:endParaRPr lang="sv-SE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baseline="0" dirty="0" err="1" smtClean="0"/>
              <a:t>Multiple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Participants</a:t>
            </a:r>
            <a:endParaRPr lang="sv-SE" baseline="0" dirty="0" smtClean="0"/>
          </a:p>
          <a:p>
            <a:r>
              <a:rPr lang="sv-SE" dirty="0" err="1" smtClean="0"/>
              <a:t>OPSObjectFactory</a:t>
            </a:r>
            <a:endParaRPr lang="sv-SE" dirty="0" smtClean="0"/>
          </a:p>
          <a:p>
            <a:r>
              <a:rPr lang="sv-SE" dirty="0" err="1" smtClean="0"/>
              <a:t>SDHFactory</a:t>
            </a:r>
            <a:endParaRPr lang="sv-SE" dirty="0" smtClean="0"/>
          </a:p>
          <a:p>
            <a:r>
              <a:rPr lang="sv-SE" dirty="0" err="1" smtClean="0"/>
              <a:t>RDHFactory</a:t>
            </a:r>
            <a:r>
              <a:rPr lang="sv-SE" dirty="0" smtClean="0"/>
              <a:t> </a:t>
            </a:r>
          </a:p>
          <a:p>
            <a:r>
              <a:rPr lang="sv-SE" dirty="0" err="1" smtClean="0"/>
              <a:t>InProcessDistributor</a:t>
            </a:r>
            <a:endParaRPr lang="sv-S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smtClean="0"/>
              <a:t>Metadata pub/</a:t>
            </a:r>
            <a:r>
              <a:rPr lang="sv-SE" dirty="0" err="1" smtClean="0"/>
              <a:t>sub</a:t>
            </a:r>
            <a:endParaRPr lang="sv-S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dirty="0" err="1" smtClean="0"/>
              <a:t>IOService</a:t>
            </a:r>
            <a:r>
              <a:rPr lang="sv-SE" dirty="0" smtClean="0"/>
              <a:t> (</a:t>
            </a:r>
            <a:r>
              <a:rPr lang="sv-SE" dirty="0" err="1" smtClean="0"/>
              <a:t>IOContext</a:t>
            </a:r>
            <a:r>
              <a:rPr lang="sv-SE" dirty="0" smtClean="0"/>
              <a:t>)</a:t>
            </a:r>
          </a:p>
          <a:p>
            <a:r>
              <a:rPr lang="sv-SE" dirty="0" smtClean="0"/>
              <a:t> 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470182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</a:t>
            </a:r>
            <a:r>
              <a:rPr lang="sv-SE" dirty="0" err="1" smtClean="0"/>
              <a:t>Participant</a:t>
            </a:r>
            <a:endParaRPr lang="sv-SE" dirty="0" smtClean="0"/>
          </a:p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</a:t>
            </a:r>
            <a:r>
              <a:rPr lang="sv-SE" dirty="0" err="1" smtClean="0"/>
              <a:t>Topic</a:t>
            </a:r>
            <a:r>
              <a:rPr lang="sv-SE" dirty="0" smtClean="0"/>
              <a:t> via </a:t>
            </a:r>
            <a:r>
              <a:rPr lang="sv-SE" dirty="0" err="1" smtClean="0"/>
              <a:t>Participant</a:t>
            </a:r>
            <a:endParaRPr lang="sv-SE" dirty="0" smtClean="0"/>
          </a:p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Publisher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Topic</a:t>
            </a:r>
            <a:endParaRPr lang="sv-SE" dirty="0" smtClean="0"/>
          </a:p>
          <a:p>
            <a:r>
              <a:rPr lang="sv-SE" dirty="0" smtClean="0"/>
              <a:t>Publisher </a:t>
            </a:r>
            <a:r>
              <a:rPr lang="sv-SE" dirty="0" err="1" smtClean="0"/>
              <a:t>fetches</a:t>
            </a:r>
            <a:r>
              <a:rPr lang="sv-SE" dirty="0" smtClean="0"/>
              <a:t> </a:t>
            </a:r>
            <a:r>
              <a:rPr lang="sv-SE" dirty="0" err="1" smtClean="0"/>
              <a:t>SendDataHandler</a:t>
            </a:r>
            <a:r>
              <a:rPr lang="sv-SE" baseline="0" dirty="0" smtClean="0"/>
              <a:t> for the </a:t>
            </a:r>
            <a:r>
              <a:rPr lang="sv-SE" baseline="0" dirty="0" err="1" smtClean="0"/>
              <a:t>Topic</a:t>
            </a:r>
            <a:r>
              <a:rPr lang="sv-SE" baseline="0" dirty="0" smtClean="0"/>
              <a:t> via </a:t>
            </a:r>
            <a:r>
              <a:rPr lang="sv-SE" baseline="0" dirty="0" err="1" smtClean="0"/>
              <a:t>Participant</a:t>
            </a:r>
            <a:r>
              <a:rPr lang="sv-SE" baseline="0" dirty="0" smtClean="0"/>
              <a:t> and </a:t>
            </a:r>
            <a:r>
              <a:rPr lang="sv-SE" baseline="0" dirty="0" err="1" smtClean="0"/>
              <a:t>its</a:t>
            </a:r>
            <a:r>
              <a:rPr lang="sv-SE" baseline="0" dirty="0" smtClean="0"/>
              <a:t> SDH </a:t>
            </a:r>
            <a:r>
              <a:rPr lang="sv-SE" baseline="0" dirty="0" err="1" smtClean="0"/>
              <a:t>Factory</a:t>
            </a:r>
            <a:r>
              <a:rPr lang="sv-SE" dirty="0" smtClean="0"/>
              <a:t> </a:t>
            </a:r>
          </a:p>
          <a:p>
            <a:endParaRPr lang="sv-SE" dirty="0" smtClean="0"/>
          </a:p>
          <a:p>
            <a:r>
              <a:rPr lang="sv-SE" dirty="0" smtClean="0"/>
              <a:t>Publisher has an </a:t>
            </a:r>
            <a:r>
              <a:rPr lang="sv-SE" dirty="0" err="1" smtClean="0"/>
              <a:t>OPSMessage</a:t>
            </a:r>
            <a:r>
              <a:rPr lang="sv-SE" dirty="0" smtClean="0"/>
              <a:t>,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updated</a:t>
            </a:r>
            <a:r>
              <a:rPr lang="sv-SE" dirty="0" smtClean="0"/>
              <a:t> metadata</a:t>
            </a:r>
          </a:p>
          <a:p>
            <a:r>
              <a:rPr lang="sv-SE" dirty="0" err="1" smtClean="0"/>
              <a:t>Serializes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message</a:t>
            </a:r>
            <a:r>
              <a:rPr lang="sv-SE" baseline="0" dirty="0" smtClean="0"/>
              <a:t> </a:t>
            </a:r>
            <a:r>
              <a:rPr lang="sv-SE" baseline="0" dirty="0" err="1" smtClean="0"/>
              <a:t>using</a:t>
            </a:r>
            <a:r>
              <a:rPr lang="sv-SE" baseline="0" dirty="0" smtClean="0"/>
              <a:t> </a:t>
            </a:r>
            <a:r>
              <a:rPr lang="sv-SE" baseline="0" dirty="0" err="1" smtClean="0"/>
              <a:t>OPSArchiverOut</a:t>
            </a:r>
            <a:r>
              <a:rPr lang="sv-SE" baseline="0" dirty="0" smtClean="0"/>
              <a:t> to </a:t>
            </a:r>
            <a:r>
              <a:rPr lang="sv-SE" baseline="0" dirty="0" err="1" smtClean="0"/>
              <a:t>buffer</a:t>
            </a:r>
            <a:endParaRPr lang="sv-SE" baseline="0" dirty="0" smtClean="0"/>
          </a:p>
          <a:p>
            <a:r>
              <a:rPr lang="sv-SE" baseline="0" dirty="0" err="1" smtClean="0"/>
              <a:t>Sends</a:t>
            </a:r>
            <a:r>
              <a:rPr lang="sv-SE" baseline="0" dirty="0" smtClean="0"/>
              <a:t> </a:t>
            </a:r>
            <a:r>
              <a:rPr lang="sv-SE" baseline="0" dirty="0" err="1" smtClean="0"/>
              <a:t>buffer</a:t>
            </a:r>
            <a:r>
              <a:rPr lang="sv-SE" baseline="0" dirty="0" smtClean="0"/>
              <a:t> via </a:t>
            </a:r>
            <a:r>
              <a:rPr lang="sv-SE" baseline="0" dirty="0" err="1" smtClean="0"/>
              <a:t>SendDataHandler</a:t>
            </a:r>
            <a:endParaRPr lang="sv-SE" baseline="0" dirty="0" smtClean="0"/>
          </a:p>
          <a:p>
            <a:endParaRPr lang="sv-SE" dirty="0" smtClean="0"/>
          </a:p>
          <a:p>
            <a:r>
              <a:rPr lang="sv-SE" dirty="0" smtClean="0"/>
              <a:t>ACK for </a:t>
            </a:r>
            <a:r>
              <a:rPr lang="sv-SE" dirty="0" err="1" smtClean="0"/>
              <a:t>multicast</a:t>
            </a:r>
            <a:r>
              <a:rPr lang="sv-SE" dirty="0" smtClean="0"/>
              <a:t> later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41241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</a:t>
            </a:r>
            <a:r>
              <a:rPr lang="sv-SE" dirty="0" err="1" smtClean="0"/>
              <a:t>Participant</a:t>
            </a:r>
            <a:endParaRPr lang="sv-SE" dirty="0" smtClean="0"/>
          </a:p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</a:t>
            </a:r>
            <a:r>
              <a:rPr lang="sv-SE" dirty="0" err="1" smtClean="0"/>
              <a:t>Topic</a:t>
            </a:r>
            <a:r>
              <a:rPr lang="sv-SE" dirty="0" smtClean="0"/>
              <a:t> via </a:t>
            </a:r>
            <a:r>
              <a:rPr lang="sv-SE" dirty="0" err="1" smtClean="0"/>
              <a:t>Participant</a:t>
            </a:r>
            <a:endParaRPr lang="sv-SE" dirty="0" smtClean="0"/>
          </a:p>
          <a:p>
            <a:r>
              <a:rPr lang="sv-SE" dirty="0" err="1" smtClean="0"/>
              <a:t>User</a:t>
            </a:r>
            <a:r>
              <a:rPr lang="sv-SE" dirty="0" smtClean="0"/>
              <a:t> </a:t>
            </a:r>
            <a:r>
              <a:rPr lang="sv-SE" dirty="0" err="1" smtClean="0"/>
              <a:t>creates</a:t>
            </a:r>
            <a:r>
              <a:rPr lang="sv-SE" dirty="0" smtClean="0"/>
              <a:t> </a:t>
            </a:r>
            <a:r>
              <a:rPr lang="sv-SE" dirty="0" err="1" smtClean="0"/>
              <a:t>Subscriber</a:t>
            </a:r>
            <a:r>
              <a:rPr lang="sv-SE" dirty="0" smtClean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Topic</a:t>
            </a:r>
            <a:endParaRPr lang="sv-SE" dirty="0" smtClean="0"/>
          </a:p>
          <a:p>
            <a:r>
              <a:rPr lang="sv-SE" dirty="0" err="1" smtClean="0"/>
              <a:t>Subscriber</a:t>
            </a:r>
            <a:r>
              <a:rPr lang="sv-SE" dirty="0" smtClean="0"/>
              <a:t> </a:t>
            </a:r>
            <a:r>
              <a:rPr lang="sv-SE" dirty="0" err="1" smtClean="0"/>
              <a:t>fetches</a:t>
            </a:r>
            <a:r>
              <a:rPr lang="sv-SE" dirty="0" smtClean="0"/>
              <a:t> </a:t>
            </a:r>
            <a:r>
              <a:rPr lang="sv-SE" dirty="0" err="1" smtClean="0"/>
              <a:t>ReceiveDataHandler</a:t>
            </a:r>
            <a:r>
              <a:rPr lang="sv-SE" baseline="0" dirty="0" smtClean="0"/>
              <a:t> for the </a:t>
            </a:r>
            <a:r>
              <a:rPr lang="sv-SE" baseline="0" dirty="0" err="1" smtClean="0"/>
              <a:t>Topic</a:t>
            </a:r>
            <a:r>
              <a:rPr lang="sv-SE" baseline="0" dirty="0" smtClean="0"/>
              <a:t> via </a:t>
            </a:r>
            <a:r>
              <a:rPr lang="sv-SE" baseline="0" dirty="0" err="1" smtClean="0"/>
              <a:t>Participant</a:t>
            </a:r>
            <a:r>
              <a:rPr lang="sv-SE" baseline="0" dirty="0" smtClean="0"/>
              <a:t> and </a:t>
            </a:r>
            <a:r>
              <a:rPr lang="sv-SE" baseline="0" dirty="0" err="1" smtClean="0"/>
              <a:t>its</a:t>
            </a:r>
            <a:r>
              <a:rPr lang="sv-SE" baseline="0" dirty="0" smtClean="0"/>
              <a:t> RDH </a:t>
            </a:r>
            <a:r>
              <a:rPr lang="sv-SE" baseline="0" dirty="0" err="1" smtClean="0"/>
              <a:t>Factory</a:t>
            </a:r>
            <a:r>
              <a:rPr lang="sv-SE" dirty="0" smtClean="0"/>
              <a:t> </a:t>
            </a:r>
          </a:p>
          <a:p>
            <a:endParaRPr lang="sv-SE" dirty="0" smtClean="0"/>
          </a:p>
          <a:p>
            <a:r>
              <a:rPr lang="sv-SE" dirty="0" err="1" smtClean="0"/>
              <a:t>ReferenceHandler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67797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Many-2-Many</a:t>
            </a:r>
          </a:p>
          <a:p>
            <a:r>
              <a:rPr lang="sv-SE" dirty="0" smtClean="0"/>
              <a:t>ACK </a:t>
            </a:r>
            <a:r>
              <a:rPr lang="sv-SE" dirty="0" err="1" smtClean="0"/>
              <a:t>case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02899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Many-2-One</a:t>
            </a:r>
          </a:p>
          <a:p>
            <a:r>
              <a:rPr lang="sv-SE" dirty="0" smtClean="0"/>
              <a:t>Many-2-Many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49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721494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One-2-Many</a:t>
            </a:r>
          </a:p>
          <a:p>
            <a:r>
              <a:rPr lang="sv-SE" dirty="0" smtClean="0"/>
              <a:t>Many-2-Many</a:t>
            </a:r>
          </a:p>
          <a:p>
            <a:endParaRPr lang="sv-SE" dirty="0" smtClean="0"/>
          </a:p>
          <a:p>
            <a:r>
              <a:rPr lang="sv-SE" dirty="0" smtClean="0"/>
              <a:t>TCP </a:t>
            </a:r>
            <a:r>
              <a:rPr lang="sv-SE" dirty="0" err="1" smtClean="0"/>
              <a:t>protocol</a:t>
            </a:r>
            <a:r>
              <a:rPr lang="sv-SE" dirty="0" smtClean="0"/>
              <a:t> versions 1 and 2</a:t>
            </a:r>
          </a:p>
          <a:p>
            <a:r>
              <a:rPr lang="sv-SE" dirty="0" err="1" smtClean="0"/>
              <a:t>Heartbeats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50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768308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One-2-Many</a:t>
            </a:r>
          </a:p>
          <a:p>
            <a:r>
              <a:rPr lang="sv-SE" dirty="0" smtClean="0"/>
              <a:t>Many-2-Many</a:t>
            </a:r>
          </a:p>
          <a:p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51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8267806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No [de]</a:t>
            </a:r>
            <a:r>
              <a:rPr lang="sv-SE" dirty="0" err="1" smtClean="0"/>
              <a:t>serialization</a:t>
            </a:r>
            <a:endParaRPr lang="sv-SE" dirty="0" smtClean="0"/>
          </a:p>
          <a:p>
            <a:r>
              <a:rPr lang="sv-SE" dirty="0" err="1" smtClean="0"/>
              <a:t>Message</a:t>
            </a:r>
            <a:r>
              <a:rPr lang="sv-SE" baseline="0" dirty="0" smtClean="0"/>
              <a:t> sent as is (</a:t>
            </a:r>
            <a:r>
              <a:rPr lang="sv-SE" baseline="0" dirty="0" err="1" smtClean="0"/>
              <a:t>cloned</a:t>
            </a:r>
            <a:r>
              <a:rPr lang="sv-SE" baseline="0" dirty="0" smtClean="0"/>
              <a:t>)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1CD207-5EB8-4287-BF62-3DB1939375C1}" type="slidenum">
              <a:rPr lang="sv-SE" smtClean="0"/>
              <a:t>52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92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0256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6331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469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142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396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0596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45735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5124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643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640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072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8D716-4495-4254-AF31-18E6145100B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822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xgr/op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lleAnd/op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github.com/LelleAnd/ops/blob/development/Doc/IDLLanguage.m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LelleAnd/ops/blob/development/Doc/IDLLanguage.md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OpsConfig.md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OpsConfig.md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OpsConfig.md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OpsConfig.m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LargeMessages.md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AdvancedReferenceHandling.md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VersionHandling.md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Protocol.md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OPSBridge.md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LelleAnd/ops/blob/development/Doc/VerifyOPSConfig.md" TargetMode="External"/><Relationship Id="rId5" Type="http://schemas.openxmlformats.org/officeDocument/2006/relationships/hyperlink" Target="https://github.com/LelleAnd/ops/blob/development/Doc/OPSListener.md" TargetMode="External"/><Relationship Id="rId4" Type="http://schemas.openxmlformats.org/officeDocument/2006/relationships/hyperlink" Target="https://github.com/LelleAnd/ops/blob/development/Doc/DebugConsole.md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lleAnd/ops/blob/development/Doc/FeatureList.md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lleAnd/ops/blob/development/Doc/FeatureList.md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lleAnd/ops/blob/development/Doc/Protocol.md#transport-specifics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LelleAnd/ops/blob/development/Doc/FeatureList.md" TargetMode="External"/><Relationship Id="rId4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lleAnd/ops/blob/development/Doc/FeatureList.md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LelleAnd/ops/blob/development/Doc/FeatureList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smtClean="0"/>
              <a:t>OPS4 in </a:t>
            </a:r>
            <a:r>
              <a:rPr lang="sv-SE" dirty="0" err="1" smtClean="0"/>
              <a:t>depth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 err="1" smtClean="0"/>
              <a:t>Open</a:t>
            </a:r>
            <a:r>
              <a:rPr lang="sv-SE" dirty="0" smtClean="0"/>
              <a:t> </a:t>
            </a:r>
            <a:r>
              <a:rPr lang="sv-SE" dirty="0" err="1" smtClean="0"/>
              <a:t>Publish</a:t>
            </a:r>
            <a:r>
              <a:rPr lang="sv-SE" dirty="0" smtClean="0"/>
              <a:t> </a:t>
            </a:r>
            <a:r>
              <a:rPr lang="sv-SE" dirty="0" err="1" smtClean="0"/>
              <a:t>Subscribe</a:t>
            </a:r>
            <a:r>
              <a:rPr lang="sv-SE" dirty="0" smtClean="0"/>
              <a:t> (v4)</a:t>
            </a:r>
          </a:p>
          <a:p>
            <a:endParaRPr lang="sv-SE" dirty="0"/>
          </a:p>
          <a:p>
            <a:r>
              <a:rPr lang="sv-SE" i="1" dirty="0" smtClean="0"/>
              <a:t>(Communication </a:t>
            </a:r>
            <a:r>
              <a:rPr lang="sv-SE" i="1" dirty="0" err="1" smtClean="0"/>
              <a:t>Middleware</a:t>
            </a:r>
            <a:r>
              <a:rPr lang="sv-SE" i="1" dirty="0" smtClean="0"/>
              <a:t>)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1205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OPS4, </a:t>
            </a:r>
            <a:r>
              <a:rPr lang="sv-SE" dirty="0" err="1" smtClean="0"/>
              <a:t>Open</a:t>
            </a:r>
            <a:r>
              <a:rPr lang="sv-SE" dirty="0" smtClean="0"/>
              <a:t> Source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Link to </a:t>
            </a:r>
            <a:r>
              <a:rPr lang="sv-SE" dirty="0" err="1" smtClean="0"/>
              <a:t>GitHub</a:t>
            </a:r>
            <a:endParaRPr lang="sv-SE" dirty="0" smtClean="0"/>
          </a:p>
          <a:p>
            <a:pPr lvl="1"/>
            <a:r>
              <a:rPr lang="sv-SE" sz="2000" dirty="0" smtClean="0">
                <a:hlinkClick r:id="rId3"/>
              </a:rPr>
              <a:t>https://github.com/staxgr/ops</a:t>
            </a:r>
            <a:r>
              <a:rPr lang="sv-SE" sz="2000" dirty="0" smtClean="0"/>
              <a:t>			(original, </a:t>
            </a:r>
            <a:r>
              <a:rPr lang="sv-SE" sz="2000" dirty="0" err="1" smtClean="0"/>
              <a:t>outdated</a:t>
            </a:r>
            <a:r>
              <a:rPr lang="sv-SE" sz="2000" dirty="0" smtClean="0"/>
              <a:t>)</a:t>
            </a:r>
          </a:p>
          <a:p>
            <a:pPr lvl="1"/>
            <a:r>
              <a:rPr lang="sv-SE" sz="2000" dirty="0" smtClean="0">
                <a:hlinkClick r:id="rId4"/>
              </a:rPr>
              <a:t>https</a:t>
            </a:r>
            <a:r>
              <a:rPr lang="sv-SE" sz="2000" dirty="0">
                <a:hlinkClick r:id="rId4"/>
              </a:rPr>
              <a:t>://github.com/LelleAnd/ops</a:t>
            </a:r>
            <a:r>
              <a:rPr lang="sv-SE" sz="2000" dirty="0"/>
              <a:t>	</a:t>
            </a:r>
            <a:r>
              <a:rPr lang="sv-SE" sz="2000" dirty="0" smtClean="0"/>
              <a:t>		(</a:t>
            </a:r>
            <a:r>
              <a:rPr lang="sv-SE" sz="2000" dirty="0" err="1" smtClean="0"/>
              <a:t>current</a:t>
            </a:r>
            <a:r>
              <a:rPr lang="sv-SE" sz="2000" dirty="0" smtClean="0"/>
              <a:t> </a:t>
            </a:r>
            <a:r>
              <a:rPr lang="sv-SE" sz="2000" dirty="0" err="1" smtClean="0"/>
              <a:t>development</a:t>
            </a:r>
            <a:r>
              <a:rPr lang="sv-SE" sz="2000" dirty="0" smtClean="0"/>
              <a:t>)</a:t>
            </a:r>
          </a:p>
          <a:p>
            <a:endParaRPr lang="sv-SE" dirty="0" smtClean="0"/>
          </a:p>
          <a:p>
            <a:pPr marL="0" indent="0">
              <a:buNone/>
            </a:pPr>
            <a:endParaRPr lang="sv-SE" dirty="0" smtClean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141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Entities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Entities</a:t>
            </a:r>
          </a:p>
          <a:p>
            <a:pPr lvl="1"/>
            <a:r>
              <a:rPr lang="en-US" dirty="0" smtClean="0"/>
              <a:t>Data Object 	</a:t>
            </a:r>
            <a:r>
              <a:rPr lang="en-US" sz="1600" dirty="0" smtClean="0"/>
              <a:t>(data type)</a:t>
            </a:r>
          </a:p>
          <a:p>
            <a:pPr lvl="1"/>
            <a:r>
              <a:rPr lang="en-US" dirty="0" smtClean="0"/>
              <a:t>Topic		</a:t>
            </a:r>
            <a:r>
              <a:rPr lang="en-US" sz="1600" dirty="0" smtClean="0"/>
              <a:t>(variable name)</a:t>
            </a:r>
            <a:endParaRPr lang="en-US" dirty="0" smtClean="0"/>
          </a:p>
          <a:p>
            <a:pPr lvl="1"/>
            <a:r>
              <a:rPr lang="en-US" dirty="0" smtClean="0"/>
              <a:t>Domain</a:t>
            </a:r>
          </a:p>
          <a:p>
            <a:pPr lvl="1"/>
            <a:r>
              <a:rPr lang="en-US" dirty="0" smtClean="0"/>
              <a:t>Participant</a:t>
            </a:r>
          </a:p>
          <a:p>
            <a:pPr lvl="1"/>
            <a:r>
              <a:rPr lang="en-US" dirty="0" smtClean="0"/>
              <a:t>Publisher</a:t>
            </a:r>
          </a:p>
          <a:p>
            <a:pPr lvl="1"/>
            <a:r>
              <a:rPr lang="en-US" dirty="0" smtClean="0"/>
              <a:t>Subscriber</a:t>
            </a:r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463" y="1690688"/>
            <a:ext cx="4376933" cy="4245237"/>
          </a:xfrm>
          <a:prstGeom prst="rect">
            <a:avLst/>
          </a:prstGeom>
        </p:spPr>
      </p:pic>
      <p:pic>
        <p:nvPicPr>
          <p:cNvPr id="4" name="Platshållare för innehåll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21" y="4288648"/>
            <a:ext cx="3736191" cy="2023252"/>
          </a:xfrm>
          <a:prstGeom prst="rect">
            <a:avLst/>
          </a:prstGeom>
        </p:spPr>
      </p:pic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94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7843221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Each </a:t>
            </a:r>
            <a:r>
              <a:rPr lang="en-US" b="1" i="1" dirty="0" smtClean="0"/>
              <a:t>Data Object</a:t>
            </a:r>
            <a:r>
              <a:rPr lang="en-US" dirty="0" smtClean="0"/>
              <a:t> is defined in an IDL-file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Namespace:	pizza</a:t>
            </a:r>
          </a:p>
          <a:p>
            <a:pPr lvl="2"/>
            <a:r>
              <a:rPr lang="en-US" dirty="0" smtClean="0"/>
              <a:t>Filename:	PizzaData.idl	</a:t>
            </a:r>
          </a:p>
          <a:p>
            <a:pPr lvl="2"/>
            <a:r>
              <a:rPr lang="en-US" dirty="0" smtClean="0"/>
              <a:t>Data Object: 	</a:t>
            </a:r>
            <a:r>
              <a:rPr lang="en-US" dirty="0" err="1" smtClean="0"/>
              <a:t>PizzaData</a:t>
            </a:r>
            <a:endParaRPr lang="en-US" dirty="0" smtClean="0"/>
          </a:p>
          <a:p>
            <a:pPr lvl="2"/>
            <a:r>
              <a:rPr lang="en-US" dirty="0" smtClean="0"/>
              <a:t>Data members: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sv-SE" sz="1800" dirty="0" smtClean="0">
                <a:hlinkClick r:id="rId4"/>
              </a:rPr>
              <a:t>https://github.com/LelleAnd/ops/blob/development/Doc/IDLLanguage.md</a:t>
            </a:r>
            <a:endParaRPr lang="en-US" sz="1800" dirty="0" smtClean="0"/>
          </a:p>
          <a:p>
            <a:endParaRPr lang="en-US" dirty="0" smtClean="0"/>
          </a:p>
        </p:txBody>
      </p:sp>
      <p:sp>
        <p:nvSpPr>
          <p:cNvPr id="8" name="Rektangel med rundade hörn 7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Rak pil 9"/>
          <p:cNvCxnSpPr/>
          <p:nvPr/>
        </p:nvCxnSpPr>
        <p:spPr>
          <a:xfrm>
            <a:off x="5099125" y="3173512"/>
            <a:ext cx="1968649" cy="3334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pil 10"/>
          <p:cNvCxnSpPr/>
          <p:nvPr/>
        </p:nvCxnSpPr>
        <p:spPr>
          <a:xfrm>
            <a:off x="5099125" y="3506999"/>
            <a:ext cx="1968649" cy="235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k pil 21"/>
          <p:cNvCxnSpPr/>
          <p:nvPr/>
        </p:nvCxnSpPr>
        <p:spPr>
          <a:xfrm>
            <a:off x="5099124" y="3840486"/>
            <a:ext cx="1968649" cy="1682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ak pil 22"/>
          <p:cNvCxnSpPr/>
          <p:nvPr/>
        </p:nvCxnSpPr>
        <p:spPr>
          <a:xfrm>
            <a:off x="5099124" y="2834730"/>
            <a:ext cx="1968649" cy="15759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Bildobjek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386" y="2869984"/>
            <a:ext cx="2816304" cy="1799985"/>
          </a:xfrm>
          <a:prstGeom prst="rect">
            <a:avLst/>
          </a:prstGeom>
        </p:spPr>
      </p:pic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8402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1" y="1825625"/>
            <a:ext cx="5404396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 err="1" smtClean="0"/>
              <a:t>opsc</a:t>
            </a:r>
            <a:r>
              <a:rPr lang="en-US" dirty="0" smtClean="0"/>
              <a:t> command-line tool</a:t>
            </a:r>
          </a:p>
          <a:p>
            <a:pPr lvl="1"/>
            <a:r>
              <a:rPr lang="en-US" dirty="0" smtClean="0"/>
              <a:t>Translates </a:t>
            </a:r>
            <a:r>
              <a:rPr lang="en-US" dirty="0"/>
              <a:t>IDLs to source code</a:t>
            </a:r>
          </a:p>
          <a:p>
            <a:pPr lvl="2"/>
            <a:r>
              <a:rPr lang="en-US" sz="2400" b="1" dirty="0"/>
              <a:t>Data classes</a:t>
            </a:r>
          </a:p>
          <a:p>
            <a:pPr lvl="3"/>
            <a:r>
              <a:rPr lang="en-US" sz="2000" dirty="0"/>
              <a:t>Data members</a:t>
            </a:r>
          </a:p>
          <a:p>
            <a:pPr lvl="3"/>
            <a:r>
              <a:rPr lang="en-US" sz="2000" dirty="0"/>
              <a:t>Serialization &amp; </a:t>
            </a:r>
            <a:r>
              <a:rPr lang="en-US" sz="2000" dirty="0" smtClean="0"/>
              <a:t>De-serialization</a:t>
            </a:r>
          </a:p>
          <a:p>
            <a:pPr lvl="3"/>
            <a:r>
              <a:rPr lang="en-US" sz="2000" dirty="0" smtClean="0"/>
              <a:t>Cloning</a:t>
            </a:r>
            <a:endParaRPr lang="en-US" sz="2000" dirty="0"/>
          </a:p>
          <a:p>
            <a:pPr lvl="2"/>
            <a:r>
              <a:rPr lang="en-US" sz="2400" b="1" dirty="0"/>
              <a:t>Publishers</a:t>
            </a:r>
            <a:r>
              <a:rPr lang="en-US" sz="2400" dirty="0"/>
              <a:t> &amp; </a:t>
            </a:r>
            <a:r>
              <a:rPr lang="en-US" sz="2400" b="1" dirty="0"/>
              <a:t>Subscribers</a:t>
            </a:r>
          </a:p>
          <a:p>
            <a:pPr lvl="2"/>
            <a:r>
              <a:rPr lang="en-US" sz="2400" b="1" dirty="0"/>
              <a:t>Class factory</a:t>
            </a:r>
          </a:p>
          <a:p>
            <a:pPr lvl="3"/>
            <a:r>
              <a:rPr lang="en-US" sz="2000" dirty="0"/>
              <a:t>One per project</a:t>
            </a:r>
          </a:p>
          <a:p>
            <a:pPr lvl="3"/>
            <a:r>
              <a:rPr lang="en-US" sz="2000" dirty="0"/>
              <a:t>Creates data class from type name</a:t>
            </a:r>
          </a:p>
          <a:p>
            <a:pPr lvl="1"/>
            <a:r>
              <a:rPr lang="en-US" dirty="0" smtClean="0"/>
              <a:t>Ada, C++, C#, Delphi, Java, Python</a:t>
            </a:r>
          </a:p>
          <a:p>
            <a:pPr lvl="1"/>
            <a:r>
              <a:rPr lang="en-US" dirty="0" smtClean="0"/>
              <a:t>Can </a:t>
            </a:r>
            <a:r>
              <a:rPr lang="en-US" dirty="0"/>
              <a:t>build C# </a:t>
            </a:r>
            <a:r>
              <a:rPr lang="en-US" dirty="0" err="1" smtClean="0"/>
              <a:t>dll’s</a:t>
            </a:r>
            <a:r>
              <a:rPr lang="en-US" dirty="0"/>
              <a:t> </a:t>
            </a:r>
            <a:r>
              <a:rPr lang="en-US" dirty="0" smtClean="0"/>
              <a:t>and</a:t>
            </a:r>
            <a:r>
              <a:rPr lang="en-US" dirty="0" smtClean="0"/>
              <a:t> </a:t>
            </a:r>
            <a:r>
              <a:rPr lang="en-US" dirty="0" smtClean="0"/>
              <a:t>Java jar’s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sz="1900" i="1" dirty="0" smtClean="0"/>
              <a:t>Python packages currently not working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 smtClean="0"/>
          </a:p>
          <a:p>
            <a:endParaRPr lang="en-US" sz="1800" dirty="0" smtClean="0"/>
          </a:p>
          <a:p>
            <a:endParaRPr lang="en-US" sz="1800" dirty="0" smtClean="0"/>
          </a:p>
        </p:txBody>
      </p:sp>
      <p:sp>
        <p:nvSpPr>
          <p:cNvPr id="8" name="Rektangel med rundade hörn 7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597" y="1859250"/>
            <a:ext cx="5949403" cy="4452650"/>
          </a:xfrm>
          <a:prstGeom prst="rect">
            <a:avLst/>
          </a:prstGeom>
        </p:spPr>
      </p:pic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821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1" y="1825625"/>
            <a:ext cx="5656868" cy="4351338"/>
          </a:xfrm>
        </p:spPr>
        <p:txBody>
          <a:bodyPr>
            <a:normAutofit lnSpcReduction="10000"/>
          </a:bodyPr>
          <a:lstStyle/>
          <a:p>
            <a:r>
              <a:rPr lang="en-US" b="1" i="1" dirty="0" smtClean="0"/>
              <a:t>OPS IDL Builder</a:t>
            </a:r>
            <a:r>
              <a:rPr lang="en-US" dirty="0" smtClean="0"/>
              <a:t> tool  (outdated)</a:t>
            </a:r>
          </a:p>
          <a:p>
            <a:pPr lvl="1"/>
            <a:r>
              <a:rPr lang="en-US" dirty="0" smtClean="0"/>
              <a:t>IDL-files grouped into IDL-projects</a:t>
            </a:r>
          </a:p>
          <a:p>
            <a:pPr lvl="1"/>
            <a:r>
              <a:rPr lang="en-US" dirty="0" smtClean="0"/>
              <a:t>Project properties</a:t>
            </a:r>
          </a:p>
          <a:p>
            <a:pPr lvl="1"/>
            <a:r>
              <a:rPr lang="en-US" dirty="0" smtClean="0"/>
              <a:t>Translates IDLs to source code</a:t>
            </a:r>
          </a:p>
          <a:p>
            <a:pPr lvl="2"/>
            <a:r>
              <a:rPr lang="en-US" b="1" dirty="0" smtClean="0"/>
              <a:t>Data classes</a:t>
            </a:r>
          </a:p>
          <a:p>
            <a:pPr lvl="3"/>
            <a:r>
              <a:rPr lang="en-US" dirty="0" smtClean="0"/>
              <a:t>Data members</a:t>
            </a:r>
          </a:p>
          <a:p>
            <a:pPr lvl="3"/>
            <a:r>
              <a:rPr lang="en-US" dirty="0" smtClean="0"/>
              <a:t>Serialization &amp; </a:t>
            </a:r>
            <a:r>
              <a:rPr lang="en-US" dirty="0" smtClean="0"/>
              <a:t>De-serialization</a:t>
            </a:r>
          </a:p>
          <a:p>
            <a:pPr lvl="3"/>
            <a:r>
              <a:rPr lang="en-US" dirty="0"/>
              <a:t>Cloning</a:t>
            </a:r>
            <a:endParaRPr lang="en-US" dirty="0" smtClean="0"/>
          </a:p>
          <a:p>
            <a:pPr lvl="2"/>
            <a:r>
              <a:rPr lang="en-US" b="1" dirty="0" smtClean="0"/>
              <a:t>Publishers</a:t>
            </a:r>
            <a:r>
              <a:rPr lang="en-US" dirty="0" smtClean="0"/>
              <a:t> &amp; </a:t>
            </a:r>
            <a:r>
              <a:rPr lang="en-US" b="1" dirty="0" smtClean="0"/>
              <a:t>Subscribers</a:t>
            </a:r>
          </a:p>
          <a:p>
            <a:pPr lvl="2"/>
            <a:r>
              <a:rPr lang="en-US" b="1" dirty="0" smtClean="0"/>
              <a:t>Class factory</a:t>
            </a:r>
          </a:p>
          <a:p>
            <a:pPr lvl="3"/>
            <a:r>
              <a:rPr lang="en-US" dirty="0" smtClean="0"/>
              <a:t>One per project</a:t>
            </a:r>
          </a:p>
          <a:p>
            <a:pPr lvl="3"/>
            <a:r>
              <a:rPr lang="en-US" dirty="0" smtClean="0"/>
              <a:t>Creates data class from type name</a:t>
            </a:r>
          </a:p>
          <a:p>
            <a:pPr lvl="1"/>
            <a:r>
              <a:rPr lang="en-US" dirty="0" smtClean="0"/>
              <a:t>Can build C# </a:t>
            </a:r>
            <a:r>
              <a:rPr lang="en-US" dirty="0" err="1" smtClean="0"/>
              <a:t>dll’s</a:t>
            </a:r>
            <a:r>
              <a:rPr lang="en-US" dirty="0" smtClean="0"/>
              <a:t> and Java jar’s</a:t>
            </a:r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069" y="1825625"/>
            <a:ext cx="5584101" cy="4655676"/>
          </a:xfrm>
          <a:prstGeom prst="rect">
            <a:avLst/>
          </a:prstGeom>
        </p:spPr>
      </p:pic>
      <p:sp>
        <p:nvSpPr>
          <p:cNvPr id="8" name="Rektangel med rundade hörn 7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523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6486427" cy="4351338"/>
          </a:xfrm>
        </p:spPr>
        <p:txBody>
          <a:bodyPr/>
          <a:lstStyle/>
          <a:p>
            <a:r>
              <a:rPr lang="en-US" dirty="0" smtClean="0"/>
              <a:t>Inheritance supported for Data classes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" name="Platshållare för innehåll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828" y="2489330"/>
            <a:ext cx="5506319" cy="3822569"/>
          </a:xfrm>
          <a:prstGeom prst="rect">
            <a:avLst/>
          </a:prstGeom>
        </p:spPr>
      </p:pic>
      <p:pic>
        <p:nvPicPr>
          <p:cNvPr id="6" name="Picture 2" descr="H:\My Documents\OPS-Presentation\OPS Example IDL Generati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036" y="2489330"/>
            <a:ext cx="5073270" cy="3822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Bildobjekt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9" name="Rektangel med rundade hörn 8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1321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dirty="0"/>
              <a:t>Two types of comments</a:t>
            </a:r>
          </a:p>
          <a:p>
            <a:pPr lvl="1"/>
            <a:r>
              <a:rPr lang="en-US" dirty="0"/>
              <a:t>// 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IDL-only</a:t>
            </a:r>
          </a:p>
          <a:p>
            <a:pPr lvl="1"/>
            <a:r>
              <a:rPr lang="en-US" dirty="0"/>
              <a:t>/* */ 	</a:t>
            </a:r>
            <a:r>
              <a:rPr lang="en-US" dirty="0">
                <a:sym typeface="Wingdings" panose="05000000000000000000" pitchFamily="2" charset="2"/>
              </a:rPr>
              <a:t>Copied to generated files</a:t>
            </a:r>
          </a:p>
          <a:p>
            <a:r>
              <a:rPr lang="en-US" dirty="0" smtClean="0"/>
              <a:t>Data types</a:t>
            </a:r>
          </a:p>
          <a:p>
            <a:pPr lvl="1"/>
            <a:r>
              <a:rPr lang="en-US" dirty="0" smtClean="0"/>
              <a:t>Basic types</a:t>
            </a:r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 smtClean="0"/>
              <a:t>Constants of Basic types</a:t>
            </a:r>
            <a:endParaRPr lang="en-US" sz="1800" dirty="0" smtClean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205" y="1105882"/>
            <a:ext cx="5572903" cy="5430008"/>
          </a:xfrm>
          <a:prstGeom prst="rect">
            <a:avLst/>
          </a:prstGeom>
        </p:spPr>
      </p:pic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670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Generated </a:t>
            </a:r>
            <a:r>
              <a:rPr lang="en-US" sz="2400" dirty="0"/>
              <a:t>C</a:t>
            </a:r>
            <a:r>
              <a:rPr lang="en-US" sz="2400" dirty="0" smtClean="0"/>
              <a:t>++ (code snippet)</a:t>
            </a:r>
            <a:endParaRPr lang="en-US" sz="2400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205" y="1105882"/>
            <a:ext cx="5572903" cy="5430008"/>
          </a:xfrm>
          <a:prstGeom prst="rect">
            <a:avLst/>
          </a:prstGeom>
        </p:spPr>
      </p:pic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9</a:t>
            </a:fld>
            <a:endParaRPr lang="sv-SE"/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033" y="2518337"/>
            <a:ext cx="4230419" cy="3748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5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Data types</a:t>
            </a:r>
          </a:p>
          <a:p>
            <a:pPr lvl="1"/>
            <a:r>
              <a:rPr lang="en-US" i="1" dirty="0" smtClean="0">
                <a:solidFill>
                  <a:schemeClr val="bg1">
                    <a:lumMod val="75000"/>
                  </a:schemeClr>
                </a:solidFill>
              </a:rPr>
              <a:t>Basic types</a:t>
            </a:r>
          </a:p>
          <a:p>
            <a:pPr lvl="1"/>
            <a:r>
              <a:rPr lang="en-US" dirty="0" smtClean="0"/>
              <a:t>Fixed size strings</a:t>
            </a:r>
          </a:p>
          <a:p>
            <a:pPr lvl="1"/>
            <a:r>
              <a:rPr lang="en-US" dirty="0" smtClean="0"/>
              <a:t>Enumerations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User defined types</a:t>
            </a:r>
          </a:p>
          <a:p>
            <a:pPr lvl="1"/>
            <a:r>
              <a:rPr lang="en-US" dirty="0" smtClean="0"/>
              <a:t>”virtual” specifier</a:t>
            </a:r>
            <a:endParaRPr lang="en-US" sz="1400" dirty="0"/>
          </a:p>
          <a:p>
            <a:pPr lvl="1"/>
            <a:endParaRPr lang="en-US" dirty="0" smtClean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523" y="1526452"/>
            <a:ext cx="6725589" cy="3848637"/>
          </a:xfrm>
          <a:prstGeom prst="rect">
            <a:avLst/>
          </a:prstGeom>
        </p:spPr>
      </p:pic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49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Generated C++ (code snippet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11</a:t>
            </a:fld>
            <a:endParaRPr lang="sv-SE"/>
          </a:p>
        </p:txBody>
      </p:sp>
      <p:pic>
        <p:nvPicPr>
          <p:cNvPr id="10" name="Bildobjek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307621"/>
            <a:ext cx="5971984" cy="2773935"/>
          </a:xfrm>
          <a:prstGeom prst="rect">
            <a:avLst/>
          </a:prstGeom>
        </p:spPr>
      </p:pic>
      <p:pic>
        <p:nvPicPr>
          <p:cNvPr id="4" name="Bildobjekt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523" y="1526452"/>
            <a:ext cx="6725589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58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Data types</a:t>
            </a:r>
          </a:p>
          <a:p>
            <a:pPr lvl="1"/>
            <a:r>
              <a:rPr lang="en-US" i="1" dirty="0" smtClean="0">
                <a:solidFill>
                  <a:schemeClr val="bg1">
                    <a:lumMod val="75000"/>
                  </a:schemeClr>
                </a:solidFill>
              </a:rPr>
              <a:t>Basic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types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Fixed size strings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Enumerations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User defined types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”virtual” specifier</a:t>
            </a:r>
          </a:p>
          <a:p>
            <a:pPr lvl="1"/>
            <a:r>
              <a:rPr lang="en-US" dirty="0" smtClean="0"/>
              <a:t>Vectors of the above types</a:t>
            </a:r>
          </a:p>
          <a:p>
            <a:pPr lvl="2"/>
            <a:r>
              <a:rPr lang="en-US" dirty="0" smtClean="0"/>
              <a:t>Dynamic</a:t>
            </a:r>
          </a:p>
          <a:p>
            <a:pPr lvl="2"/>
            <a:r>
              <a:rPr lang="en-US" dirty="0" smtClean="0"/>
              <a:t>Fixed sized</a:t>
            </a:r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202" y="1440727"/>
            <a:ext cx="6258798" cy="3867690"/>
          </a:xfrm>
          <a:prstGeom prst="rect">
            <a:avLst/>
          </a:prstGeom>
        </p:spPr>
      </p:pic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4704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71320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Generated C++ (code snippet</a:t>
            </a:r>
            <a:r>
              <a:rPr lang="en-US" sz="2400" dirty="0" smtClean="0"/>
              <a:t>)</a:t>
            </a:r>
            <a:endParaRPr lang="en-US" sz="2400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3202" y="1440727"/>
            <a:ext cx="6258798" cy="3867690"/>
          </a:xfrm>
          <a:prstGeom prst="rect">
            <a:avLst/>
          </a:prstGeom>
        </p:spPr>
      </p:pic>
      <p:pic>
        <p:nvPicPr>
          <p:cNvPr id="5" name="Bildobjekt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511" y="2532630"/>
            <a:ext cx="3918025" cy="2616313"/>
          </a:xfrm>
          <a:prstGeom prst="rect">
            <a:avLst/>
          </a:prstGeom>
        </p:spPr>
      </p:pic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888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OPS4, Data </a:t>
            </a:r>
            <a:r>
              <a:rPr lang="sv-SE" dirty="0" err="1" smtClean="0"/>
              <a:t>Objects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9097054" cy="4351338"/>
          </a:xfrm>
        </p:spPr>
        <p:txBody>
          <a:bodyPr/>
          <a:lstStyle/>
          <a:p>
            <a:r>
              <a:rPr lang="sv-SE" dirty="0" smtClean="0"/>
              <a:t>IDL </a:t>
            </a:r>
            <a:r>
              <a:rPr lang="sv-SE" dirty="0" err="1" smtClean="0"/>
              <a:t>Compile</a:t>
            </a:r>
            <a:r>
              <a:rPr lang="sv-SE" dirty="0" smtClean="0"/>
              <a:t> </a:t>
            </a:r>
            <a:r>
              <a:rPr lang="sv-SE" dirty="0" err="1" smtClean="0"/>
              <a:t>Directives</a:t>
            </a:r>
            <a:endParaRPr lang="sv-SE" dirty="0" smtClean="0"/>
          </a:p>
          <a:p>
            <a:pPr lvl="1"/>
            <a:r>
              <a:rPr lang="sv-SE" sz="1800" dirty="0" smtClean="0">
                <a:hlinkClick r:id="rId2"/>
              </a:rPr>
              <a:t>https://github.com/LelleAnd/ops/blob/development/Doc/IDLLanguage.md</a:t>
            </a:r>
            <a:endParaRPr lang="sv-SE" sz="1800" dirty="0" smtClean="0"/>
          </a:p>
          <a:p>
            <a:pPr lvl="1"/>
            <a:endParaRPr lang="sv-SE" sz="1800" dirty="0"/>
          </a:p>
          <a:p>
            <a:pPr lvl="1"/>
            <a:r>
              <a:rPr lang="sv-SE" sz="1800" dirty="0" smtClean="0"/>
              <a:t>//@</a:t>
            </a:r>
            <a:r>
              <a:rPr lang="sv-SE" sz="1800" dirty="0" err="1" smtClean="0"/>
              <a:t>init</a:t>
            </a:r>
            <a:endParaRPr lang="sv-SE" sz="1800" dirty="0" smtClean="0"/>
          </a:p>
          <a:p>
            <a:pPr lvl="1"/>
            <a:endParaRPr lang="sv-SE" sz="1800" dirty="0" smtClean="0"/>
          </a:p>
          <a:p>
            <a:pPr lvl="1"/>
            <a:r>
              <a:rPr lang="sv-SE" sz="1800" dirty="0" smtClean="0"/>
              <a:t>//@maxarrlen</a:t>
            </a:r>
          </a:p>
          <a:p>
            <a:pPr lvl="1"/>
            <a:r>
              <a:rPr lang="sv-SE" sz="1800" dirty="0" smtClean="0"/>
              <a:t>//@</a:t>
            </a:r>
            <a:r>
              <a:rPr lang="sv-SE" sz="1800" dirty="0" err="1" smtClean="0"/>
              <a:t>maxstrlen</a:t>
            </a:r>
            <a:endParaRPr lang="sv-SE" sz="1800" dirty="0"/>
          </a:p>
          <a:p>
            <a:pPr lvl="1"/>
            <a:r>
              <a:rPr lang="sv-SE" sz="1800" dirty="0" smtClean="0"/>
              <a:t>//@</a:t>
            </a:r>
            <a:r>
              <a:rPr lang="sv-SE" sz="1800" dirty="0" err="1" smtClean="0"/>
              <a:t>range</a:t>
            </a:r>
            <a:endParaRPr lang="sv-SE" sz="1800" dirty="0" smtClean="0"/>
          </a:p>
          <a:p>
            <a:pPr lvl="1"/>
            <a:endParaRPr lang="sv-SE" sz="1800" dirty="0"/>
          </a:p>
          <a:p>
            <a:pPr lvl="1"/>
            <a:r>
              <a:rPr lang="sv-SE" sz="1800" dirty="0" smtClean="0"/>
              <a:t>//@version</a:t>
            </a:r>
          </a:p>
          <a:p>
            <a:pPr lvl="1"/>
            <a:endParaRPr lang="sv-SE" sz="1800" dirty="0"/>
          </a:p>
          <a:p>
            <a:pPr lvl="1"/>
            <a:r>
              <a:rPr lang="sv-SE" sz="1800" dirty="0" smtClean="0"/>
              <a:t>…</a:t>
            </a:r>
            <a:endParaRPr lang="sv-SE" sz="1800" dirty="0"/>
          </a:p>
          <a:p>
            <a:pPr lvl="1"/>
            <a:endParaRPr lang="sv-SE" sz="18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14</a:t>
            </a:fld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7" name="Rektangel med rundade hörn 6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Data Objects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11001866" cy="4351338"/>
          </a:xfrm>
        </p:spPr>
        <p:txBody>
          <a:bodyPr/>
          <a:lstStyle/>
          <a:p>
            <a:r>
              <a:rPr lang="en-US" dirty="0" smtClean="0"/>
              <a:t>Multiple IDL-projects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b="1" i="1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67447" y="31108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Bildobjek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882423"/>
            <a:ext cx="3099099" cy="3088070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/>
        </p:nvPicPr>
        <p:blipFill rotWithShape="1">
          <a:blip r:embed="rId5"/>
          <a:srcRect r="19029"/>
          <a:stretch/>
        </p:blipFill>
        <p:spPr>
          <a:xfrm>
            <a:off x="7276739" y="2403534"/>
            <a:ext cx="4817290" cy="4452650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5413" y="3022005"/>
            <a:ext cx="3719102" cy="1592433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2427" y="4705259"/>
            <a:ext cx="2700170" cy="1896814"/>
          </a:xfrm>
          <a:prstGeom prst="rect">
            <a:avLst/>
          </a:prstGeom>
        </p:spPr>
      </p:pic>
      <p:sp>
        <p:nvSpPr>
          <p:cNvPr id="6" name="Rektangel 5"/>
          <p:cNvSpPr/>
          <p:nvPr/>
        </p:nvSpPr>
        <p:spPr>
          <a:xfrm>
            <a:off x="7264515" y="5653666"/>
            <a:ext cx="986856" cy="605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12" name="Platshållare för bild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6533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Topic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199" y="1825625"/>
            <a:ext cx="7283825" cy="4351338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b="1" i="1" dirty="0" smtClean="0"/>
              <a:t>Topic</a:t>
            </a:r>
            <a:r>
              <a:rPr lang="en-US" dirty="0" smtClean="0"/>
              <a:t> connects a </a:t>
            </a:r>
            <a:r>
              <a:rPr lang="en-US" b="1" i="1" dirty="0" smtClean="0"/>
              <a:t>Name</a:t>
            </a:r>
            <a:r>
              <a:rPr lang="en-US" dirty="0" smtClean="0"/>
              <a:t> to a </a:t>
            </a:r>
            <a:r>
              <a:rPr lang="en-US" b="1" i="1" dirty="0" smtClean="0"/>
              <a:t>Data Object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i="1" dirty="0" smtClean="0"/>
              <a:t>Topic</a:t>
            </a:r>
            <a:r>
              <a:rPr lang="en-US" dirty="0" smtClean="0"/>
              <a:t> defines some transport parameters</a:t>
            </a:r>
          </a:p>
          <a:p>
            <a:r>
              <a:rPr lang="en-US" dirty="0" smtClean="0"/>
              <a:t>A </a:t>
            </a:r>
            <a:r>
              <a:rPr lang="en-US" b="1" i="1" dirty="0" smtClean="0"/>
              <a:t>Topic</a:t>
            </a:r>
            <a:r>
              <a:rPr lang="en-US" dirty="0" smtClean="0"/>
              <a:t> can be seen as a ”communication channel” for a specific Data Object</a:t>
            </a:r>
          </a:p>
          <a:p>
            <a:pPr marL="685800" lvl="2">
              <a:spcBef>
                <a:spcPts val="1000"/>
              </a:spcBef>
            </a:pPr>
            <a:r>
              <a:rPr lang="en-US" dirty="0" smtClean="0"/>
              <a:t>The </a:t>
            </a:r>
            <a:r>
              <a:rPr lang="en-US" b="1" i="1" dirty="0" smtClean="0"/>
              <a:t>Name</a:t>
            </a:r>
            <a:r>
              <a:rPr lang="en-US" dirty="0" smtClean="0"/>
              <a:t> of a topic is used by the user when setting up Publishers and Subscribers</a:t>
            </a:r>
          </a:p>
          <a:p>
            <a:r>
              <a:rPr lang="en-US" dirty="0"/>
              <a:t>Available </a:t>
            </a:r>
            <a:r>
              <a:rPr lang="en-US" b="1" i="1" dirty="0"/>
              <a:t>Topics</a:t>
            </a:r>
            <a:r>
              <a:rPr lang="en-US" dirty="0"/>
              <a:t> are defined in one or more configuration files </a:t>
            </a:r>
          </a:p>
          <a:p>
            <a:pPr lvl="1"/>
            <a:r>
              <a:rPr lang="en-US" sz="1600" dirty="0"/>
              <a:t>(more about configuration later)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67447" y="716437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041" y="2969934"/>
            <a:ext cx="3629025" cy="3105150"/>
          </a:xfrm>
          <a:prstGeom prst="rect">
            <a:avLst/>
          </a:prstGeom>
        </p:spPr>
      </p:pic>
      <p:pic>
        <p:nvPicPr>
          <p:cNvPr id="8" name="Platshållare för innehåll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190" y="1167779"/>
            <a:ext cx="2429590" cy="1315691"/>
          </a:xfrm>
          <a:prstGeom prst="rect">
            <a:avLst/>
          </a:prstGeom>
        </p:spPr>
      </p:pic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989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Domain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199" y="1825625"/>
            <a:ext cx="8499439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b="1" i="1" dirty="0" smtClean="0"/>
              <a:t>Domain</a:t>
            </a:r>
            <a:r>
              <a:rPr lang="en-US" dirty="0" smtClean="0"/>
              <a:t> groups a number of Topics into a logical unit</a:t>
            </a:r>
          </a:p>
          <a:p>
            <a:pPr lvl="1"/>
            <a:r>
              <a:rPr lang="en-US" dirty="0">
                <a:solidFill>
                  <a:prstClr val="black"/>
                </a:solidFill>
              </a:rPr>
              <a:t>A Topic can only belong to ONE </a:t>
            </a:r>
            <a:r>
              <a:rPr lang="en-US" dirty="0" smtClean="0">
                <a:solidFill>
                  <a:prstClr val="black"/>
                </a:solidFill>
              </a:rPr>
              <a:t>Domain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i="1" dirty="0" smtClean="0"/>
              <a:t>Domain</a:t>
            </a:r>
            <a:r>
              <a:rPr lang="en-US" dirty="0" smtClean="0"/>
              <a:t> also defines some transport parameters</a:t>
            </a:r>
          </a:p>
          <a:p>
            <a:r>
              <a:rPr lang="en-US" b="1" i="1" dirty="0" smtClean="0"/>
              <a:t>Domains</a:t>
            </a:r>
            <a:r>
              <a:rPr lang="en-US" dirty="0" smtClean="0"/>
              <a:t> </a:t>
            </a:r>
            <a:r>
              <a:rPr lang="en-US" dirty="0"/>
              <a:t>are defined in one or more configuration </a:t>
            </a:r>
            <a:r>
              <a:rPr lang="en-US" dirty="0" smtClean="0"/>
              <a:t>files</a:t>
            </a:r>
            <a:endParaRPr lang="en-US" sz="1600" dirty="0" smtClean="0"/>
          </a:p>
          <a:p>
            <a:pPr lvl="1"/>
            <a:r>
              <a:rPr lang="en-US" sz="1600" dirty="0" smtClean="0"/>
              <a:t>(more about configuration later)</a:t>
            </a:r>
          </a:p>
          <a:p>
            <a:r>
              <a:rPr lang="en-US" dirty="0" smtClean="0"/>
              <a:t>A </a:t>
            </a:r>
            <a:r>
              <a:rPr lang="en-US" b="1" i="1" dirty="0" smtClean="0"/>
              <a:t>Domain</a:t>
            </a:r>
            <a:r>
              <a:rPr lang="en-US" dirty="0" smtClean="0"/>
              <a:t> has a </a:t>
            </a:r>
            <a:r>
              <a:rPr lang="en-US" b="1" i="1" dirty="0" smtClean="0"/>
              <a:t>Name</a:t>
            </a:r>
            <a:r>
              <a:rPr lang="en-US" dirty="0" smtClean="0"/>
              <a:t> that is unique in </a:t>
            </a:r>
            <a:br>
              <a:rPr lang="en-US" dirty="0" smtClean="0"/>
            </a:br>
            <a:r>
              <a:rPr lang="en-US" dirty="0" smtClean="0"/>
              <a:t>its configuration file</a:t>
            </a:r>
          </a:p>
          <a:p>
            <a:pPr lvl="1"/>
            <a:r>
              <a:rPr lang="en-US" dirty="0"/>
              <a:t>The </a:t>
            </a:r>
            <a:r>
              <a:rPr lang="en-US" b="1" i="1" dirty="0"/>
              <a:t>Name</a:t>
            </a:r>
            <a:r>
              <a:rPr lang="en-US" dirty="0"/>
              <a:t> of a </a:t>
            </a:r>
            <a:r>
              <a:rPr lang="en-US" dirty="0" smtClean="0"/>
              <a:t>domain </a:t>
            </a:r>
            <a:r>
              <a:rPr lang="en-US" dirty="0"/>
              <a:t>is used by the user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when </a:t>
            </a:r>
            <a:r>
              <a:rPr lang="en-US" dirty="0"/>
              <a:t>setting up </a:t>
            </a:r>
            <a:r>
              <a:rPr lang="en-US" dirty="0" smtClean="0"/>
              <a:t>Participants</a:t>
            </a:r>
          </a:p>
          <a:p>
            <a:endParaRPr lang="en-US" dirty="0" smtClean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79287" y="1131679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046" y="4001294"/>
            <a:ext cx="4876800" cy="2609850"/>
          </a:xfrm>
          <a:prstGeom prst="rect">
            <a:avLst/>
          </a:prstGeom>
        </p:spPr>
      </p:pic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106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Participant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770337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i="1" dirty="0" smtClean="0"/>
              <a:t>Participant ...</a:t>
            </a:r>
            <a:endParaRPr lang="en-US" dirty="0" smtClean="0"/>
          </a:p>
          <a:p>
            <a:pPr lvl="1"/>
            <a:r>
              <a:rPr lang="en-US" dirty="0" smtClean="0"/>
              <a:t>is </a:t>
            </a:r>
            <a:r>
              <a:rPr lang="en-US" dirty="0"/>
              <a:t>the </a:t>
            </a:r>
            <a:r>
              <a:rPr lang="en-US" dirty="0" smtClean="0"/>
              <a:t>application manager for the communication within a </a:t>
            </a:r>
            <a:r>
              <a:rPr lang="en-US" b="1" i="1" dirty="0" smtClean="0"/>
              <a:t>Domain</a:t>
            </a:r>
          </a:p>
          <a:p>
            <a:pPr lvl="1"/>
            <a:r>
              <a:rPr lang="en-US" dirty="0" smtClean="0"/>
              <a:t>owns all send and receive data handlers</a:t>
            </a:r>
            <a:br>
              <a:rPr lang="en-US" dirty="0" smtClean="0"/>
            </a:br>
            <a:r>
              <a:rPr lang="en-US" dirty="0" smtClean="0"/>
              <a:t>for communication channels </a:t>
            </a:r>
            <a:r>
              <a:rPr lang="en-US" sz="1600" dirty="0" smtClean="0"/>
              <a:t>(internal classes)</a:t>
            </a:r>
            <a:endParaRPr lang="en-US" sz="1600" dirty="0"/>
          </a:p>
          <a:p>
            <a:pPr lvl="1"/>
            <a:r>
              <a:rPr lang="en-US" dirty="0" smtClean="0"/>
              <a:t>owns the </a:t>
            </a:r>
            <a:r>
              <a:rPr lang="en-US" b="1" i="1" dirty="0" smtClean="0"/>
              <a:t>Data Object</a:t>
            </a:r>
            <a:r>
              <a:rPr lang="en-US" dirty="0" smtClean="0"/>
              <a:t> factories</a:t>
            </a:r>
          </a:p>
          <a:p>
            <a:pPr lvl="2"/>
            <a:r>
              <a:rPr lang="en-US" dirty="0" smtClean="0"/>
              <a:t>Generated class factories should be added</a:t>
            </a:r>
            <a:br>
              <a:rPr lang="en-US" dirty="0" smtClean="0"/>
            </a:br>
            <a:r>
              <a:rPr lang="en-US" dirty="0" smtClean="0"/>
              <a:t>by </a:t>
            </a:r>
            <a:r>
              <a:rPr lang="en-US" dirty="0"/>
              <a:t>user code </a:t>
            </a:r>
            <a:r>
              <a:rPr lang="en-US" sz="1600" dirty="0" smtClean="0"/>
              <a:t>(needed for </a:t>
            </a:r>
            <a:r>
              <a:rPr lang="en-US" sz="1600" dirty="0"/>
              <a:t>objects that </a:t>
            </a:r>
            <a:r>
              <a:rPr lang="en-US" sz="1600" dirty="0" smtClean="0"/>
              <a:t>are received)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s a factory for creating Topics</a:t>
            </a:r>
            <a:endParaRPr lang="en-US" dirty="0"/>
          </a:p>
          <a:p>
            <a:pPr lvl="2"/>
            <a:r>
              <a:rPr lang="en-US" dirty="0" smtClean="0"/>
              <a:t>A Topic is needed when creating Publishers</a:t>
            </a:r>
            <a:br>
              <a:rPr lang="en-US" dirty="0" smtClean="0"/>
            </a:br>
            <a:r>
              <a:rPr lang="en-US" dirty="0" smtClean="0"/>
              <a:t>and Subscribers </a:t>
            </a:r>
            <a:r>
              <a:rPr lang="en-US" sz="1600" dirty="0" smtClean="0"/>
              <a:t>(</a:t>
            </a:r>
            <a:r>
              <a:rPr lang="en-US" sz="1600" dirty="0" smtClean="0">
                <a:sym typeface="Wingdings" panose="05000000000000000000" pitchFamily="2" charset="2"/>
              </a:rPr>
              <a:t>Topic </a:t>
            </a:r>
            <a:r>
              <a:rPr lang="en-US" sz="1600" b="1" i="1" dirty="0">
                <a:sym typeface="Wingdings" panose="05000000000000000000" pitchFamily="2" charset="2"/>
              </a:rPr>
              <a:t>Name</a:t>
            </a:r>
            <a:r>
              <a:rPr lang="en-US" sz="1600" dirty="0">
                <a:sym typeface="Wingdings" panose="05000000000000000000" pitchFamily="2" charset="2"/>
              </a:rPr>
              <a:t> is </a:t>
            </a:r>
            <a:r>
              <a:rPr lang="en-US" sz="1600" dirty="0" smtClean="0">
                <a:sym typeface="Wingdings" panose="05000000000000000000" pitchFamily="2" charset="2"/>
              </a:rPr>
              <a:t>used)</a:t>
            </a:r>
            <a:endParaRPr lang="en-US" sz="1600" dirty="0" smtClean="0"/>
          </a:p>
          <a:p>
            <a:pPr lvl="1"/>
            <a:r>
              <a:rPr lang="en-US" dirty="0" smtClean="0"/>
              <a:t>can distribute communication meta data</a:t>
            </a:r>
          </a:p>
          <a:p>
            <a:pPr lvl="2"/>
            <a:r>
              <a:rPr lang="en-US" dirty="0" smtClean="0"/>
              <a:t>Available subscribers and publishers, …</a:t>
            </a:r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79287" y="1548354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8" name="Platshållare för bild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18</a:t>
            </a:fld>
            <a:endParaRPr lang="sv-SE"/>
          </a:p>
        </p:txBody>
      </p:sp>
      <p:pic>
        <p:nvPicPr>
          <p:cNvPr id="9" name="Bildobjekt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364" y="3339178"/>
            <a:ext cx="5395635" cy="271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51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Publisher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1" y="1825625"/>
            <a:ext cx="5853056" cy="4351338"/>
          </a:xfrm>
        </p:spPr>
        <p:txBody>
          <a:bodyPr/>
          <a:lstStyle/>
          <a:p>
            <a:r>
              <a:rPr lang="en-US" dirty="0" smtClean="0">
                <a:sym typeface="Wingdings" panose="05000000000000000000" pitchFamily="2" charset="2"/>
              </a:rPr>
              <a:t>Publishers are generated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Topics from the Participant</a:t>
            </a:r>
          </a:p>
          <a:p>
            <a:r>
              <a:rPr lang="en-US" dirty="0" smtClean="0"/>
              <a:t>Publisher Name and Key</a:t>
            </a:r>
          </a:p>
          <a:p>
            <a:pPr lvl="1"/>
            <a:r>
              <a:rPr lang="en-US" dirty="0" smtClean="0"/>
              <a:t>Meta data sent to subscribers</a:t>
            </a:r>
          </a:p>
          <a:p>
            <a:endParaRPr lang="en-US" dirty="0" smtClean="0"/>
          </a:p>
          <a:p>
            <a:r>
              <a:rPr lang="en-US" dirty="0">
                <a:sym typeface="Wingdings" panose="05000000000000000000" pitchFamily="2" charset="2"/>
              </a:rPr>
              <a:t>Publishing Data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Have an instance of the Data Object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Update members in the Data Object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Call write()</a:t>
            </a:r>
          </a:p>
          <a:p>
            <a:endParaRPr lang="en-US" dirty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1302736" y="716437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776" y="2321428"/>
            <a:ext cx="5800725" cy="1714500"/>
          </a:xfrm>
          <a:prstGeom prst="rect">
            <a:avLst/>
          </a:prstGeom>
        </p:spPr>
      </p:pic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19</a:t>
            </a:fld>
            <a:endParaRPr lang="sv-SE"/>
          </a:p>
        </p:txBody>
      </p:sp>
      <p:pic>
        <p:nvPicPr>
          <p:cNvPr id="10" name="Bildobjekt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303" y="4057700"/>
            <a:ext cx="4305929" cy="258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4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Subscriber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ym typeface="Wingdings" panose="05000000000000000000" pitchFamily="2" charset="2"/>
              </a:rPr>
              <a:t>Subscribers </a:t>
            </a:r>
            <a:r>
              <a:rPr lang="en-US" dirty="0" smtClean="0">
                <a:sym typeface="Wingdings" panose="05000000000000000000" pitchFamily="2" charset="2"/>
              </a:rPr>
              <a:t>are </a:t>
            </a:r>
            <a:r>
              <a:rPr lang="en-US" dirty="0">
                <a:sym typeface="Wingdings" panose="05000000000000000000" pitchFamily="2" charset="2"/>
              </a:rPr>
              <a:t>generated</a:t>
            </a:r>
          </a:p>
          <a:p>
            <a:r>
              <a:rPr lang="en-US" dirty="0">
                <a:sym typeface="Wingdings" panose="05000000000000000000" pitchFamily="2" charset="2"/>
              </a:rPr>
              <a:t>Topics from the Participant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Receive filters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Key filter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Time based filter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User defined </a:t>
            </a:r>
            <a:r>
              <a:rPr lang="en-US" dirty="0" smtClean="0">
                <a:sym typeface="Wingdings" panose="05000000000000000000" pitchFamily="2" charset="2"/>
              </a:rPr>
              <a:t>filter on any meta</a:t>
            </a:r>
            <a:br>
              <a:rPr lang="en-US" dirty="0" smtClean="0">
                <a:sym typeface="Wingdings" panose="05000000000000000000" pitchFamily="2" charset="2"/>
              </a:rPr>
            </a:br>
            <a:r>
              <a:rPr lang="en-US" dirty="0" smtClean="0">
                <a:sym typeface="Wingdings" panose="05000000000000000000" pitchFamily="2" charset="2"/>
              </a:rPr>
              <a:t>data and/or member field in the</a:t>
            </a:r>
            <a:br>
              <a:rPr lang="en-US" dirty="0" smtClean="0">
                <a:sym typeface="Wingdings" panose="05000000000000000000" pitchFamily="2" charset="2"/>
              </a:rPr>
            </a:br>
            <a:r>
              <a:rPr lang="en-US" b="1" i="1" dirty="0" smtClean="0">
                <a:sym typeface="Wingdings" panose="05000000000000000000" pitchFamily="2" charset="2"/>
              </a:rPr>
              <a:t>Data Object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Receiving can be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Based </a:t>
            </a:r>
            <a:r>
              <a:rPr lang="en-US" dirty="0">
                <a:sym typeface="Wingdings" panose="05000000000000000000" pitchFamily="2" charset="2"/>
              </a:rPr>
              <a:t>on </a:t>
            </a:r>
            <a:r>
              <a:rPr lang="en-US" b="1" dirty="0" smtClean="0">
                <a:sym typeface="Wingdings" panose="05000000000000000000" pitchFamily="2" charset="2"/>
              </a:rPr>
              <a:t>polling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or 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Event-based </a:t>
            </a:r>
            <a:r>
              <a:rPr lang="en-US" dirty="0">
                <a:sym typeface="Wingdings" panose="05000000000000000000" pitchFamily="2" charset="2"/>
              </a:rPr>
              <a:t>using </a:t>
            </a:r>
            <a:r>
              <a:rPr lang="en-US" b="1" dirty="0">
                <a:sym typeface="Wingdings" panose="05000000000000000000" pitchFamily="2" charset="2"/>
              </a:rPr>
              <a:t>callbacks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b="1" i="1" dirty="0">
              <a:sym typeface="Wingdings" panose="05000000000000000000" pitchFamily="2" charset="2"/>
            </a:endParaRPr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9822728" y="716437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729" y="1558574"/>
            <a:ext cx="5257800" cy="1352550"/>
          </a:xfrm>
          <a:prstGeom prst="rect">
            <a:avLst/>
          </a:prstGeom>
        </p:spPr>
      </p:pic>
      <p:pic>
        <p:nvPicPr>
          <p:cNvPr id="7" name="Bildobjekt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054" y="2966529"/>
            <a:ext cx="6086475" cy="1895475"/>
          </a:xfrm>
          <a:prstGeom prst="rect">
            <a:avLst/>
          </a:prstGeom>
        </p:spPr>
      </p:pic>
      <p:cxnSp>
        <p:nvCxnSpPr>
          <p:cNvPr id="8" name="Rak pil 7"/>
          <p:cNvCxnSpPr/>
          <p:nvPr/>
        </p:nvCxnSpPr>
        <p:spPr>
          <a:xfrm flipV="1">
            <a:off x="3679115" y="4527999"/>
            <a:ext cx="2151530" cy="8361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tshållare fö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20</a:t>
            </a:fld>
            <a:endParaRPr lang="sv-SE"/>
          </a:p>
        </p:txBody>
      </p:sp>
      <p:pic>
        <p:nvPicPr>
          <p:cNvPr id="11" name="Bildobjekt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054" y="4918645"/>
            <a:ext cx="6086475" cy="1880302"/>
          </a:xfrm>
          <a:prstGeom prst="rect">
            <a:avLst/>
          </a:prstGeom>
        </p:spPr>
      </p:pic>
      <p:cxnSp>
        <p:nvCxnSpPr>
          <p:cNvPr id="12" name="Rak pil 11"/>
          <p:cNvCxnSpPr/>
          <p:nvPr/>
        </p:nvCxnSpPr>
        <p:spPr>
          <a:xfrm flipV="1">
            <a:off x="3679115" y="5184131"/>
            <a:ext cx="2151530" cy="1800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98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Subscriber, Callback example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4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err="1" smtClean="0">
                <a:sym typeface="Wingdings" panose="05000000000000000000" pitchFamily="2" charset="2"/>
              </a:rPr>
              <a:t>OPSMessage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Metadata</a:t>
            </a:r>
          </a:p>
          <a:p>
            <a:pPr lvl="2"/>
            <a:r>
              <a:rPr lang="en-US" dirty="0" err="1" smtClean="0">
                <a:sym typeface="Wingdings" panose="05000000000000000000" pitchFamily="2" charset="2"/>
              </a:rPr>
              <a:t>Publishername</a:t>
            </a:r>
            <a:r>
              <a:rPr lang="en-US" dirty="0" smtClean="0">
                <a:sym typeface="Wingdings" panose="05000000000000000000" pitchFamily="2" charset="2"/>
              </a:rPr>
              <a:t>, </a:t>
            </a:r>
            <a:r>
              <a:rPr lang="en-US" dirty="0" err="1" smtClean="0">
                <a:sym typeface="Wingdings" panose="05000000000000000000" pitchFamily="2" charset="2"/>
              </a:rPr>
              <a:t>Topicname</a:t>
            </a:r>
            <a:r>
              <a:rPr lang="en-US" dirty="0" smtClean="0">
                <a:sym typeface="Wingdings" panose="05000000000000000000" pitchFamily="2" charset="2"/>
              </a:rPr>
              <a:t>, IP, Port, </a:t>
            </a:r>
            <a:r>
              <a:rPr lang="en-US" dirty="0" err="1" smtClean="0">
                <a:sym typeface="Wingdings" panose="05000000000000000000" pitchFamily="2" charset="2"/>
              </a:rPr>
              <a:t>PublicationID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Metods</a:t>
            </a:r>
            <a:endParaRPr lang="en-US" dirty="0" smtClean="0">
              <a:sym typeface="Wingdings" panose="05000000000000000000" pitchFamily="2" charset="2"/>
            </a:endParaRP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reserve() / </a:t>
            </a:r>
            <a:r>
              <a:rPr lang="en-US" dirty="0" err="1" smtClean="0">
                <a:sym typeface="Wingdings" panose="05000000000000000000" pitchFamily="2" charset="2"/>
              </a:rPr>
              <a:t>unreserve</a:t>
            </a:r>
            <a:r>
              <a:rPr lang="en-US" dirty="0" smtClean="0">
                <a:sym typeface="Wingdings" panose="05000000000000000000" pitchFamily="2" charset="2"/>
              </a:rPr>
              <a:t>()</a:t>
            </a:r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9822728" y="716437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3529" y="1644998"/>
            <a:ext cx="5116537" cy="5193157"/>
          </a:xfrm>
          <a:prstGeom prst="rect">
            <a:avLst/>
          </a:prstGeom>
        </p:spPr>
      </p:pic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21</a:t>
            </a:fld>
            <a:endParaRPr lang="sv-SE"/>
          </a:p>
        </p:txBody>
      </p:sp>
      <p:pic>
        <p:nvPicPr>
          <p:cNvPr id="10" name="Bildobjekt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74" y="1644630"/>
            <a:ext cx="4924510" cy="1020250"/>
          </a:xfrm>
          <a:prstGeom prst="rect">
            <a:avLst/>
          </a:prstGeom>
        </p:spPr>
      </p:pic>
      <p:pic>
        <p:nvPicPr>
          <p:cNvPr id="12" name="Bildobjekt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74" y="2697537"/>
            <a:ext cx="4924510" cy="1412661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74" y="4132788"/>
            <a:ext cx="4195376" cy="31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3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Subscriber, </a:t>
            </a:r>
            <a:r>
              <a:rPr lang="en-US" sz="3200" dirty="0" err="1" smtClean="0"/>
              <a:t>Lamda</a:t>
            </a:r>
            <a:r>
              <a:rPr lang="en-US" sz="3200" dirty="0" smtClean="0"/>
              <a:t> example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04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>
              <a:sym typeface="Wingdings" panose="05000000000000000000" pitchFamily="2" charset="2"/>
            </a:endParaRPr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9822728" y="716437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22</a:t>
            </a:fld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43" y="1634239"/>
            <a:ext cx="7814527" cy="476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Transport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9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Socket based transports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Multicast		</a:t>
            </a:r>
            <a:r>
              <a:rPr lang="en-US" dirty="0" smtClean="0"/>
              <a:t>many-to-many</a:t>
            </a:r>
            <a:endParaRPr lang="en-US" dirty="0" smtClean="0"/>
          </a:p>
          <a:p>
            <a:pPr lvl="2"/>
            <a:r>
              <a:rPr lang="en-US" dirty="0" smtClean="0"/>
              <a:t>+ Load on publisher not affected by adding subscribers</a:t>
            </a:r>
          </a:p>
          <a:p>
            <a:pPr lvl="2"/>
            <a:r>
              <a:rPr lang="en-US" dirty="0" smtClean="0"/>
              <a:t>-  Based on UDP were packets can be lost (</a:t>
            </a:r>
            <a:r>
              <a:rPr lang="en-US" sz="1800" i="1" dirty="0" smtClean="0"/>
              <a:t>for C++, ACK and resends can be used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-  Small HW may not always support multicast</a:t>
            </a:r>
          </a:p>
          <a:p>
            <a:pPr lvl="2"/>
            <a:r>
              <a:rPr lang="en-US" dirty="0" smtClean="0"/>
              <a:t>-  Sent to all nodes on subnet (smart switches can be used to block, IGMP snooping)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UDP		</a:t>
            </a:r>
            <a:r>
              <a:rPr lang="en-US" dirty="0"/>
              <a:t> </a:t>
            </a:r>
            <a:r>
              <a:rPr lang="en-US" dirty="0" smtClean="0"/>
              <a:t>many-to-one, many-</a:t>
            </a:r>
            <a:r>
              <a:rPr lang="en-US" dirty="0" smtClean="0"/>
              <a:t>to-many</a:t>
            </a:r>
            <a:endParaRPr lang="en-US" dirty="0" smtClean="0"/>
          </a:p>
          <a:p>
            <a:pPr lvl="2"/>
            <a:r>
              <a:rPr lang="en-US" dirty="0" smtClean="0"/>
              <a:t>+ Only sent to configured nodes</a:t>
            </a:r>
          </a:p>
          <a:p>
            <a:pPr lvl="2"/>
            <a:r>
              <a:rPr lang="en-US" dirty="0" smtClean="0"/>
              <a:t>-  Packets can be lost</a:t>
            </a:r>
          </a:p>
          <a:p>
            <a:pPr lvl="2"/>
            <a:r>
              <a:rPr lang="en-US" dirty="0" smtClean="0"/>
              <a:t>-  Load on publisher increases for each subscriber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TCP		</a:t>
            </a:r>
            <a:r>
              <a:rPr lang="en-US" dirty="0"/>
              <a:t> </a:t>
            </a:r>
            <a:r>
              <a:rPr lang="en-US" dirty="0" smtClean="0"/>
              <a:t>one-to-many, many-</a:t>
            </a:r>
            <a:r>
              <a:rPr lang="en-US" dirty="0" smtClean="0"/>
              <a:t>to-many</a:t>
            </a:r>
            <a:endParaRPr lang="en-US" dirty="0" smtClean="0"/>
          </a:p>
          <a:p>
            <a:pPr lvl="2"/>
            <a:r>
              <a:rPr lang="en-US" dirty="0"/>
              <a:t>+ Only sent to configured nodes</a:t>
            </a:r>
          </a:p>
          <a:p>
            <a:pPr lvl="2"/>
            <a:r>
              <a:rPr lang="en-US" dirty="0" smtClean="0"/>
              <a:t>+ No packets are </a:t>
            </a:r>
            <a:r>
              <a:rPr lang="en-US" dirty="0" smtClean="0"/>
              <a:t>lost once link is established</a:t>
            </a:r>
            <a:endParaRPr lang="en-US" dirty="0" smtClean="0"/>
          </a:p>
          <a:p>
            <a:pPr lvl="2"/>
            <a:r>
              <a:rPr lang="en-US" dirty="0" smtClean="0"/>
              <a:t>-  Setting up TCP-link takes some time</a:t>
            </a:r>
          </a:p>
          <a:p>
            <a:pPr lvl="2"/>
            <a:r>
              <a:rPr lang="en-US" dirty="0"/>
              <a:t>-  Load on publisher </a:t>
            </a:r>
            <a:r>
              <a:rPr lang="en-US" dirty="0" smtClean="0"/>
              <a:t>(server) increases </a:t>
            </a:r>
            <a:r>
              <a:rPr lang="en-US" dirty="0"/>
              <a:t>for each </a:t>
            </a:r>
            <a:r>
              <a:rPr lang="en-US" dirty="0" smtClean="0"/>
              <a:t>subscriber (client)</a:t>
            </a:r>
          </a:p>
          <a:p>
            <a:pPr lvl="2"/>
            <a:r>
              <a:rPr lang="en-US" dirty="0" smtClean="0"/>
              <a:t>-  Slowest subscriber will limit the publishing rate (when buffers are filled)</a:t>
            </a:r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79287" y="190336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413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Transport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9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Non-socket based transports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Shared-memory		</a:t>
            </a:r>
            <a:r>
              <a:rPr lang="en-US" dirty="0"/>
              <a:t> </a:t>
            </a:r>
            <a:r>
              <a:rPr lang="en-US" dirty="0" smtClean="0"/>
              <a:t>one-to-many, </a:t>
            </a:r>
            <a:r>
              <a:rPr lang="en-US" dirty="0"/>
              <a:t>many-to-many</a:t>
            </a:r>
            <a:endParaRPr lang="en-US" dirty="0" smtClean="0"/>
          </a:p>
          <a:p>
            <a:pPr lvl="2"/>
            <a:r>
              <a:rPr lang="en-US" dirty="0" smtClean="0"/>
              <a:t>+ Can be faster than socket-based transport</a:t>
            </a:r>
          </a:p>
          <a:p>
            <a:pPr lvl="2"/>
            <a:r>
              <a:rPr lang="en-US" dirty="0" smtClean="0"/>
              <a:t>-  Only within one node (as localhost)</a:t>
            </a:r>
          </a:p>
          <a:p>
            <a:pPr lvl="2"/>
            <a:r>
              <a:rPr lang="en-US" dirty="0" smtClean="0"/>
              <a:t>-  Currently only for C++ on OS:s with boost-libraries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In-Process		</a:t>
            </a:r>
          </a:p>
          <a:p>
            <a:pPr lvl="2"/>
            <a:r>
              <a:rPr lang="en-US" dirty="0" smtClean="0"/>
              <a:t>Only within a program </a:t>
            </a:r>
          </a:p>
          <a:p>
            <a:pPr lvl="2"/>
            <a:r>
              <a:rPr lang="en-US" dirty="0" smtClean="0"/>
              <a:t>Useful for writing </a:t>
            </a:r>
            <a:r>
              <a:rPr lang="en-US" dirty="0" err="1" smtClean="0"/>
              <a:t>unittests</a:t>
            </a:r>
            <a:r>
              <a:rPr lang="en-US" dirty="0" smtClean="0"/>
              <a:t> (no network delay)</a:t>
            </a:r>
          </a:p>
          <a:p>
            <a:pPr lvl="2"/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marL="914400" lvl="2" indent="0">
              <a:buNone/>
            </a:pPr>
            <a:endParaRPr lang="en-US" dirty="0" smtClean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79287" y="1903362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072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Participant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843489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Receive data handler implementation details</a:t>
            </a:r>
          </a:p>
          <a:p>
            <a:pPr lvl="1"/>
            <a:r>
              <a:rPr lang="en-US" dirty="0" smtClean="0"/>
              <a:t>C++</a:t>
            </a:r>
          </a:p>
          <a:p>
            <a:pPr lvl="2"/>
            <a:r>
              <a:rPr lang="en-US" dirty="0" smtClean="0"/>
              <a:t>One common thread for all communication channels (sockets) in a participant</a:t>
            </a:r>
          </a:p>
          <a:p>
            <a:pPr lvl="2"/>
            <a:r>
              <a:rPr lang="en-US" dirty="0" smtClean="0"/>
              <a:t>The thread reads all sockets, de-serializes data, creates the objects and gives them to the subscribers</a:t>
            </a:r>
          </a:p>
          <a:p>
            <a:pPr lvl="2"/>
            <a:r>
              <a:rPr lang="en-US" dirty="0" smtClean="0"/>
              <a:t>To improve receive performance (i.e. use more CPU cores), use several participants and topics on different ports</a:t>
            </a:r>
          </a:p>
          <a:p>
            <a:pPr lvl="2"/>
            <a:endParaRPr lang="en-US" dirty="0"/>
          </a:p>
          <a:p>
            <a:pPr lvl="1"/>
            <a:r>
              <a:rPr lang="en-US" dirty="0" smtClean="0"/>
              <a:t>C#, Java, Delphi, Ada and Python</a:t>
            </a:r>
          </a:p>
          <a:p>
            <a:pPr lvl="2"/>
            <a:r>
              <a:rPr lang="en-US" dirty="0" smtClean="0"/>
              <a:t>One unique thread for each communication channel (socket)</a:t>
            </a:r>
          </a:p>
          <a:p>
            <a:pPr lvl="2"/>
            <a:r>
              <a:rPr lang="en-US" dirty="0" smtClean="0"/>
              <a:t>Each </a:t>
            </a:r>
            <a:r>
              <a:rPr lang="en-US" dirty="0"/>
              <a:t>thread </a:t>
            </a:r>
            <a:r>
              <a:rPr lang="en-US" dirty="0" smtClean="0"/>
              <a:t>reads a socket, </a:t>
            </a:r>
            <a:r>
              <a:rPr lang="en-US" dirty="0"/>
              <a:t>de-serializes </a:t>
            </a:r>
            <a:r>
              <a:rPr lang="en-US" dirty="0" smtClean="0"/>
              <a:t>data, creates </a:t>
            </a:r>
            <a:r>
              <a:rPr lang="en-US" dirty="0"/>
              <a:t>the </a:t>
            </a:r>
            <a:r>
              <a:rPr lang="en-US" dirty="0" smtClean="0"/>
              <a:t>objects and gives them to the subscribers</a:t>
            </a:r>
          </a:p>
          <a:p>
            <a:pPr lvl="2"/>
            <a:r>
              <a:rPr lang="en-US" dirty="0"/>
              <a:t>To improve receive performance (i.e. use more CPU cores), </a:t>
            </a:r>
            <a:r>
              <a:rPr lang="en-US" dirty="0" smtClean="0"/>
              <a:t>use topics </a:t>
            </a:r>
            <a:r>
              <a:rPr lang="en-US" dirty="0"/>
              <a:t>on different ports</a:t>
            </a:r>
          </a:p>
          <a:p>
            <a:pPr marL="914400" lvl="2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254" y="365125"/>
            <a:ext cx="1904812" cy="1847499"/>
          </a:xfrm>
          <a:prstGeom prst="rect">
            <a:avLst/>
          </a:prstGeom>
        </p:spPr>
      </p:pic>
      <p:sp>
        <p:nvSpPr>
          <p:cNvPr id="5" name="Rektangel med rundade hörn 4"/>
          <p:cNvSpPr/>
          <p:nvPr/>
        </p:nvSpPr>
        <p:spPr>
          <a:xfrm>
            <a:off x="10579287" y="1548354"/>
            <a:ext cx="678431" cy="378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latshållare fö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77861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Configuration (minimal)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6354452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XML-file with one or more </a:t>
            </a:r>
            <a:r>
              <a:rPr lang="en-US" b="1" i="1" dirty="0" smtClean="0"/>
              <a:t>Domains</a:t>
            </a:r>
            <a:r>
              <a:rPr lang="en-US" dirty="0" smtClean="0"/>
              <a:t>, each with one or more </a:t>
            </a:r>
            <a:r>
              <a:rPr lang="en-US" b="1" i="1" dirty="0" smtClean="0"/>
              <a:t>Topics</a:t>
            </a:r>
          </a:p>
          <a:p>
            <a:r>
              <a:rPr lang="en-US" b="1" i="1" dirty="0" smtClean="0"/>
              <a:t>Domain</a:t>
            </a:r>
            <a:r>
              <a:rPr lang="en-US" dirty="0" smtClean="0"/>
              <a:t> parameters</a:t>
            </a:r>
            <a:endParaRPr lang="en-US" b="1" i="1" dirty="0" smtClean="0"/>
          </a:p>
          <a:p>
            <a:pPr lvl="1"/>
            <a:r>
              <a:rPr lang="en-US" i="1" dirty="0" err="1" smtClean="0"/>
              <a:t>domainID</a:t>
            </a:r>
            <a:endParaRPr lang="en-US" i="1" dirty="0" smtClean="0"/>
          </a:p>
          <a:p>
            <a:pPr lvl="1"/>
            <a:r>
              <a:rPr lang="en-US" i="1" dirty="0" err="1" smtClean="0"/>
              <a:t>domainAddress</a:t>
            </a:r>
            <a:endParaRPr lang="en-US" i="1" dirty="0"/>
          </a:p>
          <a:p>
            <a:pPr lvl="2"/>
            <a:r>
              <a:rPr lang="en-US" dirty="0" smtClean="0"/>
              <a:t>Multicast address (224.x.x.x – 239.x.x.x)</a:t>
            </a:r>
          </a:p>
          <a:p>
            <a:pPr lvl="1"/>
            <a:r>
              <a:rPr lang="en-US" i="1" dirty="0" err="1" smtClean="0"/>
              <a:t>localInterface</a:t>
            </a:r>
            <a:endParaRPr lang="en-US" i="1" dirty="0" smtClean="0"/>
          </a:p>
          <a:p>
            <a:pPr lvl="2"/>
            <a:r>
              <a:rPr lang="en-US" dirty="0" smtClean="0"/>
              <a:t>E.g. 127.0.0.1, 192.168.10.0/24, …</a:t>
            </a:r>
          </a:p>
          <a:p>
            <a:pPr lvl="1"/>
            <a:r>
              <a:rPr lang="en-US" dirty="0" smtClean="0"/>
              <a:t>List of </a:t>
            </a:r>
            <a:r>
              <a:rPr lang="en-US" b="1" i="1" dirty="0" smtClean="0"/>
              <a:t>Topics</a:t>
            </a:r>
            <a:endParaRPr lang="en-US" b="1" i="1" dirty="0"/>
          </a:p>
          <a:p>
            <a:pPr lvl="2"/>
            <a:r>
              <a:rPr lang="en-US" i="1" dirty="0"/>
              <a:t>name</a:t>
            </a:r>
          </a:p>
          <a:p>
            <a:pPr lvl="3"/>
            <a:r>
              <a:rPr lang="en-US" dirty="0"/>
              <a:t>Must be unique within </a:t>
            </a:r>
            <a:r>
              <a:rPr lang="en-US" b="1" i="1" dirty="0"/>
              <a:t>Domain</a:t>
            </a:r>
          </a:p>
          <a:p>
            <a:pPr lvl="2"/>
            <a:r>
              <a:rPr lang="en-US" i="1" dirty="0" err="1"/>
              <a:t>dataType</a:t>
            </a:r>
            <a:endParaRPr lang="en-US" i="1" dirty="0"/>
          </a:p>
          <a:p>
            <a:pPr lvl="2"/>
            <a:r>
              <a:rPr lang="en-US" i="1" dirty="0" smtClean="0"/>
              <a:t>port</a:t>
            </a:r>
            <a:endParaRPr lang="en-US" i="1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26</a:t>
            </a:fld>
            <a:endParaRPr lang="sv-SE"/>
          </a:p>
        </p:txBody>
      </p:sp>
      <p:pic>
        <p:nvPicPr>
          <p:cNvPr id="9" name="Bildobjek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52" y="615098"/>
            <a:ext cx="4925112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4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Configuration (full)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540829" cy="4351338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Domains</a:t>
            </a:r>
          </a:p>
          <a:p>
            <a:pPr lvl="1"/>
            <a:r>
              <a:rPr lang="en-US" dirty="0" smtClean="0"/>
              <a:t>Parameters</a:t>
            </a:r>
          </a:p>
          <a:p>
            <a:pPr lvl="2"/>
            <a:r>
              <a:rPr lang="en-US" dirty="0" smtClean="0"/>
              <a:t>See repo doc</a:t>
            </a:r>
          </a:p>
          <a:p>
            <a:pPr lvl="1"/>
            <a:r>
              <a:rPr lang="en-US" b="1" i="1" dirty="0" smtClean="0"/>
              <a:t>Channels</a:t>
            </a:r>
          </a:p>
          <a:p>
            <a:pPr lvl="1"/>
            <a:r>
              <a:rPr lang="en-US" b="1" i="1" dirty="0" smtClean="0"/>
              <a:t>Transports</a:t>
            </a:r>
          </a:p>
          <a:p>
            <a:pPr lvl="1"/>
            <a:r>
              <a:rPr lang="en-US" b="1" i="1" dirty="0" smtClean="0"/>
              <a:t>Topics</a:t>
            </a:r>
          </a:p>
          <a:p>
            <a:r>
              <a:rPr lang="en-US" sz="1800" b="1" i="1" dirty="0" smtClean="0">
                <a:hlinkClick r:id="rId3"/>
              </a:rPr>
              <a:t>https://github.com/LelleAnd/ops/blob/development/Doc/OpsConfig.md</a:t>
            </a:r>
            <a:endParaRPr lang="en-US" sz="1800" b="1" i="1" dirty="0" smtClean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27</a:t>
            </a:fld>
            <a:endParaRPr lang="sv-SE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233" y="195943"/>
            <a:ext cx="5494767" cy="652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7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Configuration (full)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11277600" cy="4351338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Domains</a:t>
            </a:r>
          </a:p>
          <a:p>
            <a:pPr lvl="1"/>
            <a:r>
              <a:rPr lang="en-US" dirty="0" smtClean="0"/>
              <a:t>Parameters</a:t>
            </a:r>
            <a:endParaRPr lang="en-US" dirty="0"/>
          </a:p>
          <a:p>
            <a:pPr lvl="1"/>
            <a:r>
              <a:rPr lang="en-US" b="1" i="1" dirty="0" smtClean="0"/>
              <a:t>Channels</a:t>
            </a:r>
          </a:p>
          <a:p>
            <a:pPr lvl="2"/>
            <a:r>
              <a:rPr lang="en-US" dirty="0"/>
              <a:t>Parameters</a:t>
            </a:r>
          </a:p>
          <a:p>
            <a:pPr lvl="3"/>
            <a:r>
              <a:rPr lang="en-US" dirty="0"/>
              <a:t>See repo </a:t>
            </a:r>
            <a:r>
              <a:rPr lang="en-US" dirty="0" smtClean="0"/>
              <a:t>doc</a:t>
            </a:r>
            <a:endParaRPr lang="en-US" b="1" i="1" dirty="0"/>
          </a:p>
          <a:p>
            <a:pPr lvl="1"/>
            <a:r>
              <a:rPr lang="en-US" b="1" i="1" dirty="0"/>
              <a:t>Transports</a:t>
            </a:r>
          </a:p>
          <a:p>
            <a:pPr lvl="1"/>
            <a:r>
              <a:rPr lang="en-US" b="1" i="1" dirty="0" smtClean="0"/>
              <a:t>Topics</a:t>
            </a:r>
          </a:p>
          <a:p>
            <a:endParaRPr lang="en-US" b="1" i="1" dirty="0" smtClean="0">
              <a:hlinkClick r:id="rId3"/>
            </a:endParaRPr>
          </a:p>
          <a:p>
            <a:endParaRPr lang="en-US" b="1" i="1" dirty="0">
              <a:hlinkClick r:id="rId3"/>
            </a:endParaRPr>
          </a:p>
          <a:p>
            <a:r>
              <a:rPr lang="en-US" sz="1800" b="1" i="1" dirty="0" smtClean="0">
                <a:hlinkClick r:id="rId3"/>
              </a:rPr>
              <a:t>https</a:t>
            </a:r>
            <a:r>
              <a:rPr lang="en-US" sz="1800" b="1" i="1" dirty="0">
                <a:hlinkClick r:id="rId3"/>
              </a:rPr>
              <a:t>://github.com/LelleAnd/ops/blob/development/Doc/OpsConfig.md</a:t>
            </a:r>
            <a:endParaRPr lang="en-US" sz="1800" b="1" i="1" dirty="0"/>
          </a:p>
          <a:p>
            <a:endParaRPr lang="en-US" b="1" i="1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28</a:t>
            </a:fld>
            <a:endParaRPr lang="sv-SE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8662" y="1825625"/>
            <a:ext cx="7273338" cy="37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5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Configuration (full)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Domains</a:t>
            </a:r>
          </a:p>
          <a:p>
            <a:pPr lvl="1"/>
            <a:r>
              <a:rPr lang="en-US" dirty="0" smtClean="0"/>
              <a:t>Parameters</a:t>
            </a:r>
            <a:endParaRPr lang="en-US" dirty="0"/>
          </a:p>
          <a:p>
            <a:pPr lvl="1"/>
            <a:r>
              <a:rPr lang="en-US" b="1" i="1" dirty="0" smtClean="0"/>
              <a:t>Channels</a:t>
            </a:r>
          </a:p>
          <a:p>
            <a:pPr lvl="1"/>
            <a:r>
              <a:rPr lang="en-US" b="1" i="1" dirty="0" smtClean="0"/>
              <a:t>Transports</a:t>
            </a:r>
            <a:endParaRPr lang="en-US" b="1" i="1" dirty="0"/>
          </a:p>
          <a:p>
            <a:pPr lvl="2"/>
            <a:r>
              <a:rPr lang="en-US" dirty="0"/>
              <a:t>Parameters</a:t>
            </a:r>
          </a:p>
          <a:p>
            <a:pPr lvl="3"/>
            <a:r>
              <a:rPr lang="en-US" dirty="0"/>
              <a:t>See repo doc</a:t>
            </a:r>
            <a:endParaRPr lang="en-US" b="1" i="1" dirty="0"/>
          </a:p>
          <a:p>
            <a:pPr lvl="1"/>
            <a:r>
              <a:rPr lang="en-US" b="1" i="1" dirty="0" smtClean="0"/>
              <a:t>Topics</a:t>
            </a:r>
          </a:p>
          <a:p>
            <a:endParaRPr lang="en-US" b="1" i="1" dirty="0"/>
          </a:p>
          <a:p>
            <a:endParaRPr lang="en-US" b="1" i="1" dirty="0" smtClean="0"/>
          </a:p>
          <a:p>
            <a:r>
              <a:rPr lang="en-US" sz="1800" b="1" i="1" dirty="0">
                <a:hlinkClick r:id="rId3"/>
              </a:rPr>
              <a:t>https://github.com/LelleAnd/ops/blob/development/Doc/OpsConfig.md</a:t>
            </a:r>
            <a:endParaRPr lang="en-US" sz="1800" b="1" i="1" dirty="0"/>
          </a:p>
          <a:p>
            <a:endParaRPr lang="en-US" b="1" i="1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29</a:t>
            </a:fld>
            <a:endParaRPr lang="sv-SE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360" y="1384917"/>
            <a:ext cx="3972479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854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Configuration (full)</a:t>
            </a:r>
            <a:endParaRPr lang="en-US" sz="3200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529943" cy="4351338"/>
          </a:xfrm>
        </p:spPr>
        <p:txBody>
          <a:bodyPr>
            <a:normAutofit/>
          </a:bodyPr>
          <a:lstStyle/>
          <a:p>
            <a:r>
              <a:rPr lang="en-US" b="1" i="1" dirty="0" smtClean="0"/>
              <a:t>Domains</a:t>
            </a:r>
          </a:p>
          <a:p>
            <a:pPr lvl="1"/>
            <a:r>
              <a:rPr lang="en-US" dirty="0" smtClean="0"/>
              <a:t>Parameters</a:t>
            </a:r>
            <a:endParaRPr lang="en-US" dirty="0"/>
          </a:p>
          <a:p>
            <a:pPr lvl="1"/>
            <a:r>
              <a:rPr lang="en-US" b="1" i="1" dirty="0" smtClean="0"/>
              <a:t>Channels</a:t>
            </a:r>
          </a:p>
          <a:p>
            <a:pPr lvl="1"/>
            <a:r>
              <a:rPr lang="en-US" b="1" i="1" dirty="0" smtClean="0"/>
              <a:t>Transports</a:t>
            </a:r>
            <a:endParaRPr lang="en-US" b="1" i="1" dirty="0"/>
          </a:p>
          <a:p>
            <a:pPr lvl="1"/>
            <a:r>
              <a:rPr lang="en-US" b="1" i="1" dirty="0" smtClean="0"/>
              <a:t>Topics</a:t>
            </a:r>
          </a:p>
          <a:p>
            <a:pPr lvl="2"/>
            <a:r>
              <a:rPr lang="en-US" dirty="0"/>
              <a:t>Parameters</a:t>
            </a:r>
          </a:p>
          <a:p>
            <a:pPr lvl="3"/>
            <a:r>
              <a:rPr lang="en-US" dirty="0"/>
              <a:t>See repo doc</a:t>
            </a:r>
            <a:endParaRPr lang="en-US" b="1" i="1" dirty="0"/>
          </a:p>
          <a:p>
            <a:endParaRPr lang="en-US" b="1" i="1" dirty="0" smtClean="0">
              <a:hlinkClick r:id="rId3"/>
            </a:endParaRPr>
          </a:p>
          <a:p>
            <a:r>
              <a:rPr lang="en-US" sz="1800" b="1" i="1" dirty="0" smtClean="0">
                <a:hlinkClick r:id="rId3"/>
              </a:rPr>
              <a:t>https</a:t>
            </a:r>
            <a:r>
              <a:rPr lang="en-US" sz="1800" b="1" i="1" dirty="0">
                <a:hlinkClick r:id="rId3"/>
              </a:rPr>
              <a:t>://</a:t>
            </a:r>
            <a:r>
              <a:rPr lang="en-US" sz="1800" b="1" i="1" dirty="0" smtClean="0">
                <a:hlinkClick r:id="rId3"/>
              </a:rPr>
              <a:t>github.com/LelleAnd/ops/blob/development/Doc/OpsConfig.md</a:t>
            </a:r>
            <a:endParaRPr lang="en-US" sz="1800" b="1" i="1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30</a:t>
            </a:fld>
            <a:endParaRPr lang="sv-SE"/>
          </a:p>
        </p:txBody>
      </p:sp>
      <p:pic>
        <p:nvPicPr>
          <p:cNvPr id="4" name="Bildobjekt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628" y="496435"/>
            <a:ext cx="4365171" cy="622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38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Large Data Objects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Large data objects (&gt; 60000 bytes)</a:t>
            </a:r>
          </a:p>
          <a:p>
            <a:pPr lvl="1"/>
            <a:r>
              <a:rPr lang="en-US" dirty="0" smtClean="0"/>
              <a:t>Only one publisher</a:t>
            </a:r>
          </a:p>
          <a:p>
            <a:pPr lvl="1"/>
            <a:r>
              <a:rPr lang="en-US" dirty="0" smtClean="0"/>
              <a:t>Topic must have a unique communication channel (socket port, shared memory)</a:t>
            </a:r>
          </a:p>
          <a:p>
            <a:pPr lvl="1"/>
            <a:r>
              <a:rPr lang="en-US" sz="1800" dirty="0" smtClean="0">
                <a:hlinkClick r:id="rId3"/>
              </a:rPr>
              <a:t>https://github.com/LelleAnd/ops/blob/development/Doc/LargeMessages.md</a:t>
            </a:r>
            <a:endParaRPr lang="en-US" sz="1800" dirty="0" smtClean="0"/>
          </a:p>
          <a:p>
            <a:endParaRPr lang="en-US" dirty="0" smtClean="0"/>
          </a:p>
          <a:p>
            <a:r>
              <a:rPr lang="en-US" dirty="0" smtClean="0"/>
              <a:t>Drawbacks with large objects</a:t>
            </a:r>
          </a:p>
          <a:p>
            <a:pPr lvl="1"/>
            <a:r>
              <a:rPr lang="en-US" dirty="0" smtClean="0"/>
              <a:t>Multicast &amp; UDP transports</a:t>
            </a:r>
          </a:p>
          <a:p>
            <a:pPr lvl="2"/>
            <a:r>
              <a:rPr lang="en-US" dirty="0" smtClean="0"/>
              <a:t>One lost Ethernet packet, loses the </a:t>
            </a:r>
            <a:br>
              <a:rPr lang="en-US" dirty="0" smtClean="0"/>
            </a:br>
            <a:r>
              <a:rPr lang="en-US" dirty="0" smtClean="0"/>
              <a:t>whole Data Object</a:t>
            </a: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 important to have good HW and</a:t>
            </a:r>
            <a:br>
              <a:rPr lang="en-US" dirty="0" smtClean="0">
                <a:sym typeface="Wingdings" panose="05000000000000000000" pitchFamily="2" charset="2"/>
              </a:rPr>
            </a:br>
            <a:r>
              <a:rPr lang="en-US" dirty="0" smtClean="0">
                <a:sym typeface="Wingdings" panose="05000000000000000000" pitchFamily="2" charset="2"/>
              </a:rPr>
              <a:t>enough memory for Ethernet buffers</a:t>
            </a:r>
            <a:endParaRPr lang="en-US" dirty="0" smtClean="0"/>
          </a:p>
        </p:txBody>
      </p:sp>
      <p:sp>
        <p:nvSpPr>
          <p:cNvPr id="4" name="Rektangel 3"/>
          <p:cNvSpPr/>
          <p:nvPr/>
        </p:nvSpPr>
        <p:spPr>
          <a:xfrm>
            <a:off x="6891171" y="4706340"/>
            <a:ext cx="1021976" cy="1506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ktangel 4"/>
          <p:cNvSpPr/>
          <p:nvPr/>
        </p:nvSpPr>
        <p:spPr>
          <a:xfrm>
            <a:off x="8859821" y="4706340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60000</a:t>
            </a:r>
            <a:endParaRPr lang="en-US" dirty="0"/>
          </a:p>
        </p:txBody>
      </p:sp>
      <p:sp>
        <p:nvSpPr>
          <p:cNvPr id="6" name="Rektangel 5"/>
          <p:cNvSpPr/>
          <p:nvPr/>
        </p:nvSpPr>
        <p:spPr>
          <a:xfrm>
            <a:off x="8859821" y="5152782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60000</a:t>
            </a:r>
            <a:endParaRPr lang="en-US" dirty="0"/>
          </a:p>
        </p:txBody>
      </p:sp>
      <p:sp>
        <p:nvSpPr>
          <p:cNvPr id="7" name="Rektangel 6"/>
          <p:cNvSpPr/>
          <p:nvPr/>
        </p:nvSpPr>
        <p:spPr>
          <a:xfrm>
            <a:off x="8859821" y="5878924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60000</a:t>
            </a:r>
            <a:endParaRPr lang="en-US" dirty="0"/>
          </a:p>
        </p:txBody>
      </p:sp>
      <p:cxnSp>
        <p:nvCxnSpPr>
          <p:cNvPr id="9" name="Rak 8"/>
          <p:cNvCxnSpPr/>
          <p:nvPr/>
        </p:nvCxnSpPr>
        <p:spPr>
          <a:xfrm>
            <a:off x="7988451" y="4706340"/>
            <a:ext cx="79606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ak 10"/>
          <p:cNvCxnSpPr/>
          <p:nvPr/>
        </p:nvCxnSpPr>
        <p:spPr>
          <a:xfrm>
            <a:off x="7988451" y="6214203"/>
            <a:ext cx="796066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ruta 11"/>
          <p:cNvSpPr txBox="1"/>
          <p:nvPr/>
        </p:nvSpPr>
        <p:spPr>
          <a:xfrm>
            <a:off x="9074975" y="544860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3" name="textruta 12"/>
          <p:cNvSpPr txBox="1"/>
          <p:nvPr/>
        </p:nvSpPr>
        <p:spPr>
          <a:xfrm>
            <a:off x="6756052" y="4392723"/>
            <a:ext cx="129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 Object</a:t>
            </a:r>
            <a:endParaRPr lang="en-US" dirty="0"/>
          </a:p>
        </p:txBody>
      </p:sp>
      <p:sp>
        <p:nvSpPr>
          <p:cNvPr id="14" name="textruta 13"/>
          <p:cNvSpPr txBox="1"/>
          <p:nvPr/>
        </p:nvSpPr>
        <p:spPr>
          <a:xfrm>
            <a:off x="8596753" y="4392723"/>
            <a:ext cx="134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UDP Packets</a:t>
            </a:r>
            <a:endParaRPr lang="en-US" dirty="0"/>
          </a:p>
        </p:txBody>
      </p:sp>
      <p:sp>
        <p:nvSpPr>
          <p:cNvPr id="15" name="Rektangel 14"/>
          <p:cNvSpPr/>
          <p:nvPr/>
        </p:nvSpPr>
        <p:spPr>
          <a:xfrm>
            <a:off x="10969876" y="4706340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1472</a:t>
            </a:r>
            <a:endParaRPr lang="en-US" dirty="0"/>
          </a:p>
        </p:txBody>
      </p:sp>
      <p:sp>
        <p:nvSpPr>
          <p:cNvPr id="16" name="Rektangel 15"/>
          <p:cNvSpPr/>
          <p:nvPr/>
        </p:nvSpPr>
        <p:spPr>
          <a:xfrm>
            <a:off x="10969876" y="5454437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1472</a:t>
            </a:r>
            <a:endParaRPr lang="en-US" dirty="0"/>
          </a:p>
        </p:txBody>
      </p:sp>
      <p:sp>
        <p:nvSpPr>
          <p:cNvPr id="17" name="Rektangel 16"/>
          <p:cNvSpPr/>
          <p:nvPr/>
        </p:nvSpPr>
        <p:spPr>
          <a:xfrm>
            <a:off x="10969876" y="5919203"/>
            <a:ext cx="796066" cy="333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1120</a:t>
            </a:r>
            <a:endParaRPr lang="en-US" dirty="0"/>
          </a:p>
        </p:txBody>
      </p:sp>
      <p:sp>
        <p:nvSpPr>
          <p:cNvPr id="18" name="textruta 17"/>
          <p:cNvSpPr txBox="1"/>
          <p:nvPr/>
        </p:nvSpPr>
        <p:spPr>
          <a:xfrm>
            <a:off x="11185030" y="500554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19" name="textruta 18"/>
          <p:cNvSpPr txBox="1"/>
          <p:nvPr/>
        </p:nvSpPr>
        <p:spPr>
          <a:xfrm>
            <a:off x="10814937" y="3836537"/>
            <a:ext cx="10543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41</a:t>
            </a:r>
          </a:p>
          <a:p>
            <a:pPr algn="ctr"/>
            <a:r>
              <a:rPr lang="en-US" dirty="0" smtClean="0"/>
              <a:t>Ethernet </a:t>
            </a:r>
          </a:p>
          <a:p>
            <a:pPr algn="ctr"/>
            <a:r>
              <a:rPr lang="en-US" dirty="0" smtClean="0"/>
              <a:t>Packets</a:t>
            </a:r>
            <a:endParaRPr lang="en-US" dirty="0"/>
          </a:p>
        </p:txBody>
      </p:sp>
      <p:cxnSp>
        <p:nvCxnSpPr>
          <p:cNvPr id="20" name="Rak 19"/>
          <p:cNvCxnSpPr/>
          <p:nvPr/>
        </p:nvCxnSpPr>
        <p:spPr>
          <a:xfrm flipV="1">
            <a:off x="9776013" y="4706340"/>
            <a:ext cx="1117003" cy="179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k 21"/>
          <p:cNvCxnSpPr/>
          <p:nvPr/>
        </p:nvCxnSpPr>
        <p:spPr>
          <a:xfrm>
            <a:off x="9776013" y="5039827"/>
            <a:ext cx="1117003" cy="117258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tshållare för datum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10" name="Platshållare för bildnummer 9"/>
          <p:cNvSpPr>
            <a:spLocks noGrp="1"/>
          </p:cNvSpPr>
          <p:nvPr>
            <p:ph type="sldNum" sz="quarter" idx="12"/>
          </p:nvPr>
        </p:nvSpPr>
        <p:spPr>
          <a:xfrm>
            <a:off x="8613823" y="6358967"/>
            <a:ext cx="2743200" cy="365125"/>
          </a:xfrm>
        </p:spPr>
        <p:txBody>
          <a:bodyPr/>
          <a:lstStyle/>
          <a:p>
            <a:fld id="{15C8D716-4495-4254-AF31-18E6145100B0}" type="slidenum">
              <a:rPr lang="sv-SE" smtClean="0"/>
              <a:t>31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8280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/>
              <a:t>M</a:t>
            </a:r>
            <a:r>
              <a:rPr lang="en-US" sz="3200" dirty="0" smtClean="0"/>
              <a:t>emory Management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management</a:t>
            </a:r>
          </a:p>
          <a:p>
            <a:pPr lvl="1"/>
            <a:r>
              <a:rPr lang="en-US" dirty="0" smtClean="0"/>
              <a:t>Ref. counting</a:t>
            </a:r>
          </a:p>
          <a:p>
            <a:pPr lvl="1"/>
            <a:r>
              <a:rPr lang="en-US" dirty="0" err="1" smtClean="0"/>
              <a:t>OPSMessage</a:t>
            </a:r>
            <a:r>
              <a:rPr lang="en-US" dirty="0" smtClean="0"/>
              <a:t> methods reserve() / </a:t>
            </a:r>
            <a:r>
              <a:rPr lang="en-US" dirty="0" err="1" smtClean="0"/>
              <a:t>unreserve</a:t>
            </a:r>
            <a:r>
              <a:rPr lang="en-US" dirty="0" smtClean="0"/>
              <a:t>()</a:t>
            </a:r>
          </a:p>
          <a:p>
            <a:pPr lvl="1"/>
            <a:r>
              <a:rPr lang="en-US" sz="1800" dirty="0" smtClean="0">
                <a:hlinkClick r:id="rId3"/>
              </a:rPr>
              <a:t>https://github.com/LelleAnd/ops/blob/development/Doc/AdvancedReferenceHandling.md</a:t>
            </a:r>
            <a:endParaRPr lang="en-US" sz="1800" dirty="0" smtClean="0"/>
          </a:p>
          <a:p>
            <a:endParaRPr lang="en-US" dirty="0" smtClean="0"/>
          </a:p>
          <a:p>
            <a:r>
              <a:rPr lang="en-US" dirty="0" smtClean="0"/>
              <a:t>…</a:t>
            </a:r>
          </a:p>
          <a:p>
            <a:endParaRPr lang="en-US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145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Version Handling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Using </a:t>
            </a:r>
            <a:r>
              <a:rPr lang="en-US" b="1" i="1" dirty="0"/>
              <a:t>Data Object </a:t>
            </a:r>
            <a:r>
              <a:rPr lang="en-US" dirty="0" smtClean="0"/>
              <a:t>inheritance for version handling…</a:t>
            </a:r>
          </a:p>
          <a:p>
            <a:pPr lvl="1"/>
            <a:r>
              <a:rPr lang="en-US" dirty="0" smtClean="0"/>
              <a:t>A change to an existing </a:t>
            </a:r>
            <a:r>
              <a:rPr lang="en-US" b="1" i="1" dirty="0" smtClean="0"/>
              <a:t>Data Object</a:t>
            </a:r>
            <a:r>
              <a:rPr lang="en-US" dirty="0" smtClean="0"/>
              <a:t> results in a need for total rebuild of all programs depending on it or failures will occur when mixing old an new.</a:t>
            </a:r>
          </a:p>
          <a:p>
            <a:pPr lvl="1"/>
            <a:r>
              <a:rPr lang="en-US" dirty="0" smtClean="0"/>
              <a:t>Instead one can,</a:t>
            </a:r>
          </a:p>
          <a:p>
            <a:pPr lvl="2"/>
            <a:r>
              <a:rPr lang="en-US" dirty="0" smtClean="0"/>
              <a:t>create a new </a:t>
            </a:r>
            <a:r>
              <a:rPr lang="en-US" b="1" i="1" dirty="0" smtClean="0"/>
              <a:t>Data Object </a:t>
            </a:r>
            <a:r>
              <a:rPr lang="en-US" dirty="0" smtClean="0"/>
              <a:t>that inherits from the old </a:t>
            </a:r>
            <a:r>
              <a:rPr lang="en-US" b="1" i="1" dirty="0" smtClean="0"/>
              <a:t>Data Object,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add the new fields to the new object,</a:t>
            </a:r>
          </a:p>
          <a:p>
            <a:pPr lvl="2"/>
            <a:r>
              <a:rPr lang="en-US" dirty="0" smtClean="0"/>
              <a:t>update the publisher that have the new parameters, but it must still also provide the old values,</a:t>
            </a:r>
          </a:p>
          <a:p>
            <a:pPr lvl="2"/>
            <a:r>
              <a:rPr lang="en-US" dirty="0" smtClean="0"/>
              <a:t>update the subscriber(s) that need the new parameters,</a:t>
            </a:r>
          </a:p>
          <a:p>
            <a:pPr lvl="2"/>
            <a:r>
              <a:rPr lang="en-US" dirty="0" smtClean="0"/>
              <a:t>all other publishers and subscribers can be left as is.</a:t>
            </a:r>
          </a:p>
          <a:p>
            <a:r>
              <a:rPr lang="en-US" dirty="0" smtClean="0"/>
              <a:t>See repo doc for other alternatives </a:t>
            </a:r>
            <a:r>
              <a:rPr lang="en-US" sz="1800" dirty="0" smtClean="0">
                <a:hlinkClick r:id="rId3"/>
              </a:rPr>
              <a:t>https://github.com/LelleAnd/ops/blob/development/Doc/VersionHandling.md</a:t>
            </a:r>
            <a:endParaRPr lang="en-US" sz="18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21749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Binary Protocol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See repo doc </a:t>
            </a:r>
            <a:br>
              <a:rPr lang="en-US" dirty="0" smtClean="0"/>
            </a:br>
            <a:r>
              <a:rPr lang="en-US" sz="1800" dirty="0" smtClean="0">
                <a:hlinkClick r:id="rId3"/>
              </a:rPr>
              <a:t>https://github.com/LelleAnd/ops/blob/development/Doc/Protocol.md</a:t>
            </a:r>
            <a:endParaRPr lang="en-US" sz="18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9619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OPS4, </a:t>
            </a:r>
            <a:r>
              <a:rPr lang="en-US" sz="3200" dirty="0" smtClean="0"/>
              <a:t>Tools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err="1" smtClean="0"/>
              <a:t>OPSBridge</a:t>
            </a:r>
            <a:endParaRPr lang="en-US" dirty="0"/>
          </a:p>
          <a:p>
            <a:pPr lvl="1"/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github.com/LelleAnd/ops/blob/development/Doc/OPSBridge.md</a:t>
            </a:r>
            <a:endParaRPr lang="en-US" dirty="0"/>
          </a:p>
          <a:p>
            <a:r>
              <a:rPr lang="en-US" dirty="0" err="1" smtClean="0"/>
              <a:t>DebugConsole</a:t>
            </a:r>
            <a:endParaRPr lang="en-US" dirty="0" smtClean="0"/>
          </a:p>
          <a:p>
            <a:pPr lvl="1"/>
            <a:r>
              <a:rPr lang="en-US" sz="1800" dirty="0" smtClean="0">
                <a:hlinkClick r:id="rId4"/>
              </a:rPr>
              <a:t>https</a:t>
            </a:r>
            <a:r>
              <a:rPr lang="en-US" sz="1800" dirty="0" smtClean="0">
                <a:hlinkClick r:id="rId4"/>
              </a:rPr>
              <a:t>://</a:t>
            </a:r>
            <a:r>
              <a:rPr lang="en-US" sz="1800" dirty="0" smtClean="0">
                <a:hlinkClick r:id="rId4"/>
              </a:rPr>
              <a:t>github.com/LelleAnd/ops/blob/development/Doc/DebugConsole.md</a:t>
            </a:r>
            <a:endParaRPr lang="en-US" dirty="0" smtClean="0"/>
          </a:p>
          <a:p>
            <a:r>
              <a:rPr lang="en-US" dirty="0" err="1" smtClean="0"/>
              <a:t>OPSListener</a:t>
            </a:r>
            <a:endParaRPr lang="en-US" dirty="0" smtClean="0"/>
          </a:p>
          <a:p>
            <a:pPr lvl="1"/>
            <a:r>
              <a:rPr lang="en-US" sz="1800" dirty="0" smtClean="0">
                <a:hlinkClick r:id="rId5"/>
              </a:rPr>
              <a:t>https</a:t>
            </a:r>
            <a:r>
              <a:rPr lang="en-US" sz="1800" dirty="0" smtClean="0">
                <a:hlinkClick r:id="rId5"/>
              </a:rPr>
              <a:t>://github.com/LelleAnd/ops/blob/development/Doc/OPSListener.md</a:t>
            </a:r>
            <a:endParaRPr lang="en-US" sz="1800" dirty="0"/>
          </a:p>
          <a:p>
            <a:r>
              <a:rPr lang="en-US" dirty="0" err="1" smtClean="0"/>
              <a:t>VerifyOPSConfig</a:t>
            </a:r>
            <a:endParaRPr lang="en-US" dirty="0" smtClean="0"/>
          </a:p>
          <a:p>
            <a:pPr lvl="1"/>
            <a:r>
              <a:rPr lang="en-US" sz="1800" dirty="0" smtClean="0">
                <a:hlinkClick r:id="rId6"/>
              </a:rPr>
              <a:t>https</a:t>
            </a:r>
            <a:r>
              <a:rPr lang="en-US" sz="1800" dirty="0">
                <a:hlinkClick r:id="rId6"/>
              </a:rPr>
              <a:t>://</a:t>
            </a:r>
            <a:r>
              <a:rPr lang="en-US" sz="1800" dirty="0" smtClean="0">
                <a:hlinkClick r:id="rId6"/>
              </a:rPr>
              <a:t>github.com/LelleAnd/ops/blob/development/Doc/VerifyOPSConfig.md</a:t>
            </a:r>
            <a:endParaRPr lang="en-US" sz="1800" dirty="0"/>
          </a:p>
          <a:p>
            <a:pPr lvl="1"/>
            <a:endParaRPr lang="en-US" dirty="0" smtClean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35</a:t>
            </a:fld>
            <a:endParaRPr lang="sv-SE"/>
          </a:p>
        </p:txBody>
      </p:sp>
      <p:sp>
        <p:nvSpPr>
          <p:cNvPr id="6" name="Tankebubbla 5"/>
          <p:cNvSpPr/>
          <p:nvPr/>
        </p:nvSpPr>
        <p:spPr>
          <a:xfrm>
            <a:off x="9827558" y="879819"/>
            <a:ext cx="2041929" cy="1689501"/>
          </a:xfrm>
          <a:prstGeom prst="cloudCallout">
            <a:avLst>
              <a:gd name="adj1" fmla="val -13984"/>
              <a:gd name="adj2" fmla="val 47218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sz="1200" dirty="0" err="1" smtClean="0">
                <a:solidFill>
                  <a:schemeClr val="tx1"/>
                </a:solidFill>
              </a:rPr>
              <a:t>Network</a:t>
            </a:r>
            <a:endParaRPr lang="sv-SE" sz="1200" dirty="0">
              <a:solidFill>
                <a:schemeClr val="tx1"/>
              </a:solidFill>
            </a:endParaRPr>
          </a:p>
        </p:txBody>
      </p:sp>
      <p:sp>
        <p:nvSpPr>
          <p:cNvPr id="7" name="Rektangel med rundade hörn 6"/>
          <p:cNvSpPr/>
          <p:nvPr/>
        </p:nvSpPr>
        <p:spPr>
          <a:xfrm>
            <a:off x="10854617" y="1724565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sp>
        <p:nvSpPr>
          <p:cNvPr id="8" name="Rektangel med rundade hörn 7"/>
          <p:cNvSpPr/>
          <p:nvPr/>
        </p:nvSpPr>
        <p:spPr>
          <a:xfrm>
            <a:off x="10585043" y="2120052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sp>
        <p:nvSpPr>
          <p:cNvPr id="9" name="Rektangel med rundade hörn 8"/>
          <p:cNvSpPr/>
          <p:nvPr/>
        </p:nvSpPr>
        <p:spPr>
          <a:xfrm>
            <a:off x="9570408" y="1585755"/>
            <a:ext cx="602665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smtClean="0"/>
              <a:t>OPS Bridge</a:t>
            </a:r>
            <a:endParaRPr lang="sv-SE" sz="1000" dirty="0"/>
          </a:p>
        </p:txBody>
      </p:sp>
      <p:sp>
        <p:nvSpPr>
          <p:cNvPr id="10" name="Rektangel med rundade hörn 9"/>
          <p:cNvSpPr/>
          <p:nvPr/>
        </p:nvSpPr>
        <p:spPr>
          <a:xfrm>
            <a:off x="11215553" y="1329164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sp>
        <p:nvSpPr>
          <p:cNvPr id="11" name="Tankebubbla 10"/>
          <p:cNvSpPr/>
          <p:nvPr/>
        </p:nvSpPr>
        <p:spPr>
          <a:xfrm>
            <a:off x="6862059" y="879816"/>
            <a:ext cx="2042456" cy="1712232"/>
          </a:xfrm>
          <a:prstGeom prst="cloudCallout">
            <a:avLst>
              <a:gd name="adj1" fmla="val -13984"/>
              <a:gd name="adj2" fmla="val 47218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sv-SE" sz="1200" dirty="0" err="1" smtClean="0">
                <a:solidFill>
                  <a:schemeClr val="tx1"/>
                </a:solidFill>
              </a:rPr>
              <a:t>Network</a:t>
            </a:r>
            <a:endParaRPr lang="sv-SE" sz="1200" dirty="0">
              <a:solidFill>
                <a:schemeClr val="tx1"/>
              </a:solidFill>
            </a:endParaRPr>
          </a:p>
        </p:txBody>
      </p:sp>
      <p:sp>
        <p:nvSpPr>
          <p:cNvPr id="12" name="Rektangel med rundade hörn 11"/>
          <p:cNvSpPr/>
          <p:nvPr/>
        </p:nvSpPr>
        <p:spPr>
          <a:xfrm>
            <a:off x="8589128" y="1585753"/>
            <a:ext cx="602665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smtClean="0"/>
              <a:t>OPS Bridge</a:t>
            </a:r>
            <a:endParaRPr lang="sv-SE" sz="1000" dirty="0"/>
          </a:p>
        </p:txBody>
      </p:sp>
      <p:sp>
        <p:nvSpPr>
          <p:cNvPr id="13" name="Rektangel med rundade hörn 12"/>
          <p:cNvSpPr/>
          <p:nvPr/>
        </p:nvSpPr>
        <p:spPr>
          <a:xfrm>
            <a:off x="7883549" y="1760041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sp>
        <p:nvSpPr>
          <p:cNvPr id="14" name="Rektangel med rundade hörn 13"/>
          <p:cNvSpPr/>
          <p:nvPr/>
        </p:nvSpPr>
        <p:spPr>
          <a:xfrm>
            <a:off x="7167804" y="1962396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sp>
        <p:nvSpPr>
          <p:cNvPr id="15" name="Rektangel med rundade hörn 14"/>
          <p:cNvSpPr/>
          <p:nvPr/>
        </p:nvSpPr>
        <p:spPr>
          <a:xfrm>
            <a:off x="7110748" y="1446940"/>
            <a:ext cx="514300" cy="2776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000" dirty="0" err="1" smtClean="0"/>
              <a:t>Node</a:t>
            </a:r>
            <a:endParaRPr lang="sv-SE" sz="1000" dirty="0"/>
          </a:p>
        </p:txBody>
      </p:sp>
      <p:cxnSp>
        <p:nvCxnSpPr>
          <p:cNvPr id="16" name="Rak pil 15"/>
          <p:cNvCxnSpPr>
            <a:stCxn id="12" idx="3"/>
            <a:endCxn id="9" idx="1"/>
          </p:cNvCxnSpPr>
          <p:nvPr/>
        </p:nvCxnSpPr>
        <p:spPr>
          <a:xfrm>
            <a:off x="9191793" y="1724566"/>
            <a:ext cx="378615" cy="2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78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OPS4 Artifact usage</a:t>
            </a:r>
            <a:endParaRPr lang="en-US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36</a:t>
            </a:fld>
            <a:endParaRPr lang="sv-SE"/>
          </a:p>
        </p:txBody>
      </p:sp>
      <p:sp>
        <p:nvSpPr>
          <p:cNvPr id="9" name="Vikt hörn 8"/>
          <p:cNvSpPr/>
          <p:nvPr/>
        </p:nvSpPr>
        <p:spPr>
          <a:xfrm>
            <a:off x="1001486" y="1905001"/>
            <a:ext cx="892628" cy="903513"/>
          </a:xfrm>
          <a:prstGeom prst="foldedCorner">
            <a:avLst>
              <a:gd name="adj" fmla="val 28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 smtClean="0"/>
              <a:t>Idl</a:t>
            </a:r>
            <a:r>
              <a:rPr lang="sv-SE" sz="1200" dirty="0" smtClean="0"/>
              <a:t> </a:t>
            </a:r>
            <a:r>
              <a:rPr lang="sv-SE" sz="1200" dirty="0" err="1" smtClean="0"/>
              <a:t>grammar</a:t>
            </a:r>
            <a:r>
              <a:rPr lang="sv-SE" sz="1200" dirty="0" smtClean="0"/>
              <a:t> </a:t>
            </a:r>
            <a:r>
              <a:rPr lang="sv-SE" sz="1200" dirty="0" err="1" smtClean="0"/>
              <a:t>spec</a:t>
            </a:r>
            <a:endParaRPr lang="sv-SE" sz="1200" dirty="0"/>
          </a:p>
        </p:txBody>
      </p:sp>
      <p:sp>
        <p:nvSpPr>
          <p:cNvPr id="10" name="Vikt hörn 9"/>
          <p:cNvSpPr/>
          <p:nvPr/>
        </p:nvSpPr>
        <p:spPr>
          <a:xfrm>
            <a:off x="3483423" y="1905001"/>
            <a:ext cx="870857" cy="903513"/>
          </a:xfrm>
          <a:prstGeom prst="foldedCorner">
            <a:avLst>
              <a:gd name="adj" fmla="val 28096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 smtClean="0"/>
              <a:t>Generated</a:t>
            </a:r>
            <a:r>
              <a:rPr lang="sv-SE" sz="1200" dirty="0" smtClean="0"/>
              <a:t> Java </a:t>
            </a:r>
            <a:r>
              <a:rPr lang="sv-SE" sz="1200" dirty="0" err="1" smtClean="0"/>
              <a:t>code</a:t>
            </a:r>
            <a:endParaRPr lang="sv-SE" sz="1200" dirty="0"/>
          </a:p>
        </p:txBody>
      </p:sp>
      <p:sp>
        <p:nvSpPr>
          <p:cNvPr id="11" name="Vikt hörn 10"/>
          <p:cNvSpPr/>
          <p:nvPr/>
        </p:nvSpPr>
        <p:spPr>
          <a:xfrm>
            <a:off x="1001486" y="3107871"/>
            <a:ext cx="870857" cy="903513"/>
          </a:xfrm>
          <a:prstGeom prst="foldedCorner">
            <a:avLst>
              <a:gd name="adj" fmla="val 28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smtClean="0"/>
              <a:t>Hand</a:t>
            </a:r>
          </a:p>
          <a:p>
            <a:pPr algn="ctr"/>
            <a:r>
              <a:rPr lang="sv-SE" sz="1200" dirty="0" err="1" smtClean="0"/>
              <a:t>Coded</a:t>
            </a:r>
            <a:r>
              <a:rPr lang="sv-SE" sz="1200" dirty="0" smtClean="0"/>
              <a:t> Java</a:t>
            </a:r>
            <a:endParaRPr lang="sv-SE" sz="1200" dirty="0"/>
          </a:p>
        </p:txBody>
      </p:sp>
      <p:cxnSp>
        <p:nvCxnSpPr>
          <p:cNvPr id="13" name="Rak pil 12"/>
          <p:cNvCxnSpPr>
            <a:stCxn id="9" idx="3"/>
            <a:endCxn id="43" idx="2"/>
          </p:cNvCxnSpPr>
          <p:nvPr/>
        </p:nvCxnSpPr>
        <p:spPr>
          <a:xfrm flipV="1">
            <a:off x="1894114" y="2356757"/>
            <a:ext cx="23403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 14"/>
          <p:cNvSpPr/>
          <p:nvPr/>
        </p:nvSpPr>
        <p:spPr>
          <a:xfrm>
            <a:off x="4856616" y="3200397"/>
            <a:ext cx="1121230" cy="71845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err="1" smtClean="0">
                <a:solidFill>
                  <a:schemeClr val="tx1"/>
                </a:solidFill>
              </a:rPr>
              <a:t>opsc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17" name="Rak pil 16"/>
          <p:cNvCxnSpPr>
            <a:stCxn id="10" idx="2"/>
            <a:endCxn id="46" idx="0"/>
          </p:cNvCxnSpPr>
          <p:nvPr/>
        </p:nvCxnSpPr>
        <p:spPr>
          <a:xfrm>
            <a:off x="3918852" y="2808514"/>
            <a:ext cx="2304" cy="391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pil 18"/>
          <p:cNvCxnSpPr>
            <a:stCxn id="11" idx="3"/>
            <a:endCxn id="46" idx="2"/>
          </p:cNvCxnSpPr>
          <p:nvPr/>
        </p:nvCxnSpPr>
        <p:spPr>
          <a:xfrm flipV="1">
            <a:off x="1872343" y="3559627"/>
            <a:ext cx="148819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Vikt hörn 22"/>
          <p:cNvSpPr/>
          <p:nvPr/>
        </p:nvSpPr>
        <p:spPr>
          <a:xfrm>
            <a:off x="7347855" y="3107872"/>
            <a:ext cx="968831" cy="903513"/>
          </a:xfrm>
          <a:prstGeom prst="foldedCorner">
            <a:avLst>
              <a:gd name="adj" fmla="val 28096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 smtClean="0"/>
              <a:t>Application</a:t>
            </a:r>
            <a:endParaRPr lang="sv-SE" sz="1200" dirty="0" smtClean="0"/>
          </a:p>
          <a:p>
            <a:pPr algn="ctr"/>
            <a:r>
              <a:rPr lang="sv-SE" sz="1200" dirty="0" err="1" smtClean="0"/>
              <a:t>Idl</a:t>
            </a:r>
            <a:endParaRPr lang="sv-SE" sz="1200" dirty="0" smtClean="0"/>
          </a:p>
          <a:p>
            <a:pPr algn="ctr"/>
            <a:r>
              <a:rPr lang="sv-SE" sz="1200" dirty="0" smtClean="0"/>
              <a:t>definitions</a:t>
            </a:r>
            <a:endParaRPr lang="sv-SE" sz="1200" dirty="0"/>
          </a:p>
        </p:txBody>
      </p:sp>
      <p:cxnSp>
        <p:nvCxnSpPr>
          <p:cNvPr id="25" name="Rak pil 24"/>
          <p:cNvCxnSpPr>
            <a:stCxn id="23" idx="1"/>
            <a:endCxn id="15" idx="6"/>
          </p:cNvCxnSpPr>
          <p:nvPr/>
        </p:nvCxnSpPr>
        <p:spPr>
          <a:xfrm flipH="1" flipV="1">
            <a:off x="5977846" y="3559626"/>
            <a:ext cx="137000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Vikt hörn 25"/>
          <p:cNvSpPr/>
          <p:nvPr/>
        </p:nvSpPr>
        <p:spPr>
          <a:xfrm>
            <a:off x="4981802" y="4237517"/>
            <a:ext cx="870857" cy="1062434"/>
          </a:xfrm>
          <a:prstGeom prst="foldedCorner">
            <a:avLst>
              <a:gd name="adj" fmla="val 2809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 smtClean="0"/>
              <a:t>Generated</a:t>
            </a:r>
            <a:r>
              <a:rPr lang="sv-SE" sz="1200" dirty="0" smtClean="0"/>
              <a:t>  </a:t>
            </a:r>
          </a:p>
          <a:p>
            <a:pPr algn="ctr"/>
            <a:r>
              <a:rPr lang="sv-SE" sz="1200" dirty="0" err="1" smtClean="0"/>
              <a:t>Language</a:t>
            </a:r>
            <a:endParaRPr lang="sv-SE" sz="1200" dirty="0" smtClean="0"/>
          </a:p>
          <a:p>
            <a:pPr algn="ctr"/>
            <a:r>
              <a:rPr lang="sv-SE" sz="1200" dirty="0" err="1" smtClean="0"/>
              <a:t>specific</a:t>
            </a:r>
            <a:endParaRPr lang="sv-SE" sz="1200" dirty="0"/>
          </a:p>
          <a:p>
            <a:pPr algn="ctr"/>
            <a:r>
              <a:rPr lang="sv-SE" sz="1200" dirty="0" err="1" smtClean="0"/>
              <a:t>code</a:t>
            </a:r>
            <a:endParaRPr lang="sv-SE" sz="1200" dirty="0"/>
          </a:p>
        </p:txBody>
      </p:sp>
      <p:cxnSp>
        <p:nvCxnSpPr>
          <p:cNvPr id="28" name="Rak pil 27"/>
          <p:cNvCxnSpPr>
            <a:stCxn id="15" idx="4"/>
            <a:endCxn id="26" idx="0"/>
          </p:cNvCxnSpPr>
          <p:nvPr/>
        </p:nvCxnSpPr>
        <p:spPr>
          <a:xfrm>
            <a:off x="5417231" y="3918854"/>
            <a:ext cx="0" cy="318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Vikt hörn 28"/>
          <p:cNvSpPr/>
          <p:nvPr/>
        </p:nvSpPr>
        <p:spPr>
          <a:xfrm>
            <a:off x="1001486" y="5299951"/>
            <a:ext cx="892628" cy="999150"/>
          </a:xfrm>
          <a:prstGeom prst="foldedCorner">
            <a:avLst>
              <a:gd name="adj" fmla="val 28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smtClean="0"/>
              <a:t>OPS</a:t>
            </a:r>
          </a:p>
          <a:p>
            <a:pPr algn="ctr"/>
            <a:r>
              <a:rPr lang="sv-SE" sz="1200" dirty="0" err="1" smtClean="0"/>
              <a:t>Language</a:t>
            </a:r>
            <a:endParaRPr lang="sv-SE" sz="1200" dirty="0" smtClean="0"/>
          </a:p>
          <a:p>
            <a:pPr algn="ctr"/>
            <a:r>
              <a:rPr lang="sv-SE" sz="1200" dirty="0" err="1" smtClean="0"/>
              <a:t>specific</a:t>
            </a:r>
            <a:r>
              <a:rPr lang="sv-SE" sz="1200" dirty="0" smtClean="0"/>
              <a:t> </a:t>
            </a:r>
          </a:p>
          <a:p>
            <a:pPr algn="ctr"/>
            <a:r>
              <a:rPr lang="sv-SE" sz="1200" dirty="0" err="1" smtClean="0"/>
              <a:t>code</a:t>
            </a:r>
            <a:endParaRPr lang="sv-SE" sz="1200" dirty="0"/>
          </a:p>
        </p:txBody>
      </p:sp>
      <p:sp>
        <p:nvSpPr>
          <p:cNvPr id="43" name="Ellips 42"/>
          <p:cNvSpPr/>
          <p:nvPr/>
        </p:nvSpPr>
        <p:spPr>
          <a:xfrm>
            <a:off x="2128153" y="1997528"/>
            <a:ext cx="1121230" cy="718457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err="1" smtClean="0">
                <a:solidFill>
                  <a:schemeClr val="tx1"/>
                </a:solidFill>
              </a:rPr>
              <a:t>javacc</a:t>
            </a:r>
            <a:endParaRPr lang="sv-SE" sz="1600" dirty="0">
              <a:solidFill>
                <a:schemeClr val="tx1"/>
              </a:solidFill>
            </a:endParaRPr>
          </a:p>
        </p:txBody>
      </p:sp>
      <p:sp>
        <p:nvSpPr>
          <p:cNvPr id="46" name="Ellips 45"/>
          <p:cNvSpPr/>
          <p:nvPr/>
        </p:nvSpPr>
        <p:spPr>
          <a:xfrm>
            <a:off x="3360541" y="3200398"/>
            <a:ext cx="1121230" cy="718457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err="1" smtClean="0">
                <a:solidFill>
                  <a:schemeClr val="tx1"/>
                </a:solidFill>
              </a:rPr>
              <a:t>javac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53" name="Rak pil 52"/>
          <p:cNvCxnSpPr>
            <a:stCxn id="46" idx="6"/>
            <a:endCxn id="15" idx="2"/>
          </p:cNvCxnSpPr>
          <p:nvPr/>
        </p:nvCxnSpPr>
        <p:spPr>
          <a:xfrm flipV="1">
            <a:off x="4481771" y="3559626"/>
            <a:ext cx="37484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Vikt hörn 59"/>
          <p:cNvSpPr/>
          <p:nvPr/>
        </p:nvSpPr>
        <p:spPr>
          <a:xfrm>
            <a:off x="4981802" y="1892070"/>
            <a:ext cx="870857" cy="903513"/>
          </a:xfrm>
          <a:prstGeom prst="foldedCorner">
            <a:avLst>
              <a:gd name="adj" fmla="val 280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/>
              <a:t>Idl</a:t>
            </a:r>
            <a:endParaRPr lang="sv-SE" sz="1200" dirty="0"/>
          </a:p>
          <a:p>
            <a:pPr algn="ctr"/>
            <a:r>
              <a:rPr lang="sv-SE" sz="1200" dirty="0"/>
              <a:t>definitions</a:t>
            </a:r>
          </a:p>
        </p:txBody>
      </p:sp>
      <p:cxnSp>
        <p:nvCxnSpPr>
          <p:cNvPr id="62" name="Rak pil 61"/>
          <p:cNvCxnSpPr>
            <a:stCxn id="60" idx="2"/>
            <a:endCxn id="15" idx="0"/>
          </p:cNvCxnSpPr>
          <p:nvPr/>
        </p:nvCxnSpPr>
        <p:spPr>
          <a:xfrm>
            <a:off x="5417231" y="2795583"/>
            <a:ext cx="0" cy="40481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Vikt hörn 62"/>
          <p:cNvSpPr/>
          <p:nvPr/>
        </p:nvSpPr>
        <p:spPr>
          <a:xfrm>
            <a:off x="7347853" y="4237517"/>
            <a:ext cx="968833" cy="1062434"/>
          </a:xfrm>
          <a:prstGeom prst="foldedCorner">
            <a:avLst>
              <a:gd name="adj" fmla="val 28096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 err="1" smtClean="0"/>
              <a:t>Application</a:t>
            </a:r>
            <a:endParaRPr lang="sv-SE" sz="1200" dirty="0" smtClean="0"/>
          </a:p>
          <a:p>
            <a:pPr algn="ctr"/>
            <a:r>
              <a:rPr lang="sv-SE" sz="1200" dirty="0" err="1" smtClean="0"/>
              <a:t>code</a:t>
            </a:r>
            <a:endParaRPr lang="sv-SE" sz="1200" dirty="0"/>
          </a:p>
        </p:txBody>
      </p:sp>
      <p:cxnSp>
        <p:nvCxnSpPr>
          <p:cNvPr id="68" name="Rak pil 67"/>
          <p:cNvCxnSpPr>
            <a:stCxn id="43" idx="6"/>
            <a:endCxn id="10" idx="1"/>
          </p:cNvCxnSpPr>
          <p:nvPr/>
        </p:nvCxnSpPr>
        <p:spPr>
          <a:xfrm>
            <a:off x="3249383" y="2356757"/>
            <a:ext cx="234040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 68"/>
          <p:cNvSpPr/>
          <p:nvPr/>
        </p:nvSpPr>
        <p:spPr>
          <a:xfrm>
            <a:off x="5852659" y="5440297"/>
            <a:ext cx="1447800" cy="718457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smtClean="0">
                <a:solidFill>
                  <a:schemeClr val="tx1"/>
                </a:solidFill>
              </a:rPr>
              <a:t>Lang.</a:t>
            </a:r>
          </a:p>
          <a:p>
            <a:pPr algn="ctr"/>
            <a:r>
              <a:rPr lang="sv-SE" sz="1600" dirty="0" err="1" smtClean="0">
                <a:solidFill>
                  <a:schemeClr val="tx1"/>
                </a:solidFill>
              </a:rPr>
              <a:t>Compiler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71" name="Rak pil 70"/>
          <p:cNvCxnSpPr>
            <a:stCxn id="29" idx="3"/>
            <a:endCxn id="69" idx="2"/>
          </p:cNvCxnSpPr>
          <p:nvPr/>
        </p:nvCxnSpPr>
        <p:spPr>
          <a:xfrm>
            <a:off x="1894114" y="5799526"/>
            <a:ext cx="3958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Rak pil 78"/>
          <p:cNvCxnSpPr>
            <a:stCxn id="26" idx="2"/>
            <a:endCxn id="69" idx="2"/>
          </p:cNvCxnSpPr>
          <p:nvPr/>
        </p:nvCxnSpPr>
        <p:spPr>
          <a:xfrm>
            <a:off x="5417231" y="5299951"/>
            <a:ext cx="435428" cy="499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ak pil 80"/>
          <p:cNvCxnSpPr>
            <a:stCxn id="63" idx="2"/>
            <a:endCxn id="69" idx="7"/>
          </p:cNvCxnSpPr>
          <p:nvPr/>
        </p:nvCxnSpPr>
        <p:spPr>
          <a:xfrm flipH="1">
            <a:off x="7088434" y="5299951"/>
            <a:ext cx="743836" cy="245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lips 81"/>
          <p:cNvSpPr/>
          <p:nvPr/>
        </p:nvSpPr>
        <p:spPr>
          <a:xfrm>
            <a:off x="8860969" y="5440297"/>
            <a:ext cx="1545773" cy="71845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dirty="0" err="1" smtClean="0">
                <a:solidFill>
                  <a:schemeClr val="tx1"/>
                </a:solidFill>
              </a:rPr>
              <a:t>Executable</a:t>
            </a:r>
            <a:endParaRPr lang="sv-SE" sz="1600" dirty="0">
              <a:solidFill>
                <a:schemeClr val="tx1"/>
              </a:solidFill>
            </a:endParaRPr>
          </a:p>
        </p:txBody>
      </p:sp>
      <p:cxnSp>
        <p:nvCxnSpPr>
          <p:cNvPr id="84" name="Rak pil 83"/>
          <p:cNvCxnSpPr>
            <a:stCxn id="69" idx="6"/>
          </p:cNvCxnSpPr>
          <p:nvPr/>
        </p:nvCxnSpPr>
        <p:spPr>
          <a:xfrm flipV="1">
            <a:off x="7300459" y="5799525"/>
            <a:ext cx="1560511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ruta 84"/>
          <p:cNvSpPr txBox="1"/>
          <p:nvPr/>
        </p:nvSpPr>
        <p:spPr>
          <a:xfrm>
            <a:off x="1695337" y="4384878"/>
            <a:ext cx="3003258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sv-SE" sz="1600" dirty="0" err="1" smtClean="0"/>
              <a:t>Languages</a:t>
            </a:r>
            <a:r>
              <a:rPr lang="sv-SE" sz="1600" dirty="0" smtClean="0"/>
              <a:t>:</a:t>
            </a:r>
          </a:p>
          <a:p>
            <a:r>
              <a:rPr lang="sv-SE" sz="1600" dirty="0" smtClean="0"/>
              <a:t>Ada, C++, C#, Delphi, Java, </a:t>
            </a:r>
            <a:r>
              <a:rPr lang="sv-SE" sz="1600" dirty="0" err="1" smtClean="0"/>
              <a:t>Python</a:t>
            </a:r>
            <a:endParaRPr lang="sv-SE" sz="1600" dirty="0" smtClean="0"/>
          </a:p>
          <a:p>
            <a:r>
              <a:rPr lang="sv-SE" sz="1600" dirty="0" smtClean="0"/>
              <a:t>(JSON)</a:t>
            </a:r>
            <a:endParaRPr lang="sv-SE" sz="1600" dirty="0"/>
          </a:p>
        </p:txBody>
      </p:sp>
    </p:spTree>
    <p:extLst>
      <p:ext uri="{BB962C8B-B14F-4D97-AF65-F5344CB8AC3E}">
        <p14:creationId xmlns:p14="http://schemas.microsoft.com/office/powerpoint/2010/main" val="122528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OPS4 </a:t>
            </a:r>
            <a:r>
              <a:rPr lang="sv-SE" dirty="0" err="1" smtClean="0"/>
              <a:t>Architecture</a:t>
            </a:r>
            <a:r>
              <a:rPr lang="sv-SE" dirty="0" smtClean="0"/>
              <a:t> (</a:t>
            </a:r>
            <a:r>
              <a:rPr lang="sv-SE" dirty="0" err="1" smtClean="0"/>
              <a:t>Internals</a:t>
            </a:r>
            <a:r>
              <a:rPr lang="sv-SE" dirty="0" smtClean="0"/>
              <a:t>)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4887686" cy="4351338"/>
          </a:xfrm>
        </p:spPr>
        <p:txBody>
          <a:bodyPr>
            <a:normAutofit/>
          </a:bodyPr>
          <a:lstStyle/>
          <a:p>
            <a:r>
              <a:rPr lang="sv-SE" sz="2400" dirty="0" err="1" smtClean="0"/>
              <a:t>Description</a:t>
            </a:r>
            <a:r>
              <a:rPr lang="sv-SE" sz="2400" dirty="0" smtClean="0"/>
              <a:t> </a:t>
            </a:r>
            <a:r>
              <a:rPr lang="sv-SE" sz="2400" dirty="0" err="1" smtClean="0"/>
              <a:t>based</a:t>
            </a:r>
            <a:r>
              <a:rPr lang="sv-SE" sz="2400" dirty="0" smtClean="0"/>
              <a:t> on C++ </a:t>
            </a:r>
            <a:r>
              <a:rPr lang="sv-SE" sz="2400" dirty="0" err="1" smtClean="0"/>
              <a:t>impl</a:t>
            </a:r>
            <a:r>
              <a:rPr lang="sv-SE" sz="2400" dirty="0" smtClean="0"/>
              <a:t>. </a:t>
            </a:r>
          </a:p>
          <a:p>
            <a:r>
              <a:rPr lang="sv-SE" sz="2400" dirty="0" err="1" smtClean="0"/>
              <a:t>Roughly</a:t>
            </a:r>
            <a:r>
              <a:rPr lang="sv-SE" sz="2400" dirty="0" smtClean="0"/>
              <a:t> the same </a:t>
            </a:r>
            <a:r>
              <a:rPr lang="sv-SE" sz="2400" dirty="0" err="1" smtClean="0"/>
              <a:t>architecture</a:t>
            </a:r>
            <a:r>
              <a:rPr lang="sv-SE" sz="2400" dirty="0" smtClean="0"/>
              <a:t> in all </a:t>
            </a:r>
            <a:r>
              <a:rPr lang="sv-SE" sz="2400" dirty="0" err="1" smtClean="0"/>
              <a:t>languages</a:t>
            </a:r>
            <a:r>
              <a:rPr lang="sv-SE" sz="2400" dirty="0" smtClean="0"/>
              <a:t>:</a:t>
            </a:r>
          </a:p>
          <a:p>
            <a:pPr lvl="1"/>
            <a:r>
              <a:rPr lang="sv-SE" sz="2000" dirty="0" smtClean="0"/>
              <a:t>Ada, C++, C#, Delphi, Java, </a:t>
            </a:r>
            <a:r>
              <a:rPr lang="sv-SE" sz="2000" dirty="0" err="1" smtClean="0"/>
              <a:t>Python</a:t>
            </a:r>
            <a:endParaRPr lang="sv-SE" sz="2000" dirty="0" smtClean="0"/>
          </a:p>
          <a:p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37</a:t>
            </a:fld>
            <a:endParaRPr lang="sv-SE" dirty="0"/>
          </a:p>
        </p:txBody>
      </p:sp>
      <p:sp>
        <p:nvSpPr>
          <p:cNvPr id="6" name="Rektangel med rundade hörn 5"/>
          <p:cNvSpPr/>
          <p:nvPr/>
        </p:nvSpPr>
        <p:spPr>
          <a:xfrm>
            <a:off x="9677399" y="2386352"/>
            <a:ext cx="1349829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OPSObjects</a:t>
            </a:r>
            <a:endParaRPr lang="sv-SE" dirty="0"/>
          </a:p>
        </p:txBody>
      </p:sp>
      <p:sp>
        <p:nvSpPr>
          <p:cNvPr id="7" name="Rektangel med rundade hörn 6"/>
          <p:cNvSpPr/>
          <p:nvPr/>
        </p:nvSpPr>
        <p:spPr>
          <a:xfrm>
            <a:off x="9677401" y="2906486"/>
            <a:ext cx="1349829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Archivers</a:t>
            </a:r>
            <a:endParaRPr lang="sv-SE" dirty="0"/>
          </a:p>
        </p:txBody>
      </p:sp>
      <p:sp>
        <p:nvSpPr>
          <p:cNvPr id="8" name="Rektangel med rundade hörn 7"/>
          <p:cNvSpPr/>
          <p:nvPr/>
        </p:nvSpPr>
        <p:spPr>
          <a:xfrm>
            <a:off x="8060874" y="4524377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RDCs</a:t>
            </a:r>
            <a:endParaRPr lang="sv-SE" dirty="0"/>
          </a:p>
        </p:txBody>
      </p:sp>
      <p:sp>
        <p:nvSpPr>
          <p:cNvPr id="9" name="Rektangel med rundade hörn 8"/>
          <p:cNvSpPr/>
          <p:nvPr/>
        </p:nvSpPr>
        <p:spPr>
          <a:xfrm>
            <a:off x="8060874" y="4070238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RDHs</a:t>
            </a:r>
            <a:endParaRPr lang="sv-SE" dirty="0"/>
          </a:p>
        </p:txBody>
      </p:sp>
      <p:sp>
        <p:nvSpPr>
          <p:cNvPr id="10" name="Rektangel med rundade hörn 9"/>
          <p:cNvSpPr/>
          <p:nvPr/>
        </p:nvSpPr>
        <p:spPr>
          <a:xfrm>
            <a:off x="8060873" y="4924086"/>
            <a:ext cx="1485897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Receivers</a:t>
            </a:r>
            <a:endParaRPr lang="sv-SE" dirty="0"/>
          </a:p>
        </p:txBody>
      </p:sp>
      <p:sp>
        <p:nvSpPr>
          <p:cNvPr id="11" name="Rektangel med rundade hörn 10"/>
          <p:cNvSpPr/>
          <p:nvPr/>
        </p:nvSpPr>
        <p:spPr>
          <a:xfrm>
            <a:off x="6444345" y="4070238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SDHs</a:t>
            </a:r>
            <a:endParaRPr lang="sv-SE" dirty="0"/>
          </a:p>
        </p:txBody>
      </p:sp>
      <p:sp>
        <p:nvSpPr>
          <p:cNvPr id="12" name="Rektangel med rundade hörn 11"/>
          <p:cNvSpPr/>
          <p:nvPr/>
        </p:nvSpPr>
        <p:spPr>
          <a:xfrm>
            <a:off x="6444345" y="4924539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Senders</a:t>
            </a:r>
            <a:endParaRPr lang="sv-SE" dirty="0"/>
          </a:p>
        </p:txBody>
      </p:sp>
      <p:sp>
        <p:nvSpPr>
          <p:cNvPr id="13" name="Rektangel med rundade hörn 12"/>
          <p:cNvSpPr/>
          <p:nvPr/>
        </p:nvSpPr>
        <p:spPr>
          <a:xfrm>
            <a:off x="6444344" y="2366963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Participant</a:t>
            </a:r>
            <a:endParaRPr lang="sv-SE" dirty="0"/>
          </a:p>
        </p:txBody>
      </p:sp>
      <p:sp>
        <p:nvSpPr>
          <p:cNvPr id="14" name="Rektangel med rundade hörn 13"/>
          <p:cNvSpPr/>
          <p:nvPr/>
        </p:nvSpPr>
        <p:spPr>
          <a:xfrm>
            <a:off x="6444345" y="2906486"/>
            <a:ext cx="1485895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Publisher</a:t>
            </a:r>
            <a:endParaRPr lang="sv-SE" dirty="0"/>
          </a:p>
        </p:txBody>
      </p:sp>
      <p:sp>
        <p:nvSpPr>
          <p:cNvPr id="15" name="Rektangel med rundade hörn 14"/>
          <p:cNvSpPr/>
          <p:nvPr/>
        </p:nvSpPr>
        <p:spPr>
          <a:xfrm>
            <a:off x="6444344" y="3440681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SDH </a:t>
            </a:r>
            <a:r>
              <a:rPr lang="sv-SE" dirty="0" err="1" smtClean="0"/>
              <a:t>Factory</a:t>
            </a:r>
            <a:endParaRPr lang="sv-SE" dirty="0"/>
          </a:p>
        </p:txBody>
      </p:sp>
      <p:sp>
        <p:nvSpPr>
          <p:cNvPr id="16" name="Rektangel med rundade hörn 15"/>
          <p:cNvSpPr/>
          <p:nvPr/>
        </p:nvSpPr>
        <p:spPr>
          <a:xfrm>
            <a:off x="8060873" y="3426620"/>
            <a:ext cx="1485896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RDH </a:t>
            </a:r>
            <a:r>
              <a:rPr lang="sv-SE" dirty="0" err="1" smtClean="0"/>
              <a:t>Factory</a:t>
            </a:r>
            <a:endParaRPr lang="sv-SE" dirty="0"/>
          </a:p>
        </p:txBody>
      </p:sp>
      <p:sp>
        <p:nvSpPr>
          <p:cNvPr id="17" name="Rektangel med rundade hörn 16"/>
          <p:cNvSpPr/>
          <p:nvPr/>
        </p:nvSpPr>
        <p:spPr>
          <a:xfrm>
            <a:off x="8060873" y="2906486"/>
            <a:ext cx="1485895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Subscriber</a:t>
            </a:r>
            <a:endParaRPr lang="sv-SE" dirty="0"/>
          </a:p>
        </p:txBody>
      </p:sp>
      <p:sp>
        <p:nvSpPr>
          <p:cNvPr id="18" name="Rektangel med rundade hörn 17"/>
          <p:cNvSpPr/>
          <p:nvPr/>
        </p:nvSpPr>
        <p:spPr>
          <a:xfrm>
            <a:off x="9677399" y="4924086"/>
            <a:ext cx="1349829" cy="4494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/>
              <a:t>Misc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36988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38</a:t>
            </a:fld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OPSObjects</a:t>
            </a:r>
            <a:endParaRPr lang="sv-SE" dirty="0"/>
          </a:p>
        </p:txBody>
      </p:sp>
      <p:pic>
        <p:nvPicPr>
          <p:cNvPr id="7" name="Bildobjekt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367948"/>
            <a:ext cx="8378592" cy="4809015"/>
          </a:xfrm>
          <a:prstGeom prst="rect">
            <a:avLst/>
          </a:prstGeom>
        </p:spPr>
      </p:pic>
      <p:sp>
        <p:nvSpPr>
          <p:cNvPr id="8" name="Platshållare för innehåll 7"/>
          <p:cNvSpPr>
            <a:spLocks noGrp="1"/>
          </p:cNvSpPr>
          <p:nvPr>
            <p:ph idx="1"/>
          </p:nvPr>
        </p:nvSpPr>
        <p:spPr>
          <a:xfrm>
            <a:off x="838199" y="1825625"/>
            <a:ext cx="3015343" cy="4351338"/>
          </a:xfrm>
        </p:spPr>
        <p:txBody>
          <a:bodyPr>
            <a:normAutofit/>
          </a:bodyPr>
          <a:lstStyle/>
          <a:p>
            <a:r>
              <a:rPr lang="sv-SE" sz="2000" dirty="0" smtClean="0"/>
              <a:t>OPS </a:t>
            </a:r>
            <a:r>
              <a:rPr lang="sv-SE" sz="2000" dirty="0" err="1" smtClean="0"/>
              <a:t>OPSObjects</a:t>
            </a:r>
            <a:endParaRPr lang="sv-SE" sz="2000" dirty="0" smtClean="0"/>
          </a:p>
          <a:p>
            <a:r>
              <a:rPr lang="sv-SE" sz="2000" dirty="0" err="1" smtClean="0"/>
              <a:t>Serialize</a:t>
            </a:r>
            <a:r>
              <a:rPr lang="sv-SE" sz="2000" dirty="0" smtClean="0"/>
              <a:t>/</a:t>
            </a:r>
            <a:r>
              <a:rPr lang="sv-SE" sz="2000" dirty="0" err="1" smtClean="0"/>
              <a:t>Archivers</a:t>
            </a:r>
            <a:endParaRPr lang="sv-SE" sz="2000" dirty="0" smtClean="0"/>
          </a:p>
          <a:p>
            <a:endParaRPr lang="sv-SE" sz="2000" dirty="0" smtClean="0"/>
          </a:p>
          <a:p>
            <a:r>
              <a:rPr lang="sv-SE" sz="2000" dirty="0" err="1" smtClean="0"/>
              <a:t>OPSMessage</a:t>
            </a:r>
            <a:r>
              <a:rPr lang="sv-SE" sz="2000" dirty="0" smtClean="0"/>
              <a:t>/</a:t>
            </a:r>
            <a:r>
              <a:rPr lang="sv-SE" sz="2000" dirty="0" err="1" smtClean="0"/>
              <a:t>Reservable</a:t>
            </a:r>
            <a:endParaRPr lang="sv-SE" sz="2000" dirty="0" smtClean="0"/>
          </a:p>
          <a:p>
            <a:endParaRPr lang="sv-SE" sz="2000" dirty="0" smtClean="0"/>
          </a:p>
          <a:p>
            <a:r>
              <a:rPr lang="sv-SE" sz="2000" dirty="0" smtClean="0"/>
              <a:t>Publishers </a:t>
            </a:r>
            <a:r>
              <a:rPr lang="sv-SE" sz="2000" dirty="0" err="1" smtClean="0"/>
              <a:t>sends</a:t>
            </a:r>
            <a:r>
              <a:rPr lang="sv-SE" sz="2000" dirty="0" smtClean="0"/>
              <a:t> </a:t>
            </a:r>
            <a:r>
              <a:rPr lang="sv-SE" sz="2000" dirty="0" err="1" smtClean="0"/>
              <a:t>OPSMessage</a:t>
            </a:r>
            <a:r>
              <a:rPr lang="sv-SE" sz="2000" dirty="0" smtClean="0"/>
              <a:t> </a:t>
            </a:r>
            <a:r>
              <a:rPr lang="sv-SE" sz="2000" dirty="0" err="1" smtClean="0"/>
              <a:t>with</a:t>
            </a:r>
            <a:r>
              <a:rPr lang="sv-SE" sz="2000" dirty="0" smtClean="0"/>
              <a:t> </a:t>
            </a:r>
            <a:r>
              <a:rPr lang="sv-SE" sz="2000" dirty="0" err="1" smtClean="0"/>
              <a:t>attached</a:t>
            </a:r>
            <a:r>
              <a:rPr lang="sv-SE" sz="2000" dirty="0" smtClean="0"/>
              <a:t> </a:t>
            </a:r>
            <a:r>
              <a:rPr lang="sv-SE" sz="2000" dirty="0" err="1" smtClean="0"/>
              <a:t>user</a:t>
            </a:r>
            <a:r>
              <a:rPr lang="sv-SE" sz="2000" dirty="0" smtClean="0"/>
              <a:t> data</a:t>
            </a:r>
          </a:p>
          <a:p>
            <a:endParaRPr lang="sv-SE" sz="2000" dirty="0"/>
          </a:p>
          <a:p>
            <a:r>
              <a:rPr lang="sv-SE" sz="2000" dirty="0" err="1" smtClean="0"/>
              <a:t>Generated</a:t>
            </a:r>
            <a:r>
              <a:rPr lang="sv-SE" sz="2000" dirty="0"/>
              <a:t> </a:t>
            </a:r>
            <a:r>
              <a:rPr lang="sv-SE" sz="2000" dirty="0" err="1" smtClean="0"/>
              <a:t>user</a:t>
            </a:r>
            <a:r>
              <a:rPr lang="sv-SE" sz="2000" dirty="0" smtClean="0"/>
              <a:t> </a:t>
            </a:r>
            <a:r>
              <a:rPr lang="sv-SE" sz="2000" dirty="0" err="1" smtClean="0"/>
              <a:t>IDLs</a:t>
            </a:r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81026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Example</a:t>
            </a:r>
            <a:r>
              <a:rPr lang="sv-SE" dirty="0" smtClean="0"/>
              <a:t> </a:t>
            </a:r>
            <a:r>
              <a:rPr lang="sv-SE" dirty="0" err="1" smtClean="0"/>
              <a:t>generated</a:t>
            </a:r>
            <a:r>
              <a:rPr lang="sv-SE" dirty="0" smtClean="0"/>
              <a:t> C++ data </a:t>
            </a:r>
            <a:r>
              <a:rPr lang="sv-SE" dirty="0" err="1" smtClean="0"/>
              <a:t>class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4408714" cy="4530725"/>
          </a:xfrm>
        </p:spPr>
        <p:txBody>
          <a:bodyPr>
            <a:normAutofit/>
          </a:bodyPr>
          <a:lstStyle/>
          <a:p>
            <a:r>
              <a:rPr lang="sv-SE" sz="2000" dirty="0" err="1" smtClean="0"/>
              <a:t>TypeName</a:t>
            </a:r>
            <a:endParaRPr lang="sv-SE" sz="2000" dirty="0" smtClean="0"/>
          </a:p>
          <a:p>
            <a:r>
              <a:rPr lang="sv-SE" sz="2000" dirty="0" err="1" smtClean="0"/>
              <a:t>Inheritance</a:t>
            </a:r>
            <a:r>
              <a:rPr lang="sv-SE" sz="2000" dirty="0" smtClean="0"/>
              <a:t> </a:t>
            </a:r>
            <a:r>
              <a:rPr lang="sv-SE" sz="2000" dirty="0" err="1" smtClean="0"/>
              <a:t>descr</a:t>
            </a:r>
            <a:r>
              <a:rPr lang="sv-SE" sz="2000" dirty="0" smtClean="0"/>
              <a:t>. string</a:t>
            </a:r>
            <a:endParaRPr lang="sv-SE" sz="2000" dirty="0" smtClean="0"/>
          </a:p>
          <a:p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Version </a:t>
            </a:r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fields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Idl</a:t>
            </a:r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fields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Cons</a:t>
            </a:r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Assign</a:t>
            </a:r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Dest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Serialize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Cloning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Validation</a:t>
            </a:r>
            <a:endParaRPr lang="sv-SE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39</a:t>
            </a:fld>
            <a:endParaRPr lang="sv-SE"/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43" y="1825624"/>
            <a:ext cx="5606000" cy="4788314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84" y="2665757"/>
            <a:ext cx="1267002" cy="12574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7538159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TypeName</a:t>
            </a:r>
            <a:r>
              <a:rPr lang="sv-SE" dirty="0" smtClean="0"/>
              <a:t> and </a:t>
            </a:r>
            <a:r>
              <a:rPr lang="sv-SE" dirty="0" err="1" smtClean="0"/>
              <a:t>Inheritance</a:t>
            </a:r>
            <a:r>
              <a:rPr lang="sv-SE" dirty="0" smtClean="0"/>
              <a:t> </a:t>
            </a:r>
            <a:r>
              <a:rPr lang="sv-SE" dirty="0" err="1" smtClean="0"/>
              <a:t>descr</a:t>
            </a:r>
            <a:r>
              <a:rPr lang="sv-SE" dirty="0" smtClean="0"/>
              <a:t>., </a:t>
            </a:r>
            <a:r>
              <a:rPr lang="sv-SE" dirty="0" err="1" smtClean="0"/>
              <a:t>example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40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2449285" y="1902280"/>
            <a:ext cx="2819401" cy="4351338"/>
          </a:xfrm>
        </p:spPr>
        <p:txBody>
          <a:bodyPr>
            <a:normAutofit/>
          </a:bodyPr>
          <a:lstStyle/>
          <a:p>
            <a:r>
              <a:rPr lang="sv-SE" sz="2000" dirty="0" err="1" smtClean="0"/>
              <a:t>pizza.PizzaData</a:t>
            </a:r>
            <a:endParaRPr lang="sv-SE" sz="2000" dirty="0" smtClean="0"/>
          </a:p>
          <a:p>
            <a:pPr marL="0" indent="0">
              <a:buNone/>
            </a:pPr>
            <a:endParaRPr lang="sv-SE" sz="2000" dirty="0"/>
          </a:p>
          <a:p>
            <a:r>
              <a:rPr lang="sv-SE" sz="2000" dirty="0" err="1" smtClean="0"/>
              <a:t>pizza.VessuvioData</a:t>
            </a:r>
            <a:endParaRPr lang="sv-SE" sz="2000" dirty="0" smtClean="0"/>
          </a:p>
          <a:p>
            <a:endParaRPr lang="sv-SE" sz="2000" dirty="0"/>
          </a:p>
          <a:p>
            <a:r>
              <a:rPr lang="sv-SE" sz="2000" dirty="0" err="1" smtClean="0"/>
              <a:t>pizza.CapricosaData</a:t>
            </a:r>
            <a:endParaRPr lang="sv-SE" sz="2000" dirty="0" smtClean="0"/>
          </a:p>
          <a:p>
            <a:endParaRPr lang="sv-SE" sz="2000" dirty="0" smtClean="0"/>
          </a:p>
          <a:p>
            <a:r>
              <a:rPr lang="sv-SE" sz="2000" dirty="0" err="1" smtClean="0"/>
              <a:t>pizza.special.LHCData</a:t>
            </a:r>
            <a:endParaRPr lang="sv-SE" sz="2000" dirty="0" smtClean="0"/>
          </a:p>
          <a:p>
            <a:endParaRPr lang="sv-SE" sz="2000" dirty="0"/>
          </a:p>
          <a:p>
            <a:r>
              <a:rPr lang="sv-SE" sz="2000" dirty="0" err="1" smtClean="0"/>
              <a:t>pizza.special.ExtraAllt</a:t>
            </a:r>
            <a:endParaRPr lang="sv-SE" sz="2000" dirty="0"/>
          </a:p>
        </p:txBody>
      </p:sp>
      <p:pic>
        <p:nvPicPr>
          <p:cNvPr id="8" name="Platshållare för innehåll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9" y="1793420"/>
            <a:ext cx="1317172" cy="3789902"/>
          </a:xfrm>
          <a:prstGeom prst="rect">
            <a:avLst/>
          </a:prstGeom>
        </p:spPr>
      </p:pic>
      <p:sp>
        <p:nvSpPr>
          <p:cNvPr id="9" name="Platshållare för innehåll 6"/>
          <p:cNvSpPr txBox="1">
            <a:spLocks/>
          </p:cNvSpPr>
          <p:nvPr/>
        </p:nvSpPr>
        <p:spPr>
          <a:xfrm>
            <a:off x="5268686" y="1902280"/>
            <a:ext cx="595448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sv-SE" sz="1600" dirty="0" err="1" smtClean="0"/>
              <a:t>pizza.PizzaData</a:t>
            </a:r>
            <a:r>
              <a:rPr lang="sv-SE" sz="1600" dirty="0" smtClean="0"/>
              <a:t> </a:t>
            </a:r>
            <a:r>
              <a:rPr lang="sv-SE" sz="1600" dirty="0" err="1" smtClean="0"/>
              <a:t>sds.MessageHeaderData</a:t>
            </a:r>
            <a:endParaRPr lang="sv-SE" sz="1600" dirty="0" smtClean="0"/>
          </a:p>
          <a:p>
            <a:pPr marL="0" indent="0">
              <a:buNone/>
            </a:pPr>
            <a:endParaRPr lang="sv-SE" sz="1600" dirty="0" smtClean="0"/>
          </a:p>
          <a:p>
            <a:pPr marL="0" indent="0">
              <a:buNone/>
            </a:pPr>
            <a:r>
              <a:rPr lang="sv-SE" sz="1600" dirty="0" err="1" smtClean="0"/>
              <a:t>pizza.VessuvioData</a:t>
            </a:r>
            <a:r>
              <a:rPr lang="sv-SE" sz="1600" dirty="0" smtClean="0"/>
              <a:t> </a:t>
            </a:r>
            <a:r>
              <a:rPr lang="sv-SE" sz="1600" dirty="0" err="1" smtClean="0"/>
              <a:t>pizza.PizzaData</a:t>
            </a:r>
            <a:r>
              <a:rPr lang="sv-SE" sz="1600" dirty="0" smtClean="0"/>
              <a:t> </a:t>
            </a:r>
            <a:r>
              <a:rPr lang="sv-SE" sz="1600" dirty="0" err="1"/>
              <a:t>sds.MessageHeaderData</a:t>
            </a:r>
            <a:endParaRPr lang="sv-SE" sz="1600" dirty="0" smtClean="0"/>
          </a:p>
          <a:p>
            <a:pPr marL="0" indent="0">
              <a:buNone/>
            </a:pPr>
            <a:endParaRPr lang="sv-SE" sz="1600" dirty="0" smtClean="0"/>
          </a:p>
          <a:p>
            <a:pPr marL="0" indent="0">
              <a:buNone/>
            </a:pPr>
            <a:r>
              <a:rPr lang="sv-SE" sz="1600" dirty="0" err="1" smtClean="0"/>
              <a:t>pizza.CapricosaData</a:t>
            </a:r>
            <a:r>
              <a:rPr lang="sv-SE" sz="1600" dirty="0" smtClean="0"/>
              <a:t> </a:t>
            </a:r>
            <a:r>
              <a:rPr lang="sv-SE" sz="1600" dirty="0" err="1"/>
              <a:t>pizza.VessuvioData</a:t>
            </a:r>
            <a:r>
              <a:rPr lang="sv-SE" sz="1600" dirty="0"/>
              <a:t> </a:t>
            </a:r>
            <a:r>
              <a:rPr lang="sv-SE" sz="1600" dirty="0" err="1" smtClean="0"/>
              <a:t>pizza.PizzaData</a:t>
            </a:r>
            <a:r>
              <a:rPr lang="sv-SE" sz="1600" dirty="0" smtClean="0"/>
              <a:t> </a:t>
            </a:r>
            <a:r>
              <a:rPr lang="sv-SE" sz="1600" dirty="0" err="1"/>
              <a:t>sds.MessageHeaderData</a:t>
            </a:r>
            <a:endParaRPr lang="sv-SE" sz="1600" dirty="0" smtClean="0"/>
          </a:p>
          <a:p>
            <a:pPr marL="0" indent="0">
              <a:buNone/>
            </a:pPr>
            <a:endParaRPr lang="sv-SE" sz="1600" dirty="0" smtClean="0"/>
          </a:p>
          <a:p>
            <a:pPr marL="0" indent="0">
              <a:buNone/>
            </a:pPr>
            <a:r>
              <a:rPr lang="sv-SE" sz="1600" dirty="0" err="1" smtClean="0"/>
              <a:t>pizza.special.LHCData</a:t>
            </a:r>
            <a:r>
              <a:rPr lang="sv-SE" sz="1600" dirty="0" smtClean="0"/>
              <a:t> </a:t>
            </a:r>
            <a:r>
              <a:rPr lang="sv-SE" sz="1600" dirty="0" err="1"/>
              <a:t>pizza.CapricosaData</a:t>
            </a:r>
            <a:r>
              <a:rPr lang="sv-SE" sz="1600" dirty="0"/>
              <a:t> </a:t>
            </a:r>
            <a:r>
              <a:rPr lang="sv-SE" sz="1600" dirty="0" err="1"/>
              <a:t>pizza.VessuvioData</a:t>
            </a:r>
            <a:r>
              <a:rPr lang="sv-SE" sz="1600" dirty="0"/>
              <a:t> </a:t>
            </a:r>
            <a:r>
              <a:rPr lang="sv-SE" sz="1600" dirty="0" err="1" smtClean="0"/>
              <a:t>pizza.PizzaData</a:t>
            </a:r>
            <a:r>
              <a:rPr lang="sv-SE" sz="1600" dirty="0" smtClean="0"/>
              <a:t> </a:t>
            </a:r>
            <a:r>
              <a:rPr lang="sv-SE" sz="1600" dirty="0" err="1"/>
              <a:t>sds.MessageHeaderData</a:t>
            </a:r>
            <a:endParaRPr lang="sv-SE" sz="1600" dirty="0" smtClean="0"/>
          </a:p>
          <a:p>
            <a:pPr marL="0" indent="0">
              <a:buNone/>
            </a:pPr>
            <a:endParaRPr lang="sv-SE" sz="1600" dirty="0" smtClean="0"/>
          </a:p>
          <a:p>
            <a:pPr marL="0" indent="0">
              <a:buNone/>
            </a:pPr>
            <a:r>
              <a:rPr lang="sv-SE" sz="1600" dirty="0" err="1" smtClean="0"/>
              <a:t>pizza.special.ExtraAllt</a:t>
            </a:r>
            <a:r>
              <a:rPr lang="sv-SE" sz="1600" dirty="0" smtClean="0"/>
              <a:t> </a:t>
            </a:r>
            <a:r>
              <a:rPr lang="sv-SE" sz="1600" dirty="0" err="1"/>
              <a:t>pizza.special.LHCData</a:t>
            </a:r>
            <a:r>
              <a:rPr lang="sv-SE" sz="1600" dirty="0"/>
              <a:t> </a:t>
            </a:r>
            <a:r>
              <a:rPr lang="sv-SE" sz="1600" dirty="0" err="1"/>
              <a:t>pizza.CapricosaData</a:t>
            </a:r>
            <a:r>
              <a:rPr lang="sv-SE" sz="1600" dirty="0"/>
              <a:t> </a:t>
            </a:r>
            <a:r>
              <a:rPr lang="sv-SE" sz="1600" dirty="0" err="1"/>
              <a:t>pizza.VessuvioData</a:t>
            </a:r>
            <a:r>
              <a:rPr lang="sv-SE" sz="1600" dirty="0"/>
              <a:t> </a:t>
            </a:r>
            <a:r>
              <a:rPr lang="sv-SE" sz="1600" dirty="0" err="1" smtClean="0"/>
              <a:t>pizza.PizzaData</a:t>
            </a:r>
            <a:r>
              <a:rPr lang="sv-SE" sz="1600" dirty="0" smtClean="0"/>
              <a:t> </a:t>
            </a:r>
            <a:r>
              <a:rPr lang="sv-SE" sz="1600" dirty="0" err="1"/>
              <a:t>sds.MessageHeaderData</a:t>
            </a:r>
            <a:endParaRPr lang="sv-SE" sz="1600" dirty="0" smtClean="0"/>
          </a:p>
        </p:txBody>
      </p:sp>
    </p:spTree>
    <p:extLst>
      <p:ext uri="{BB962C8B-B14F-4D97-AF65-F5344CB8AC3E}">
        <p14:creationId xmlns:p14="http://schemas.microsoft.com/office/powerpoint/2010/main" val="17454351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Example</a:t>
            </a:r>
            <a:r>
              <a:rPr lang="sv-SE" dirty="0" smtClean="0"/>
              <a:t> </a:t>
            </a:r>
            <a:r>
              <a:rPr lang="sv-SE" dirty="0" err="1" smtClean="0"/>
              <a:t>generated</a:t>
            </a:r>
            <a:r>
              <a:rPr lang="sv-SE" dirty="0" smtClean="0"/>
              <a:t> C++ data </a:t>
            </a:r>
            <a:r>
              <a:rPr lang="sv-SE" dirty="0" err="1" smtClean="0"/>
              <a:t>class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4"/>
            <a:ext cx="4408714" cy="4530725"/>
          </a:xfrm>
        </p:spPr>
        <p:txBody>
          <a:bodyPr>
            <a:normAutofit/>
          </a:bodyPr>
          <a:lstStyle/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TypeName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Inheritance</a:t>
            </a:r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sv-SE" sz="2000" dirty="0" err="1" smtClean="0">
                <a:solidFill>
                  <a:schemeClr val="bg1">
                    <a:lumMod val="65000"/>
                  </a:schemeClr>
                </a:solidFill>
              </a:rPr>
              <a:t>descr</a:t>
            </a:r>
            <a:r>
              <a:rPr lang="sv-SE" sz="2000" dirty="0" smtClean="0">
                <a:solidFill>
                  <a:schemeClr val="bg1">
                    <a:lumMod val="65000"/>
                  </a:schemeClr>
                </a:solidFill>
              </a:rPr>
              <a:t>. string</a:t>
            </a:r>
            <a:endParaRPr lang="sv-SE" sz="2000" dirty="0" smtClean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sv-SE" sz="2000" dirty="0" smtClean="0"/>
              <a:t>Version </a:t>
            </a:r>
            <a:r>
              <a:rPr lang="sv-SE" sz="2000" dirty="0" err="1" smtClean="0"/>
              <a:t>fields</a:t>
            </a:r>
            <a:endParaRPr lang="sv-SE" sz="2000" dirty="0" smtClean="0"/>
          </a:p>
          <a:p>
            <a:r>
              <a:rPr lang="sv-SE" sz="2000" dirty="0" err="1" smtClean="0"/>
              <a:t>Idl</a:t>
            </a:r>
            <a:r>
              <a:rPr lang="sv-SE" sz="2000" dirty="0" smtClean="0"/>
              <a:t> </a:t>
            </a:r>
            <a:r>
              <a:rPr lang="sv-SE" sz="2000" dirty="0" err="1" smtClean="0"/>
              <a:t>fields</a:t>
            </a:r>
            <a:endParaRPr lang="sv-SE" sz="2000" dirty="0" smtClean="0"/>
          </a:p>
          <a:p>
            <a:r>
              <a:rPr lang="sv-SE" sz="2000" dirty="0" err="1" smtClean="0"/>
              <a:t>Cons</a:t>
            </a:r>
            <a:r>
              <a:rPr lang="sv-SE" sz="2000" dirty="0" smtClean="0"/>
              <a:t>/</a:t>
            </a:r>
            <a:r>
              <a:rPr lang="sv-SE" sz="2000" dirty="0" err="1" smtClean="0"/>
              <a:t>Assign</a:t>
            </a:r>
            <a:r>
              <a:rPr lang="sv-SE" sz="2000" dirty="0" smtClean="0"/>
              <a:t>/</a:t>
            </a:r>
            <a:r>
              <a:rPr lang="sv-SE" sz="2000" dirty="0" err="1" smtClean="0"/>
              <a:t>Dest</a:t>
            </a:r>
            <a:endParaRPr lang="sv-SE" sz="2000" dirty="0" smtClean="0"/>
          </a:p>
          <a:p>
            <a:r>
              <a:rPr lang="sv-SE" sz="2000" dirty="0" err="1" smtClean="0"/>
              <a:t>Serialize</a:t>
            </a:r>
            <a:endParaRPr lang="sv-SE" sz="2000" dirty="0" smtClean="0"/>
          </a:p>
          <a:p>
            <a:r>
              <a:rPr lang="sv-SE" sz="2000" dirty="0" err="1" smtClean="0"/>
              <a:t>Cloning</a:t>
            </a:r>
            <a:endParaRPr lang="sv-SE" sz="2000" dirty="0" smtClean="0"/>
          </a:p>
          <a:p>
            <a:r>
              <a:rPr lang="sv-SE" sz="2000" dirty="0" err="1" smtClean="0"/>
              <a:t>Validation</a:t>
            </a:r>
            <a:endParaRPr lang="sv-SE" sz="20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41</a:t>
            </a:fld>
            <a:endParaRPr lang="sv-SE"/>
          </a:p>
        </p:txBody>
      </p:sp>
      <p:pic>
        <p:nvPicPr>
          <p:cNvPr id="8" name="Bildobjek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943" y="1825624"/>
            <a:ext cx="5606000" cy="4788314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84" y="2665757"/>
            <a:ext cx="1267002" cy="12574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1942832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 </a:t>
            </a:r>
            <a:r>
              <a:rPr lang="sv-SE" dirty="0" err="1"/>
              <a:t>generated</a:t>
            </a:r>
            <a:r>
              <a:rPr lang="sv-SE" dirty="0"/>
              <a:t> C++ </a:t>
            </a:r>
            <a:r>
              <a:rPr lang="sv-SE" dirty="0" smtClean="0"/>
              <a:t>data </a:t>
            </a:r>
            <a:r>
              <a:rPr lang="sv-SE" dirty="0" err="1" smtClean="0"/>
              <a:t>class</a:t>
            </a:r>
            <a:r>
              <a:rPr lang="sv-SE" dirty="0" smtClean="0"/>
              <a:t>,</a:t>
            </a:r>
            <a:br>
              <a:rPr lang="sv-SE" dirty="0" smtClean="0"/>
            </a:br>
            <a:r>
              <a:rPr lang="sv-SE" dirty="0" err="1" smtClean="0"/>
              <a:t>serialize</a:t>
            </a:r>
            <a:r>
              <a:rPr lang="sv-SE" dirty="0" smtClean="0"/>
              <a:t>()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5050971" cy="4351338"/>
          </a:xfrm>
        </p:spPr>
        <p:txBody>
          <a:bodyPr>
            <a:normAutofit/>
          </a:bodyPr>
          <a:lstStyle/>
          <a:p>
            <a:r>
              <a:rPr lang="sv-SE" sz="2000" dirty="0" err="1" smtClean="0"/>
              <a:t>Serialize</a:t>
            </a:r>
            <a:r>
              <a:rPr lang="sv-SE" sz="2000" dirty="0" smtClean="0"/>
              <a:t>/</a:t>
            </a:r>
            <a:r>
              <a:rPr lang="sv-SE" sz="2000" dirty="0" err="1" smtClean="0"/>
              <a:t>Deserialize</a:t>
            </a:r>
            <a:r>
              <a:rPr lang="sv-SE" sz="2000" dirty="0" smtClean="0"/>
              <a:t> </a:t>
            </a:r>
            <a:r>
              <a:rPr lang="sv-SE" sz="2000" dirty="0" err="1" smtClean="0"/>
              <a:t>depending</a:t>
            </a:r>
            <a:r>
              <a:rPr lang="sv-SE" sz="2000" dirty="0" smtClean="0"/>
              <a:t> on </a:t>
            </a:r>
            <a:r>
              <a:rPr lang="sv-SE" sz="2000" dirty="0" err="1" smtClean="0"/>
              <a:t>archiver</a:t>
            </a:r>
            <a:endParaRPr lang="sv-SE" sz="2000" dirty="0" smtClean="0"/>
          </a:p>
          <a:p>
            <a:endParaRPr lang="sv-SE" sz="2000" dirty="0" smtClean="0"/>
          </a:p>
          <a:p>
            <a:r>
              <a:rPr lang="sv-SE" sz="2000" dirty="0" err="1" smtClean="0"/>
              <a:t>Archivers</a:t>
            </a:r>
            <a:r>
              <a:rPr lang="sv-SE" sz="2000" dirty="0" smtClean="0"/>
              <a:t> a </a:t>
            </a:r>
            <a:r>
              <a:rPr lang="sv-SE" sz="2000" dirty="0" err="1" smtClean="0"/>
              <a:t>lot</a:t>
            </a:r>
            <a:r>
              <a:rPr lang="sv-SE" sz="2000" dirty="0" smtClean="0"/>
              <a:t> </a:t>
            </a:r>
            <a:r>
              <a:rPr lang="sv-SE" sz="2000" dirty="0" err="1" smtClean="0"/>
              <a:t>of</a:t>
            </a:r>
            <a:r>
              <a:rPr lang="sv-SE" sz="2000" dirty="0" smtClean="0"/>
              <a:t> </a:t>
            </a:r>
            <a:r>
              <a:rPr lang="sv-SE" sz="2000" dirty="0" err="1" smtClean="0"/>
              <a:t>inout</a:t>
            </a:r>
            <a:r>
              <a:rPr lang="sv-SE" sz="2000" dirty="0" smtClean="0"/>
              <a:t>() </a:t>
            </a:r>
            <a:r>
              <a:rPr lang="sv-SE" sz="2000" dirty="0" err="1" smtClean="0"/>
              <a:t>methods</a:t>
            </a:r>
            <a:r>
              <a:rPr lang="sv-SE" sz="2000" dirty="0" smtClean="0"/>
              <a:t> for different </a:t>
            </a:r>
            <a:r>
              <a:rPr lang="sv-SE" sz="2000" dirty="0" err="1" smtClean="0"/>
              <a:t>types</a:t>
            </a:r>
            <a:endParaRPr lang="sv-SE" sz="2000" dirty="0" smtClean="0"/>
          </a:p>
          <a:p>
            <a:endParaRPr lang="sv-SE" sz="20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42</a:t>
            </a:fld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145" y="1989871"/>
            <a:ext cx="5706271" cy="2486372"/>
          </a:xfrm>
          <a:prstGeom prst="rect">
            <a:avLst/>
          </a:prstGeom>
        </p:spPr>
      </p:pic>
      <p:pic>
        <p:nvPicPr>
          <p:cNvPr id="7" name="Bildobjekt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627" y="3460414"/>
            <a:ext cx="1267002" cy="125747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3246107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43</a:t>
            </a:fld>
            <a:endParaRPr lang="sv-SE"/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Archivers</a:t>
            </a:r>
            <a:r>
              <a:rPr lang="sv-SE" dirty="0" smtClean="0"/>
              <a:t> and </a:t>
            </a:r>
            <a:r>
              <a:rPr lang="sv-SE" dirty="0" err="1" smtClean="0"/>
              <a:t>OPSObject</a:t>
            </a:r>
            <a:r>
              <a:rPr lang="sv-SE" dirty="0" smtClean="0"/>
              <a:t> </a:t>
            </a:r>
            <a:r>
              <a:rPr lang="sv-SE" dirty="0" err="1" smtClean="0"/>
              <a:t>factories</a:t>
            </a:r>
            <a:endParaRPr lang="sv-SE" dirty="0"/>
          </a:p>
        </p:txBody>
      </p:sp>
      <p:pic>
        <p:nvPicPr>
          <p:cNvPr id="3" name="Bildobjekt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9017" y="1382486"/>
            <a:ext cx="7066813" cy="5475514"/>
          </a:xfrm>
          <a:prstGeom prst="rect">
            <a:avLst/>
          </a:prstGeom>
        </p:spPr>
      </p:pic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200" y="1825625"/>
            <a:ext cx="3160817" cy="4351338"/>
          </a:xfrm>
        </p:spPr>
        <p:txBody>
          <a:bodyPr>
            <a:normAutofit/>
          </a:bodyPr>
          <a:lstStyle/>
          <a:p>
            <a:r>
              <a:rPr lang="sv-SE" sz="2000" dirty="0" smtClean="0"/>
              <a:t>OPS </a:t>
            </a:r>
            <a:r>
              <a:rPr lang="sv-SE" sz="2000" dirty="0" err="1" smtClean="0"/>
              <a:t>Archivers</a:t>
            </a:r>
            <a:endParaRPr lang="sv-SE" sz="2000" dirty="0" smtClean="0"/>
          </a:p>
          <a:p>
            <a:r>
              <a:rPr lang="sv-SE" sz="2000" dirty="0" err="1" smtClean="0"/>
              <a:t>Used</a:t>
            </a:r>
            <a:r>
              <a:rPr lang="sv-SE" sz="2000" dirty="0" smtClean="0"/>
              <a:t> as argument to </a:t>
            </a:r>
            <a:r>
              <a:rPr lang="sv-SE" sz="2000" dirty="0" err="1" smtClean="0"/>
              <a:t>serialize</a:t>
            </a:r>
            <a:r>
              <a:rPr lang="sv-SE" sz="2000" dirty="0" smtClean="0"/>
              <a:t>() </a:t>
            </a:r>
            <a:r>
              <a:rPr lang="sv-SE" sz="2000" dirty="0" err="1" smtClean="0"/>
              <a:t>method</a:t>
            </a:r>
            <a:r>
              <a:rPr lang="sv-SE" sz="2000" dirty="0" smtClean="0"/>
              <a:t> on </a:t>
            </a:r>
            <a:r>
              <a:rPr lang="sv-SE" sz="2000" dirty="0" err="1" smtClean="0"/>
              <a:t>OPSObjects</a:t>
            </a:r>
            <a:endParaRPr lang="sv-SE" sz="2000" dirty="0" smtClean="0"/>
          </a:p>
          <a:p>
            <a:endParaRPr lang="sv-SE" sz="2000" dirty="0"/>
          </a:p>
          <a:p>
            <a:r>
              <a:rPr lang="sv-SE" sz="2000" dirty="0" err="1" smtClean="0"/>
              <a:t>Archivers</a:t>
            </a:r>
            <a:r>
              <a:rPr lang="sv-SE" sz="2000" dirty="0" smtClean="0"/>
              <a:t> </a:t>
            </a:r>
            <a:r>
              <a:rPr lang="sv-SE" sz="2000" dirty="0" err="1" smtClean="0"/>
              <a:t>of</a:t>
            </a:r>
            <a:r>
              <a:rPr lang="sv-SE" sz="2000" dirty="0" smtClean="0"/>
              <a:t> in-</a:t>
            </a:r>
            <a:r>
              <a:rPr lang="sv-SE" sz="2000" dirty="0" err="1" smtClean="0"/>
              <a:t>type</a:t>
            </a:r>
            <a:r>
              <a:rPr lang="sv-SE" sz="2000" dirty="0" smtClean="0"/>
              <a:t> </a:t>
            </a:r>
            <a:r>
              <a:rPr lang="sv-SE" sz="2000" dirty="0" err="1" smtClean="0"/>
              <a:t>need</a:t>
            </a:r>
            <a:r>
              <a:rPr lang="sv-SE" sz="2000" dirty="0" smtClean="0"/>
              <a:t> a </a:t>
            </a:r>
            <a:r>
              <a:rPr lang="sv-SE" sz="2000" dirty="0" err="1" smtClean="0"/>
              <a:t>factory</a:t>
            </a:r>
            <a:r>
              <a:rPr lang="sv-SE" sz="2000" dirty="0" smtClean="0"/>
              <a:t> to </a:t>
            </a:r>
            <a:r>
              <a:rPr lang="sv-SE" sz="2000" dirty="0" err="1" smtClean="0"/>
              <a:t>create</a:t>
            </a:r>
            <a:r>
              <a:rPr lang="sv-SE" sz="2000" dirty="0" smtClean="0"/>
              <a:t> </a:t>
            </a:r>
            <a:r>
              <a:rPr lang="sv-SE" sz="2000" dirty="0" err="1" smtClean="0"/>
              <a:t>objects</a:t>
            </a:r>
            <a:endParaRPr lang="sv-SE" sz="2000" dirty="0" smtClean="0"/>
          </a:p>
          <a:p>
            <a:endParaRPr lang="sv-SE" sz="2000" dirty="0" smtClean="0"/>
          </a:p>
          <a:p>
            <a:r>
              <a:rPr lang="sv-SE" sz="2000" dirty="0" err="1" smtClean="0"/>
              <a:t>Generated</a:t>
            </a:r>
            <a:r>
              <a:rPr lang="sv-SE" sz="2000" dirty="0" smtClean="0"/>
              <a:t> </a:t>
            </a:r>
            <a:r>
              <a:rPr lang="sv-SE" sz="2000" dirty="0" err="1" smtClean="0"/>
              <a:t>user</a:t>
            </a:r>
            <a:r>
              <a:rPr lang="sv-SE" sz="2000" dirty="0" smtClean="0"/>
              <a:t> </a:t>
            </a:r>
            <a:r>
              <a:rPr lang="sv-SE" sz="2000" dirty="0" err="1" smtClean="0"/>
              <a:t>factories</a:t>
            </a:r>
            <a:endParaRPr lang="sv-SE" sz="2000" dirty="0"/>
          </a:p>
          <a:p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507266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Example</a:t>
            </a:r>
            <a:r>
              <a:rPr lang="sv-SE" dirty="0" smtClean="0"/>
              <a:t> </a:t>
            </a:r>
            <a:r>
              <a:rPr lang="sv-SE" dirty="0" err="1" smtClean="0"/>
              <a:t>generated</a:t>
            </a:r>
            <a:r>
              <a:rPr lang="sv-SE" dirty="0" smtClean="0"/>
              <a:t> C++ </a:t>
            </a:r>
            <a:r>
              <a:rPr lang="sv-SE" dirty="0" err="1" smtClean="0"/>
              <a:t>factory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838200" y="1825625"/>
            <a:ext cx="4996543" cy="4351338"/>
          </a:xfrm>
        </p:spPr>
        <p:txBody>
          <a:bodyPr>
            <a:normAutofit/>
          </a:bodyPr>
          <a:lstStyle/>
          <a:p>
            <a:r>
              <a:rPr lang="sv-SE" sz="2000" dirty="0" err="1" smtClean="0"/>
              <a:t>Generated</a:t>
            </a:r>
            <a:r>
              <a:rPr lang="sv-SE" sz="2000" dirty="0" smtClean="0"/>
              <a:t> </a:t>
            </a:r>
            <a:r>
              <a:rPr lang="sv-SE" sz="2000" dirty="0" err="1" smtClean="0"/>
              <a:t>factory</a:t>
            </a:r>
            <a:r>
              <a:rPr lang="sv-SE" sz="2000" dirty="0" smtClean="0"/>
              <a:t> </a:t>
            </a:r>
            <a:r>
              <a:rPr lang="sv-SE" sz="2000" dirty="0" err="1" smtClean="0"/>
              <a:t>should</a:t>
            </a:r>
            <a:r>
              <a:rPr lang="sv-SE" sz="2000" dirty="0" smtClean="0"/>
              <a:t> be </a:t>
            </a:r>
            <a:r>
              <a:rPr lang="sv-SE" sz="2000" dirty="0" err="1" smtClean="0"/>
              <a:t>added</a:t>
            </a:r>
            <a:r>
              <a:rPr lang="sv-SE" sz="2000" dirty="0" smtClean="0"/>
              <a:t> to </a:t>
            </a:r>
            <a:r>
              <a:rPr lang="sv-SE" sz="2000" dirty="0" err="1" smtClean="0"/>
              <a:t>Participant</a:t>
            </a:r>
            <a:endParaRPr lang="sv-SE" sz="2000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44</a:t>
            </a:fld>
            <a:endParaRPr lang="sv-SE"/>
          </a:p>
        </p:txBody>
      </p:sp>
      <p:pic>
        <p:nvPicPr>
          <p:cNvPr id="6" name="Bildobjekt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886" y="2299443"/>
            <a:ext cx="3884421" cy="334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647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Participant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45</a:t>
            </a:fld>
            <a:endParaRPr lang="sv-SE"/>
          </a:p>
        </p:txBody>
      </p:sp>
      <p:sp>
        <p:nvSpPr>
          <p:cNvPr id="6" name="Platshållare för innehåll 5"/>
          <p:cNvSpPr>
            <a:spLocks noGrp="1"/>
          </p:cNvSpPr>
          <p:nvPr>
            <p:ph idx="1"/>
          </p:nvPr>
        </p:nvSpPr>
        <p:spPr>
          <a:xfrm>
            <a:off x="838200" y="1825625"/>
            <a:ext cx="4245429" cy="4351338"/>
          </a:xfrm>
        </p:spPr>
        <p:txBody>
          <a:bodyPr>
            <a:normAutofit/>
          </a:bodyPr>
          <a:lstStyle/>
          <a:p>
            <a:r>
              <a:rPr lang="sv-SE" sz="2000" dirty="0" smtClean="0"/>
              <a:t>Singleton </a:t>
            </a:r>
            <a:r>
              <a:rPr lang="sv-SE" sz="2000" dirty="0" err="1" smtClean="0"/>
              <a:t>OPSConfigRepository</a:t>
            </a:r>
            <a:endParaRPr lang="sv-SE" sz="2000" dirty="0" smtClean="0"/>
          </a:p>
          <a:p>
            <a:r>
              <a:rPr lang="sv-SE" sz="2000" dirty="0" err="1" smtClean="0"/>
              <a:t>Participant</a:t>
            </a:r>
            <a:r>
              <a:rPr lang="sv-SE" sz="2000" dirty="0" smtClean="0"/>
              <a:t>:.</a:t>
            </a:r>
            <a:r>
              <a:rPr lang="sv-SE" sz="2000" dirty="0" err="1" smtClean="0"/>
              <a:t>getInstance</a:t>
            </a:r>
            <a:r>
              <a:rPr lang="sv-SE" sz="2000" dirty="0" smtClean="0"/>
              <a:t>(…)</a:t>
            </a:r>
          </a:p>
          <a:p>
            <a:r>
              <a:rPr lang="sv-SE" sz="2000" dirty="0" err="1" smtClean="0"/>
              <a:t>Runnable</a:t>
            </a:r>
            <a:r>
              <a:rPr lang="sv-SE" sz="2000" dirty="0" smtClean="0"/>
              <a:t>, </a:t>
            </a:r>
            <a:r>
              <a:rPr lang="sv-SE" sz="2000" dirty="0" err="1" smtClean="0"/>
              <a:t>Threading</a:t>
            </a:r>
            <a:r>
              <a:rPr lang="sv-SE" sz="2000" dirty="0" smtClean="0"/>
              <a:t>/</a:t>
            </a:r>
            <a:r>
              <a:rPr lang="sv-SE" sz="2000" dirty="0" err="1" smtClean="0"/>
              <a:t>Polling</a:t>
            </a:r>
            <a:endParaRPr lang="sv-SE" sz="2000" dirty="0" smtClean="0"/>
          </a:p>
          <a:p>
            <a:r>
              <a:rPr lang="sv-SE" sz="2000" dirty="0" err="1" smtClean="0"/>
              <a:t>Factories</a:t>
            </a:r>
            <a:r>
              <a:rPr lang="sv-SE" sz="2000" dirty="0" smtClean="0"/>
              <a:t>, </a:t>
            </a:r>
            <a:r>
              <a:rPr lang="sv-SE" sz="2000" dirty="0" err="1" smtClean="0"/>
              <a:t>InProcDistributor</a:t>
            </a:r>
            <a:endParaRPr lang="sv-SE" sz="2000" dirty="0" smtClean="0"/>
          </a:p>
          <a:p>
            <a:r>
              <a:rPr lang="sv-SE" sz="2000" dirty="0" smtClean="0"/>
              <a:t>Metadata, Pub/</a:t>
            </a:r>
            <a:r>
              <a:rPr lang="sv-SE" sz="2000" dirty="0" err="1" smtClean="0"/>
              <a:t>Sub</a:t>
            </a:r>
            <a:endParaRPr lang="sv-SE" sz="2000" dirty="0" smtClean="0"/>
          </a:p>
          <a:p>
            <a:endParaRPr lang="sv-SE" sz="2000" dirty="0" smtClean="0"/>
          </a:p>
          <a:p>
            <a:endParaRPr lang="sv-SE" sz="2000" dirty="0"/>
          </a:p>
        </p:txBody>
      </p:sp>
      <p:pic>
        <p:nvPicPr>
          <p:cNvPr id="9" name="Platshållare för innehåll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9" y="1825625"/>
            <a:ext cx="6730891" cy="395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8962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Publisher, </a:t>
            </a:r>
            <a:r>
              <a:rPr lang="sv-SE" dirty="0" err="1" smtClean="0"/>
              <a:t>SDHs</a:t>
            </a:r>
            <a:r>
              <a:rPr lang="sv-SE" dirty="0" smtClean="0"/>
              <a:t> and SDH </a:t>
            </a:r>
            <a:r>
              <a:rPr lang="sv-SE" dirty="0" err="1" smtClean="0"/>
              <a:t>Factory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46</a:t>
            </a:fld>
            <a:endParaRPr lang="sv-SE"/>
          </a:p>
        </p:txBody>
      </p:sp>
      <p:sp>
        <p:nvSpPr>
          <p:cNvPr id="9" name="Platshållare för innehåll 8"/>
          <p:cNvSpPr>
            <a:spLocks noGrp="1"/>
          </p:cNvSpPr>
          <p:nvPr>
            <p:ph idx="1"/>
          </p:nvPr>
        </p:nvSpPr>
        <p:spPr>
          <a:xfrm>
            <a:off x="838200" y="1825625"/>
            <a:ext cx="3929743" cy="4351338"/>
          </a:xfrm>
        </p:spPr>
        <p:txBody>
          <a:bodyPr>
            <a:normAutofit/>
          </a:bodyPr>
          <a:lstStyle/>
          <a:p>
            <a:r>
              <a:rPr lang="sv-SE" sz="2000" dirty="0" err="1" smtClean="0"/>
              <a:t>User</a:t>
            </a:r>
            <a:r>
              <a:rPr lang="sv-SE" sz="2000" dirty="0" smtClean="0"/>
              <a:t> </a:t>
            </a:r>
            <a:r>
              <a:rPr lang="sv-SE" sz="2000" dirty="0" err="1" smtClean="0"/>
              <a:t>creates</a:t>
            </a:r>
            <a:endParaRPr lang="sv-SE" sz="2000" dirty="0" smtClean="0"/>
          </a:p>
          <a:p>
            <a:pPr lvl="1"/>
            <a:r>
              <a:rPr lang="sv-SE" sz="1600" dirty="0" err="1" smtClean="0"/>
              <a:t>Participant</a:t>
            </a:r>
            <a:endParaRPr lang="sv-SE" sz="1600" dirty="0" smtClean="0"/>
          </a:p>
          <a:p>
            <a:pPr lvl="1"/>
            <a:r>
              <a:rPr lang="sv-SE" sz="1600" dirty="0" err="1" smtClean="0"/>
              <a:t>Topic</a:t>
            </a:r>
            <a:r>
              <a:rPr lang="sv-SE" sz="1600" dirty="0" smtClean="0"/>
              <a:t> via </a:t>
            </a:r>
            <a:r>
              <a:rPr lang="sv-SE" sz="1600" dirty="0" err="1" smtClean="0"/>
              <a:t>Participant</a:t>
            </a:r>
            <a:endParaRPr lang="sv-SE" sz="1600" dirty="0" smtClean="0"/>
          </a:p>
          <a:p>
            <a:pPr lvl="1"/>
            <a:r>
              <a:rPr lang="sv-SE" sz="1600" dirty="0" smtClean="0"/>
              <a:t>Publisher </a:t>
            </a:r>
            <a:r>
              <a:rPr lang="sv-SE" sz="1600" dirty="0" err="1" smtClean="0"/>
              <a:t>with</a:t>
            </a:r>
            <a:r>
              <a:rPr lang="sv-SE" sz="1600" dirty="0" smtClean="0"/>
              <a:t> </a:t>
            </a:r>
            <a:r>
              <a:rPr lang="sv-SE" sz="1600" dirty="0" err="1" smtClean="0"/>
              <a:t>Topic</a:t>
            </a:r>
            <a:endParaRPr lang="sv-SE" sz="1600" dirty="0" smtClean="0"/>
          </a:p>
          <a:p>
            <a:endParaRPr lang="sv-SE" sz="2000" dirty="0" smtClean="0"/>
          </a:p>
          <a:p>
            <a:r>
              <a:rPr lang="sv-SE" sz="2000" dirty="0" smtClean="0"/>
              <a:t>Publisher gets </a:t>
            </a:r>
            <a:r>
              <a:rPr lang="sv-SE" sz="2000" dirty="0" err="1" smtClean="0"/>
              <a:t>SendDataHandler</a:t>
            </a:r>
            <a:r>
              <a:rPr lang="sv-SE" sz="2000" dirty="0" smtClean="0"/>
              <a:t> via </a:t>
            </a:r>
            <a:r>
              <a:rPr lang="sv-SE" sz="2000" dirty="0" err="1" smtClean="0"/>
              <a:t>Participant</a:t>
            </a:r>
            <a:endParaRPr lang="sv-SE" sz="2000" dirty="0" smtClean="0"/>
          </a:p>
          <a:p>
            <a:endParaRPr lang="sv-SE" sz="2000" dirty="0"/>
          </a:p>
          <a:p>
            <a:r>
              <a:rPr lang="sv-SE" sz="2000" dirty="0" smtClean="0"/>
              <a:t>Publisher </a:t>
            </a:r>
            <a:r>
              <a:rPr lang="sv-SE" sz="2000" dirty="0" err="1" smtClean="0"/>
              <a:t>write</a:t>
            </a:r>
            <a:r>
              <a:rPr lang="sv-SE" sz="2000" dirty="0" smtClean="0"/>
              <a:t>() </a:t>
            </a:r>
          </a:p>
          <a:p>
            <a:pPr lvl="1"/>
            <a:r>
              <a:rPr lang="sv-SE" sz="1600" dirty="0" err="1" smtClean="0"/>
              <a:t>OPSMessage</a:t>
            </a:r>
            <a:r>
              <a:rPr lang="sv-SE" sz="1600" dirty="0" smtClean="0"/>
              <a:t> </a:t>
            </a:r>
            <a:r>
              <a:rPr lang="sv-SE" sz="1600" dirty="0" err="1" smtClean="0"/>
              <a:t>with</a:t>
            </a:r>
            <a:r>
              <a:rPr lang="sv-SE" sz="1600" dirty="0" smtClean="0"/>
              <a:t> </a:t>
            </a:r>
            <a:r>
              <a:rPr lang="sv-SE" sz="1600" dirty="0" err="1" smtClean="0"/>
              <a:t>updated</a:t>
            </a:r>
            <a:r>
              <a:rPr lang="sv-SE" sz="1600" dirty="0" smtClean="0"/>
              <a:t> metadata</a:t>
            </a:r>
          </a:p>
          <a:p>
            <a:pPr lvl="1"/>
            <a:r>
              <a:rPr lang="sv-SE" sz="1600" dirty="0" err="1" smtClean="0"/>
              <a:t>Serializes</a:t>
            </a:r>
            <a:r>
              <a:rPr lang="sv-SE" sz="1600" dirty="0" smtClean="0"/>
              <a:t> </a:t>
            </a:r>
            <a:r>
              <a:rPr lang="sv-SE" sz="1600" dirty="0" err="1" smtClean="0"/>
              <a:t>message</a:t>
            </a:r>
            <a:r>
              <a:rPr lang="sv-SE" sz="1600" dirty="0" smtClean="0"/>
              <a:t> </a:t>
            </a:r>
            <a:r>
              <a:rPr lang="sv-SE" sz="1600" dirty="0" err="1" smtClean="0"/>
              <a:t>using</a:t>
            </a:r>
            <a:r>
              <a:rPr lang="sv-SE" sz="1600" dirty="0" smtClean="0"/>
              <a:t> </a:t>
            </a:r>
            <a:r>
              <a:rPr lang="sv-SE" sz="1600" dirty="0" err="1" smtClean="0"/>
              <a:t>archiver</a:t>
            </a:r>
            <a:r>
              <a:rPr lang="sv-SE" sz="1600" dirty="0" smtClean="0"/>
              <a:t> to </a:t>
            </a:r>
            <a:r>
              <a:rPr lang="sv-SE" sz="1600" dirty="0" err="1" smtClean="0"/>
              <a:t>internal</a:t>
            </a:r>
            <a:r>
              <a:rPr lang="sv-SE" sz="1600" dirty="0" smtClean="0"/>
              <a:t> </a:t>
            </a:r>
            <a:r>
              <a:rPr lang="sv-SE" sz="1600" dirty="0" err="1" smtClean="0"/>
              <a:t>buffer</a:t>
            </a:r>
            <a:endParaRPr lang="sv-SE" sz="1600" dirty="0" smtClean="0"/>
          </a:p>
          <a:p>
            <a:pPr lvl="1"/>
            <a:r>
              <a:rPr lang="sv-SE" sz="1600" dirty="0" err="1" smtClean="0"/>
              <a:t>Sends</a:t>
            </a:r>
            <a:r>
              <a:rPr lang="sv-SE" sz="1600" dirty="0" smtClean="0"/>
              <a:t> </a:t>
            </a:r>
            <a:r>
              <a:rPr lang="sv-SE" sz="1600" dirty="0" err="1" smtClean="0"/>
              <a:t>buffer</a:t>
            </a:r>
            <a:r>
              <a:rPr lang="sv-SE" sz="1600" dirty="0" smtClean="0"/>
              <a:t> via </a:t>
            </a:r>
            <a:r>
              <a:rPr lang="sv-SE" sz="1600" dirty="0" err="1" smtClean="0"/>
              <a:t>SendDataHandler</a:t>
            </a:r>
            <a:endParaRPr lang="sv-SE" sz="1600" dirty="0" smtClean="0"/>
          </a:p>
          <a:p>
            <a:pPr lvl="1"/>
            <a:endParaRPr lang="sv-SE" sz="1600" dirty="0"/>
          </a:p>
        </p:txBody>
      </p:sp>
      <p:pic>
        <p:nvPicPr>
          <p:cNvPr id="3" name="Bildobjekt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185" y="1825625"/>
            <a:ext cx="6761473" cy="453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637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Subscriber</a:t>
            </a:r>
            <a:r>
              <a:rPr lang="sv-SE" dirty="0" smtClean="0"/>
              <a:t>, </a:t>
            </a:r>
            <a:r>
              <a:rPr lang="sv-SE" dirty="0" err="1" smtClean="0"/>
              <a:t>RDHs</a:t>
            </a:r>
            <a:r>
              <a:rPr lang="sv-SE" dirty="0" smtClean="0"/>
              <a:t> and RDH </a:t>
            </a:r>
            <a:r>
              <a:rPr lang="sv-SE" dirty="0" err="1" smtClean="0"/>
              <a:t>Factory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47</a:t>
            </a:fld>
            <a:endParaRPr lang="sv-SE"/>
          </a:p>
        </p:txBody>
      </p:sp>
      <p:sp>
        <p:nvSpPr>
          <p:cNvPr id="6" name="Platshållare för innehåll 5"/>
          <p:cNvSpPr>
            <a:spLocks noGrp="1"/>
          </p:cNvSpPr>
          <p:nvPr>
            <p:ph idx="1"/>
          </p:nvPr>
        </p:nvSpPr>
        <p:spPr>
          <a:xfrm>
            <a:off x="838200" y="1825625"/>
            <a:ext cx="4332515" cy="4351338"/>
          </a:xfrm>
        </p:spPr>
        <p:txBody>
          <a:bodyPr>
            <a:normAutofit fontScale="92500" lnSpcReduction="10000"/>
          </a:bodyPr>
          <a:lstStyle/>
          <a:p>
            <a:r>
              <a:rPr lang="sv-SE" sz="2000" dirty="0" err="1" smtClean="0"/>
              <a:t>User</a:t>
            </a:r>
            <a:r>
              <a:rPr lang="sv-SE" sz="2000" dirty="0" smtClean="0"/>
              <a:t> </a:t>
            </a:r>
            <a:r>
              <a:rPr lang="sv-SE" sz="2000" dirty="0" err="1" smtClean="0"/>
              <a:t>creates</a:t>
            </a:r>
            <a:endParaRPr lang="sv-SE" sz="2000" dirty="0" smtClean="0"/>
          </a:p>
          <a:p>
            <a:pPr lvl="1"/>
            <a:r>
              <a:rPr lang="sv-SE" sz="1600" dirty="0" err="1" smtClean="0"/>
              <a:t>Participant</a:t>
            </a:r>
            <a:endParaRPr lang="sv-SE" sz="1600" dirty="0" smtClean="0"/>
          </a:p>
          <a:p>
            <a:pPr lvl="1"/>
            <a:r>
              <a:rPr lang="sv-SE" sz="1600" dirty="0" err="1" smtClean="0"/>
              <a:t>Topic</a:t>
            </a:r>
            <a:r>
              <a:rPr lang="sv-SE" sz="1600" dirty="0" smtClean="0"/>
              <a:t> via </a:t>
            </a:r>
            <a:r>
              <a:rPr lang="sv-SE" sz="1600" dirty="0" err="1" smtClean="0"/>
              <a:t>Participant</a:t>
            </a:r>
            <a:endParaRPr lang="sv-SE" sz="1600" dirty="0" smtClean="0"/>
          </a:p>
          <a:p>
            <a:pPr lvl="1"/>
            <a:r>
              <a:rPr lang="sv-SE" sz="1600" dirty="0" err="1" smtClean="0"/>
              <a:t>Subscriber</a:t>
            </a:r>
            <a:r>
              <a:rPr lang="sv-SE" sz="1600" dirty="0" smtClean="0"/>
              <a:t> </a:t>
            </a:r>
            <a:r>
              <a:rPr lang="sv-SE" sz="1600" dirty="0" err="1" smtClean="0"/>
              <a:t>with</a:t>
            </a:r>
            <a:r>
              <a:rPr lang="sv-SE" sz="1600" dirty="0" smtClean="0"/>
              <a:t> </a:t>
            </a:r>
            <a:r>
              <a:rPr lang="sv-SE" sz="1600" dirty="0" err="1" smtClean="0"/>
              <a:t>Topic</a:t>
            </a:r>
            <a:endParaRPr lang="sv-SE" sz="1600" dirty="0" smtClean="0"/>
          </a:p>
          <a:p>
            <a:r>
              <a:rPr lang="sv-SE" sz="2000" dirty="0" err="1" smtClean="0"/>
              <a:t>Subscriber</a:t>
            </a:r>
            <a:r>
              <a:rPr lang="sv-SE" sz="2000" dirty="0" smtClean="0"/>
              <a:t> gets </a:t>
            </a:r>
            <a:r>
              <a:rPr lang="sv-SE" sz="2000" dirty="0" err="1" smtClean="0"/>
              <a:t>ReceiveDataHandler</a:t>
            </a:r>
            <a:r>
              <a:rPr lang="sv-SE" sz="2000" dirty="0" smtClean="0"/>
              <a:t> via </a:t>
            </a:r>
            <a:r>
              <a:rPr lang="sv-SE" sz="2000" dirty="0" err="1" smtClean="0"/>
              <a:t>Participant</a:t>
            </a:r>
            <a:endParaRPr lang="sv-SE" sz="2000" dirty="0" smtClean="0"/>
          </a:p>
          <a:p>
            <a:r>
              <a:rPr lang="sv-SE" sz="2000" dirty="0" err="1" smtClean="0"/>
              <a:t>ReceiveDataChannel</a:t>
            </a:r>
            <a:endParaRPr lang="sv-SE" sz="2000" dirty="0" smtClean="0"/>
          </a:p>
          <a:p>
            <a:pPr lvl="1"/>
            <a:r>
              <a:rPr lang="sv-SE" sz="1600" dirty="0" err="1" smtClean="0"/>
              <a:t>Receive</a:t>
            </a:r>
            <a:r>
              <a:rPr lang="sv-SE" sz="1600" dirty="0" smtClean="0"/>
              <a:t> bytes to </a:t>
            </a:r>
            <a:r>
              <a:rPr lang="sv-SE" sz="1600" dirty="0" err="1" smtClean="0"/>
              <a:t>internal</a:t>
            </a:r>
            <a:r>
              <a:rPr lang="sv-SE" sz="1600" dirty="0" smtClean="0"/>
              <a:t> </a:t>
            </a:r>
            <a:r>
              <a:rPr lang="sv-SE" sz="1600" dirty="0" err="1" smtClean="0"/>
              <a:t>buffer</a:t>
            </a:r>
            <a:endParaRPr lang="sv-SE" sz="1600" dirty="0" smtClean="0"/>
          </a:p>
          <a:p>
            <a:pPr lvl="1"/>
            <a:r>
              <a:rPr lang="sv-SE" sz="1600" dirty="0" err="1" smtClean="0"/>
              <a:t>Deserialize</a:t>
            </a:r>
            <a:r>
              <a:rPr lang="sv-SE" sz="1600" dirty="0" smtClean="0"/>
              <a:t> </a:t>
            </a:r>
            <a:r>
              <a:rPr lang="sv-SE" sz="1600" dirty="0" err="1" smtClean="0"/>
              <a:t>buffer</a:t>
            </a:r>
            <a:r>
              <a:rPr lang="sv-SE" sz="1600" dirty="0" smtClean="0"/>
              <a:t> via </a:t>
            </a:r>
            <a:r>
              <a:rPr lang="sv-SE" sz="1600" dirty="0" err="1" smtClean="0"/>
              <a:t>Archiver</a:t>
            </a:r>
            <a:endParaRPr lang="sv-SE" sz="1600" dirty="0" smtClean="0"/>
          </a:p>
          <a:p>
            <a:r>
              <a:rPr lang="sv-SE" sz="2000" dirty="0" err="1" smtClean="0"/>
              <a:t>ReferenceHandler</a:t>
            </a:r>
            <a:endParaRPr lang="sv-SE" sz="2000" dirty="0" smtClean="0"/>
          </a:p>
          <a:p>
            <a:r>
              <a:rPr lang="sv-SE" sz="2000" dirty="0" err="1" smtClean="0"/>
              <a:t>FilterQoSPolicy</a:t>
            </a:r>
            <a:endParaRPr lang="sv-SE" sz="2000" dirty="0" smtClean="0"/>
          </a:p>
          <a:p>
            <a:r>
              <a:rPr lang="sv-SE" sz="2000" dirty="0" err="1" smtClean="0"/>
              <a:t>PublicationIdChecker</a:t>
            </a:r>
            <a:endParaRPr lang="sv-SE" sz="2000" dirty="0" smtClean="0"/>
          </a:p>
          <a:p>
            <a:r>
              <a:rPr lang="sv-SE" sz="2000" dirty="0" smtClean="0"/>
              <a:t>Deadlines</a:t>
            </a:r>
          </a:p>
          <a:p>
            <a:r>
              <a:rPr lang="sv-SE" sz="2000" dirty="0" err="1" smtClean="0"/>
              <a:t>MessageLock</a:t>
            </a:r>
            <a:endParaRPr lang="sv-SE" sz="2000" dirty="0"/>
          </a:p>
        </p:txBody>
      </p:sp>
      <p:pic>
        <p:nvPicPr>
          <p:cNvPr id="9" name="Platshållare för innehåll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715" y="1825625"/>
            <a:ext cx="6901543" cy="463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09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Multicast</a:t>
            </a:r>
            <a:r>
              <a:rPr lang="sv-SE" dirty="0" smtClean="0"/>
              <a:t> transport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48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200" y="1825625"/>
            <a:ext cx="4201886" cy="4351338"/>
          </a:xfrm>
        </p:spPr>
        <p:txBody>
          <a:bodyPr>
            <a:normAutofit lnSpcReduction="10000"/>
          </a:bodyPr>
          <a:lstStyle/>
          <a:p>
            <a:r>
              <a:rPr lang="sv-SE" sz="2000" dirty="0" smtClean="0"/>
              <a:t>Many-2-Many transport</a:t>
            </a:r>
          </a:p>
          <a:p>
            <a:pPr lvl="1"/>
            <a:r>
              <a:rPr lang="sv-SE" sz="1600" dirty="0" smtClean="0"/>
              <a:t>Port </a:t>
            </a:r>
            <a:r>
              <a:rPr lang="sv-SE" sz="1600" dirty="0" err="1"/>
              <a:t>specified</a:t>
            </a:r>
            <a:r>
              <a:rPr lang="sv-SE" sz="1600" dirty="0"/>
              <a:t> in </a:t>
            </a:r>
            <a:r>
              <a:rPr lang="sv-SE" sz="1600" dirty="0" err="1"/>
              <a:t>ops_config</a:t>
            </a:r>
            <a:endParaRPr lang="sv-SE" sz="1600" dirty="0"/>
          </a:p>
          <a:p>
            <a:pPr lvl="1"/>
            <a:r>
              <a:rPr lang="sv-SE" sz="1600" dirty="0"/>
              <a:t>(Publisher) SDH </a:t>
            </a:r>
            <a:r>
              <a:rPr lang="sv-SE" sz="1600" dirty="0" err="1"/>
              <a:t>writes</a:t>
            </a:r>
            <a:r>
              <a:rPr lang="sv-SE" sz="1600" dirty="0"/>
              <a:t> data to </a:t>
            </a:r>
            <a:r>
              <a:rPr lang="sv-SE" sz="1600" dirty="0" smtClean="0"/>
              <a:t>port</a:t>
            </a:r>
          </a:p>
          <a:p>
            <a:pPr lvl="1"/>
            <a:endParaRPr lang="sv-SE" sz="2000" dirty="0" smtClean="0"/>
          </a:p>
          <a:p>
            <a:endParaRPr lang="sv-SE" sz="2000" dirty="0"/>
          </a:p>
          <a:p>
            <a:endParaRPr lang="sv-SE" sz="2000" dirty="0"/>
          </a:p>
          <a:p>
            <a:r>
              <a:rPr lang="sv-SE" sz="2000" dirty="0" err="1" smtClean="0"/>
              <a:t>When</a:t>
            </a:r>
            <a:r>
              <a:rPr lang="sv-SE" sz="2000" dirty="0" smtClean="0"/>
              <a:t> </a:t>
            </a:r>
            <a:r>
              <a:rPr lang="sv-SE" sz="2000" dirty="0" err="1" smtClean="0"/>
              <a:t>ACKs</a:t>
            </a:r>
            <a:r>
              <a:rPr lang="sv-SE" sz="2000" dirty="0" smtClean="0"/>
              <a:t> </a:t>
            </a:r>
            <a:r>
              <a:rPr lang="sv-SE" sz="2000" dirty="0" err="1" smtClean="0"/>
              <a:t>enabled</a:t>
            </a:r>
            <a:endParaRPr lang="sv-SE" sz="2000" dirty="0" smtClean="0"/>
          </a:p>
          <a:p>
            <a:pPr lvl="1"/>
            <a:r>
              <a:rPr lang="sv-SE" sz="1600" dirty="0" smtClean="0"/>
              <a:t>Publisher starts a </a:t>
            </a:r>
            <a:r>
              <a:rPr lang="sv-SE" sz="1600" dirty="0" err="1" smtClean="0"/>
              <a:t>Subscriber</a:t>
            </a:r>
            <a:r>
              <a:rPr lang="sv-SE" sz="1600" dirty="0" smtClean="0"/>
              <a:t> for </a:t>
            </a:r>
            <a:r>
              <a:rPr lang="sv-SE" sz="1600" dirty="0" err="1" smtClean="0"/>
              <a:t>ACKs</a:t>
            </a:r>
            <a:endParaRPr lang="sv-SE" sz="1600" dirty="0" smtClean="0"/>
          </a:p>
          <a:p>
            <a:pPr lvl="1"/>
            <a:r>
              <a:rPr lang="sv-SE" sz="1600" dirty="0" err="1" smtClean="0"/>
              <a:t>Subscriber</a:t>
            </a:r>
            <a:r>
              <a:rPr lang="sv-SE" sz="1600" dirty="0" smtClean="0"/>
              <a:t> starts a Publisher for </a:t>
            </a:r>
            <a:r>
              <a:rPr lang="sv-SE" sz="1600" dirty="0" err="1" smtClean="0"/>
              <a:t>ACKs</a:t>
            </a:r>
            <a:endParaRPr lang="sv-SE" sz="1600" dirty="0" smtClean="0"/>
          </a:p>
          <a:p>
            <a:pPr lvl="1"/>
            <a:r>
              <a:rPr lang="sv-SE" sz="1600" dirty="0" smtClean="0"/>
              <a:t>ACK </a:t>
            </a:r>
            <a:r>
              <a:rPr lang="sv-SE" sz="1600" dirty="0" err="1" smtClean="0"/>
              <a:t>Topic</a:t>
            </a:r>
            <a:r>
              <a:rPr lang="sv-SE" sz="1600" dirty="0" smtClean="0"/>
              <a:t> is </a:t>
            </a:r>
            <a:r>
              <a:rPr lang="sv-SE" sz="1600" dirty="0" err="1" smtClean="0"/>
              <a:t>automatic</a:t>
            </a:r>
            <a:r>
              <a:rPr lang="sv-SE" sz="1600" dirty="0" smtClean="0"/>
              <a:t> (#ack)</a:t>
            </a:r>
          </a:p>
          <a:p>
            <a:pPr lvl="1"/>
            <a:r>
              <a:rPr lang="sv-SE" sz="1600" dirty="0" smtClean="0"/>
              <a:t>Register/</a:t>
            </a:r>
            <a:r>
              <a:rPr lang="sv-SE" sz="1600" dirty="0" err="1" smtClean="0"/>
              <a:t>Unregister</a:t>
            </a:r>
            <a:r>
              <a:rPr lang="sv-SE" sz="1600" dirty="0" smtClean="0"/>
              <a:t> for </a:t>
            </a:r>
            <a:r>
              <a:rPr lang="sv-SE" sz="1600" dirty="0" err="1" smtClean="0"/>
              <a:t>ACKs</a:t>
            </a:r>
            <a:endParaRPr lang="sv-SE" sz="1600" dirty="0" smtClean="0"/>
          </a:p>
          <a:p>
            <a:pPr lvl="1"/>
            <a:r>
              <a:rPr lang="sv-SE" sz="1600" dirty="0" err="1" smtClean="0"/>
              <a:t>Resends</a:t>
            </a:r>
            <a:r>
              <a:rPr lang="sv-SE" sz="1600" dirty="0" smtClean="0"/>
              <a:t> </a:t>
            </a:r>
            <a:r>
              <a:rPr lang="sv-SE" sz="1600" dirty="0" err="1" smtClean="0"/>
              <a:t>serialized</a:t>
            </a:r>
            <a:r>
              <a:rPr lang="sv-SE" sz="1600" dirty="0" smtClean="0"/>
              <a:t> data </a:t>
            </a:r>
            <a:r>
              <a:rPr lang="sv-SE" sz="1600" dirty="0" err="1" smtClean="0"/>
              <a:t>if</a:t>
            </a:r>
            <a:r>
              <a:rPr lang="sv-SE" sz="1600" dirty="0" smtClean="0"/>
              <a:t> ACK </a:t>
            </a:r>
            <a:r>
              <a:rPr lang="sv-SE" sz="1600" dirty="0" err="1" smtClean="0"/>
              <a:t>missing</a:t>
            </a:r>
            <a:endParaRPr lang="sv-SE" sz="1600" dirty="0" smtClean="0"/>
          </a:p>
          <a:p>
            <a:pPr lvl="1"/>
            <a:r>
              <a:rPr lang="sv-SE" sz="1600" dirty="0" smtClean="0"/>
              <a:t>Callback to </a:t>
            </a:r>
            <a:r>
              <a:rPr lang="sv-SE" sz="1600" dirty="0" err="1" smtClean="0"/>
              <a:t>User</a:t>
            </a:r>
            <a:r>
              <a:rPr lang="sv-SE" sz="1600" dirty="0" smtClean="0"/>
              <a:t> </a:t>
            </a:r>
            <a:r>
              <a:rPr lang="sv-SE" sz="1600" dirty="0" err="1" smtClean="0"/>
              <a:t>if</a:t>
            </a:r>
            <a:r>
              <a:rPr lang="sv-SE" sz="1600" dirty="0" smtClean="0"/>
              <a:t> no ACK </a:t>
            </a:r>
            <a:r>
              <a:rPr lang="sv-SE" sz="1600" dirty="0" err="1" smtClean="0"/>
              <a:t>within</a:t>
            </a:r>
            <a:r>
              <a:rPr lang="sv-SE" sz="1600" dirty="0" smtClean="0"/>
              <a:t> x </a:t>
            </a:r>
            <a:r>
              <a:rPr lang="sv-SE" sz="1600" dirty="0" err="1" smtClean="0"/>
              <a:t>sends</a:t>
            </a:r>
            <a:endParaRPr lang="sv-SE" sz="1600" dirty="0"/>
          </a:p>
        </p:txBody>
      </p:sp>
      <p:pic>
        <p:nvPicPr>
          <p:cNvPr id="8" name="Platshållare för innehåll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809" y="2460171"/>
            <a:ext cx="6710574" cy="2887781"/>
          </a:xfrm>
          <a:prstGeom prst="rect">
            <a:avLst/>
          </a:prstGeom>
        </p:spPr>
      </p:pic>
      <p:sp>
        <p:nvSpPr>
          <p:cNvPr id="3" name="textruta 2"/>
          <p:cNvSpPr txBox="1"/>
          <p:nvPr/>
        </p:nvSpPr>
        <p:spPr>
          <a:xfrm>
            <a:off x="10863711" y="1027906"/>
            <a:ext cx="956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>
                <a:hlinkClick r:id="rId4"/>
              </a:rPr>
              <a:t>Featurelist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21260671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UDP transport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49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200" y="1825625"/>
            <a:ext cx="4615543" cy="4351338"/>
          </a:xfrm>
        </p:spPr>
        <p:txBody>
          <a:bodyPr>
            <a:normAutofit/>
          </a:bodyPr>
          <a:lstStyle/>
          <a:p>
            <a:r>
              <a:rPr lang="sv-SE" sz="2000" dirty="0" smtClean="0"/>
              <a:t>Many-2-One transport</a:t>
            </a:r>
          </a:p>
          <a:p>
            <a:pPr lvl="1"/>
            <a:r>
              <a:rPr lang="sv-SE" sz="1600" dirty="0" err="1" smtClean="0"/>
              <a:t>Subscriber</a:t>
            </a:r>
            <a:r>
              <a:rPr lang="sv-SE" sz="1600" dirty="0" smtClean="0"/>
              <a:t> port </a:t>
            </a:r>
            <a:r>
              <a:rPr lang="sv-SE" sz="1600" dirty="0" err="1" smtClean="0"/>
              <a:t>specified</a:t>
            </a:r>
            <a:r>
              <a:rPr lang="sv-SE" sz="1600" dirty="0" smtClean="0"/>
              <a:t> in </a:t>
            </a:r>
            <a:r>
              <a:rPr lang="sv-SE" sz="1600" dirty="0" err="1" smtClean="0"/>
              <a:t>ops_config</a:t>
            </a:r>
            <a:endParaRPr lang="sv-SE" sz="1600" dirty="0" smtClean="0"/>
          </a:p>
          <a:p>
            <a:pPr lvl="1"/>
            <a:r>
              <a:rPr lang="sv-SE" sz="1600" dirty="0" smtClean="0"/>
              <a:t>(Publisher) SDH </a:t>
            </a:r>
            <a:r>
              <a:rPr lang="sv-SE" sz="1600" dirty="0" err="1" smtClean="0"/>
              <a:t>writes</a:t>
            </a:r>
            <a:r>
              <a:rPr lang="sv-SE" sz="1600" dirty="0" smtClean="0"/>
              <a:t> data to port</a:t>
            </a:r>
          </a:p>
          <a:p>
            <a:r>
              <a:rPr lang="sv-SE" sz="2000" dirty="0" smtClean="0"/>
              <a:t>Many-2-Many transport</a:t>
            </a:r>
          </a:p>
          <a:p>
            <a:pPr lvl="1"/>
            <a:r>
              <a:rPr lang="sv-SE" sz="1600" dirty="0" smtClean="0"/>
              <a:t>No port </a:t>
            </a:r>
            <a:r>
              <a:rPr lang="sv-SE" sz="1600" dirty="0" err="1" smtClean="0"/>
              <a:t>specified</a:t>
            </a:r>
            <a:r>
              <a:rPr lang="sv-SE" sz="1600" dirty="0" smtClean="0"/>
              <a:t> in </a:t>
            </a:r>
            <a:r>
              <a:rPr lang="sv-SE" sz="1600" dirty="0" err="1" smtClean="0"/>
              <a:t>ops_config</a:t>
            </a:r>
            <a:endParaRPr lang="sv-SE" sz="1600" dirty="0" smtClean="0"/>
          </a:p>
          <a:p>
            <a:pPr lvl="1"/>
            <a:r>
              <a:rPr lang="sv-SE" sz="1600" dirty="0" err="1" smtClean="0"/>
              <a:t>Subscriber</a:t>
            </a:r>
            <a:r>
              <a:rPr lang="sv-SE" sz="1600" dirty="0" smtClean="0"/>
              <a:t> </a:t>
            </a:r>
            <a:r>
              <a:rPr lang="sv-SE" sz="1600" dirty="0" err="1" smtClean="0"/>
              <a:t>uses</a:t>
            </a:r>
            <a:r>
              <a:rPr lang="sv-SE" sz="1600" dirty="0" smtClean="0"/>
              <a:t> </a:t>
            </a:r>
            <a:r>
              <a:rPr lang="sv-SE" sz="1600" dirty="0" err="1" smtClean="0"/>
              <a:t>dynamic</a:t>
            </a:r>
            <a:r>
              <a:rPr lang="sv-SE" sz="1600" dirty="0" smtClean="0"/>
              <a:t> port from OS</a:t>
            </a:r>
          </a:p>
          <a:p>
            <a:pPr lvl="1"/>
            <a:r>
              <a:rPr lang="sv-SE" sz="1600" dirty="0" smtClean="0"/>
              <a:t>Port </a:t>
            </a:r>
            <a:r>
              <a:rPr lang="sv-SE" sz="1600" dirty="0" err="1" smtClean="0"/>
              <a:t>published</a:t>
            </a:r>
            <a:r>
              <a:rPr lang="sv-SE" sz="1600" dirty="0" smtClean="0"/>
              <a:t> by </a:t>
            </a:r>
            <a:r>
              <a:rPr lang="sv-SE" sz="1600" dirty="0" err="1" smtClean="0"/>
              <a:t>Participant</a:t>
            </a:r>
            <a:r>
              <a:rPr lang="sv-SE" sz="1600" dirty="0" smtClean="0"/>
              <a:t> metadata</a:t>
            </a:r>
          </a:p>
          <a:p>
            <a:pPr lvl="1"/>
            <a:r>
              <a:rPr lang="sv-SE" sz="1600" dirty="0" smtClean="0"/>
              <a:t>SDH gets destination ports from </a:t>
            </a:r>
            <a:r>
              <a:rPr lang="sv-SE" sz="1600" dirty="0" err="1" smtClean="0"/>
              <a:t>MetaDataHandler</a:t>
            </a:r>
            <a:r>
              <a:rPr lang="sv-SE" sz="1600" dirty="0" smtClean="0"/>
              <a:t> as </a:t>
            </a:r>
            <a:r>
              <a:rPr lang="sv-SE" sz="1600" dirty="0" err="1" smtClean="0"/>
              <a:t>they</a:t>
            </a:r>
            <a:r>
              <a:rPr lang="sv-SE" sz="1600" dirty="0" smtClean="0"/>
              <a:t> </a:t>
            </a:r>
            <a:r>
              <a:rPr lang="sv-SE" sz="1600" dirty="0" err="1" smtClean="0"/>
              <a:t>become</a:t>
            </a:r>
            <a:r>
              <a:rPr lang="sv-SE" sz="1600" dirty="0" smtClean="0"/>
              <a:t> </a:t>
            </a:r>
            <a:r>
              <a:rPr lang="sv-SE" sz="1600" dirty="0" err="1" smtClean="0"/>
              <a:t>available</a:t>
            </a:r>
            <a:endParaRPr lang="sv-SE" sz="1600" dirty="0" smtClean="0"/>
          </a:p>
          <a:p>
            <a:pPr lvl="1"/>
            <a:r>
              <a:rPr lang="sv-SE" sz="1600" dirty="0" smtClean="0"/>
              <a:t>(Publisher) SDH </a:t>
            </a:r>
            <a:r>
              <a:rPr lang="sv-SE" sz="1600" dirty="0" err="1" smtClean="0"/>
              <a:t>writes</a:t>
            </a:r>
            <a:r>
              <a:rPr lang="sv-SE" sz="1600" dirty="0" smtClean="0"/>
              <a:t> data to all ports</a:t>
            </a:r>
          </a:p>
          <a:p>
            <a:pPr lvl="1"/>
            <a:r>
              <a:rPr lang="sv-SE" sz="1600" dirty="0" smtClean="0"/>
              <a:t>SDH </a:t>
            </a:r>
            <a:r>
              <a:rPr lang="sv-SE" sz="1600" dirty="0" err="1" smtClean="0"/>
              <a:t>removes</a:t>
            </a:r>
            <a:r>
              <a:rPr lang="sv-SE" sz="1600" dirty="0" smtClean="0"/>
              <a:t> destination ports as </a:t>
            </a:r>
            <a:r>
              <a:rPr lang="sv-SE" sz="1600" dirty="0" err="1" smtClean="0"/>
              <a:t>they</a:t>
            </a:r>
            <a:r>
              <a:rPr lang="sv-SE" sz="1600" dirty="0" smtClean="0"/>
              <a:t> </a:t>
            </a:r>
            <a:r>
              <a:rPr lang="sv-SE" sz="1600" dirty="0" err="1" smtClean="0"/>
              <a:t>become</a:t>
            </a:r>
            <a:r>
              <a:rPr lang="sv-SE" sz="1600" dirty="0" smtClean="0"/>
              <a:t> non-</a:t>
            </a:r>
            <a:r>
              <a:rPr lang="sv-SE" sz="1600" dirty="0" err="1" smtClean="0"/>
              <a:t>alive</a:t>
            </a:r>
            <a:endParaRPr lang="sv-SE" sz="1600" dirty="0"/>
          </a:p>
        </p:txBody>
      </p:sp>
      <p:pic>
        <p:nvPicPr>
          <p:cNvPr id="8" name="Platshållare för innehåll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257" y="2460172"/>
            <a:ext cx="6457612" cy="2778923"/>
          </a:xfrm>
          <a:prstGeom prst="rect">
            <a:avLst/>
          </a:prstGeom>
        </p:spPr>
      </p:pic>
      <p:sp>
        <p:nvSpPr>
          <p:cNvPr id="9" name="textruta 8"/>
          <p:cNvSpPr txBox="1"/>
          <p:nvPr/>
        </p:nvSpPr>
        <p:spPr>
          <a:xfrm>
            <a:off x="10863711" y="1027906"/>
            <a:ext cx="956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>
                <a:hlinkClick r:id="rId4"/>
              </a:rPr>
              <a:t>Featurelist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23739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TCP transport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50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199" y="1825625"/>
            <a:ext cx="4245430" cy="4351338"/>
          </a:xfrm>
        </p:spPr>
        <p:txBody>
          <a:bodyPr>
            <a:normAutofit lnSpcReduction="10000"/>
          </a:bodyPr>
          <a:lstStyle/>
          <a:p>
            <a:r>
              <a:rPr lang="sv-SE" sz="2000" dirty="0" smtClean="0"/>
              <a:t>One-2-Many transport</a:t>
            </a:r>
          </a:p>
          <a:p>
            <a:pPr lvl="1"/>
            <a:r>
              <a:rPr lang="sv-SE" sz="1600" dirty="0" smtClean="0"/>
              <a:t>Publisher </a:t>
            </a:r>
            <a:r>
              <a:rPr lang="sv-SE" sz="1600" dirty="0"/>
              <a:t>port </a:t>
            </a:r>
            <a:r>
              <a:rPr lang="sv-SE" sz="1600" dirty="0" err="1"/>
              <a:t>specified</a:t>
            </a:r>
            <a:r>
              <a:rPr lang="sv-SE" sz="1600" dirty="0"/>
              <a:t> in </a:t>
            </a:r>
            <a:r>
              <a:rPr lang="sv-SE" sz="1600" dirty="0" err="1" smtClean="0"/>
              <a:t>ops_config</a:t>
            </a:r>
            <a:endParaRPr lang="sv-SE" sz="1600" dirty="0" smtClean="0"/>
          </a:p>
          <a:p>
            <a:pPr lvl="1"/>
            <a:r>
              <a:rPr lang="sv-SE" sz="1600" dirty="0" smtClean="0"/>
              <a:t>Publisher is a </a:t>
            </a:r>
            <a:r>
              <a:rPr lang="sv-SE" sz="1600" dirty="0" err="1" smtClean="0"/>
              <a:t>TCPServer</a:t>
            </a:r>
            <a:endParaRPr lang="sv-SE" sz="1600" dirty="0" smtClean="0"/>
          </a:p>
          <a:p>
            <a:pPr lvl="1"/>
            <a:r>
              <a:rPr lang="sv-SE" sz="1600" dirty="0" smtClean="0"/>
              <a:t>Server, list </a:t>
            </a:r>
            <a:r>
              <a:rPr lang="sv-SE" sz="1600" dirty="0" err="1" smtClean="0"/>
              <a:t>with</a:t>
            </a:r>
            <a:r>
              <a:rPr lang="sv-SE" sz="1600" dirty="0" smtClean="0"/>
              <a:t> </a:t>
            </a:r>
            <a:r>
              <a:rPr lang="sv-SE" sz="1600" dirty="0" err="1" smtClean="0"/>
              <a:t>connected</a:t>
            </a:r>
            <a:r>
              <a:rPr lang="sv-SE" sz="1600" dirty="0" smtClean="0"/>
              <a:t> </a:t>
            </a:r>
            <a:r>
              <a:rPr lang="sv-SE" sz="1600" dirty="0" err="1" smtClean="0"/>
              <a:t>clients</a:t>
            </a:r>
            <a:endParaRPr lang="sv-SE" sz="1600" dirty="0"/>
          </a:p>
          <a:p>
            <a:pPr lvl="1"/>
            <a:r>
              <a:rPr lang="sv-SE" sz="1600" dirty="0"/>
              <a:t>(Publisher) </a:t>
            </a:r>
            <a:r>
              <a:rPr lang="sv-SE" sz="1600" dirty="0" err="1" smtClean="0"/>
              <a:t>TCPServer</a:t>
            </a:r>
            <a:r>
              <a:rPr lang="sv-SE" sz="1600" dirty="0" smtClean="0"/>
              <a:t> </a:t>
            </a:r>
            <a:r>
              <a:rPr lang="sv-SE" sz="1600" dirty="0" err="1" smtClean="0"/>
              <a:t>writes</a:t>
            </a:r>
            <a:r>
              <a:rPr lang="sv-SE" sz="1600" dirty="0" smtClean="0"/>
              <a:t> </a:t>
            </a:r>
            <a:r>
              <a:rPr lang="sv-SE" sz="1600" dirty="0"/>
              <a:t>data to </a:t>
            </a:r>
            <a:r>
              <a:rPr lang="sv-SE" sz="1600" dirty="0" smtClean="0"/>
              <a:t>all </a:t>
            </a:r>
            <a:r>
              <a:rPr lang="sv-SE" sz="1600" dirty="0" err="1" smtClean="0"/>
              <a:t>connected</a:t>
            </a:r>
            <a:r>
              <a:rPr lang="sv-SE" sz="1600" dirty="0" smtClean="0"/>
              <a:t> </a:t>
            </a:r>
            <a:r>
              <a:rPr lang="sv-SE" sz="1600" dirty="0" err="1" smtClean="0"/>
              <a:t>clients</a:t>
            </a:r>
            <a:endParaRPr lang="sv-SE" sz="1600" dirty="0" smtClean="0"/>
          </a:p>
          <a:p>
            <a:r>
              <a:rPr lang="sv-SE" sz="2000" dirty="0" smtClean="0"/>
              <a:t>Many-2-Many transport</a:t>
            </a:r>
          </a:p>
          <a:p>
            <a:pPr lvl="1"/>
            <a:r>
              <a:rPr lang="sv-SE" sz="1600" dirty="0"/>
              <a:t>No port </a:t>
            </a:r>
            <a:r>
              <a:rPr lang="sv-SE" sz="1600" dirty="0" err="1"/>
              <a:t>specified</a:t>
            </a:r>
            <a:r>
              <a:rPr lang="sv-SE" sz="1600" dirty="0"/>
              <a:t> in </a:t>
            </a:r>
            <a:r>
              <a:rPr lang="sv-SE" sz="1600" dirty="0" err="1"/>
              <a:t>ops_config</a:t>
            </a:r>
            <a:endParaRPr lang="sv-SE" sz="1600" dirty="0"/>
          </a:p>
          <a:p>
            <a:pPr lvl="1"/>
            <a:r>
              <a:rPr lang="sv-SE" sz="1600" dirty="0" smtClean="0"/>
              <a:t>Publisher </a:t>
            </a:r>
            <a:r>
              <a:rPr lang="sv-SE" sz="1600" dirty="0" err="1"/>
              <a:t>uses</a:t>
            </a:r>
            <a:r>
              <a:rPr lang="sv-SE" sz="1600" dirty="0"/>
              <a:t> </a:t>
            </a:r>
            <a:r>
              <a:rPr lang="sv-SE" sz="1600" dirty="0" err="1"/>
              <a:t>dynamic</a:t>
            </a:r>
            <a:r>
              <a:rPr lang="sv-SE" sz="1600" dirty="0"/>
              <a:t> port from OS</a:t>
            </a:r>
          </a:p>
          <a:p>
            <a:pPr lvl="1"/>
            <a:r>
              <a:rPr lang="sv-SE" sz="1600" dirty="0"/>
              <a:t>Port </a:t>
            </a:r>
            <a:r>
              <a:rPr lang="sv-SE" sz="1600" dirty="0" err="1"/>
              <a:t>published</a:t>
            </a:r>
            <a:r>
              <a:rPr lang="sv-SE" sz="1600" dirty="0"/>
              <a:t> by </a:t>
            </a:r>
            <a:r>
              <a:rPr lang="sv-SE" sz="1600" dirty="0" err="1"/>
              <a:t>Participant</a:t>
            </a:r>
            <a:r>
              <a:rPr lang="sv-SE" sz="1600" dirty="0"/>
              <a:t> metadata</a:t>
            </a:r>
          </a:p>
          <a:p>
            <a:pPr lvl="1"/>
            <a:r>
              <a:rPr lang="sv-SE" sz="1600" dirty="0" smtClean="0"/>
              <a:t>RDH </a:t>
            </a:r>
            <a:r>
              <a:rPr lang="sv-SE" sz="1600" dirty="0"/>
              <a:t>gets </a:t>
            </a:r>
            <a:r>
              <a:rPr lang="sv-SE" sz="1600" dirty="0" smtClean="0"/>
              <a:t>server </a:t>
            </a:r>
            <a:r>
              <a:rPr lang="sv-SE" sz="1600" dirty="0"/>
              <a:t>ports from </a:t>
            </a:r>
            <a:r>
              <a:rPr lang="sv-SE" sz="1600" dirty="0" err="1"/>
              <a:t>MetaDataHandler</a:t>
            </a:r>
            <a:r>
              <a:rPr lang="sv-SE" sz="1600" dirty="0"/>
              <a:t> as </a:t>
            </a:r>
            <a:r>
              <a:rPr lang="sv-SE" sz="1600" dirty="0" err="1"/>
              <a:t>they</a:t>
            </a:r>
            <a:r>
              <a:rPr lang="sv-SE" sz="1600" dirty="0"/>
              <a:t> </a:t>
            </a:r>
            <a:r>
              <a:rPr lang="sv-SE" sz="1600" dirty="0" err="1"/>
              <a:t>become</a:t>
            </a:r>
            <a:r>
              <a:rPr lang="sv-SE" sz="1600" dirty="0"/>
              <a:t> </a:t>
            </a:r>
            <a:r>
              <a:rPr lang="sv-SE" sz="1600" dirty="0" err="1" smtClean="0"/>
              <a:t>available</a:t>
            </a:r>
            <a:r>
              <a:rPr lang="sv-SE" sz="1600" dirty="0" smtClean="0"/>
              <a:t> and </a:t>
            </a:r>
            <a:r>
              <a:rPr lang="sv-SE" sz="1600" dirty="0" err="1" smtClean="0"/>
              <a:t>creates</a:t>
            </a:r>
            <a:r>
              <a:rPr lang="sv-SE" sz="1600" dirty="0" smtClean="0"/>
              <a:t> </a:t>
            </a:r>
            <a:r>
              <a:rPr lang="sv-SE" sz="1600" dirty="0" err="1" smtClean="0"/>
              <a:t>RDCs</a:t>
            </a:r>
            <a:endParaRPr lang="sv-SE" sz="1600" dirty="0" smtClean="0"/>
          </a:p>
          <a:p>
            <a:r>
              <a:rPr lang="sv-SE" sz="2000" dirty="0" err="1" smtClean="0"/>
              <a:t>Protocol</a:t>
            </a:r>
            <a:r>
              <a:rPr lang="sv-SE" sz="2000" dirty="0" smtClean="0"/>
              <a:t> </a:t>
            </a:r>
            <a:r>
              <a:rPr lang="sv-SE" sz="2000" dirty="0" smtClean="0"/>
              <a:t>versions </a:t>
            </a:r>
            <a:r>
              <a:rPr lang="sv-SE" sz="2000" dirty="0" smtClean="0">
                <a:hlinkClick r:id="rId3"/>
              </a:rPr>
              <a:t>v1/2</a:t>
            </a:r>
            <a:endParaRPr lang="sv-SE" sz="2000" dirty="0" smtClean="0"/>
          </a:p>
          <a:p>
            <a:pPr lvl="1"/>
            <a:r>
              <a:rPr lang="sv-SE" sz="1600" dirty="0" err="1" smtClean="0"/>
              <a:t>Heartbeats</a:t>
            </a:r>
            <a:r>
              <a:rPr lang="sv-SE" sz="1600" dirty="0" smtClean="0"/>
              <a:t>, …</a:t>
            </a:r>
            <a:endParaRPr lang="sv-SE" sz="1600" dirty="0"/>
          </a:p>
        </p:txBody>
      </p:sp>
      <p:pic>
        <p:nvPicPr>
          <p:cNvPr id="8" name="Platshållare för innehåll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19" y="1690687"/>
            <a:ext cx="7274011" cy="4486275"/>
          </a:xfrm>
          <a:prstGeom prst="rect">
            <a:avLst/>
          </a:prstGeom>
        </p:spPr>
      </p:pic>
      <p:sp>
        <p:nvSpPr>
          <p:cNvPr id="9" name="textruta 8"/>
          <p:cNvSpPr txBox="1"/>
          <p:nvPr/>
        </p:nvSpPr>
        <p:spPr>
          <a:xfrm>
            <a:off x="10863711" y="1027906"/>
            <a:ext cx="956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>
                <a:hlinkClick r:id="rId5"/>
              </a:rPr>
              <a:t>Featurelist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5747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Shared</a:t>
            </a:r>
            <a:r>
              <a:rPr lang="sv-SE" dirty="0" smtClean="0"/>
              <a:t> </a:t>
            </a:r>
            <a:r>
              <a:rPr lang="sv-SE" dirty="0" err="1" smtClean="0"/>
              <a:t>Memory</a:t>
            </a:r>
            <a:r>
              <a:rPr lang="sv-SE" dirty="0" smtClean="0"/>
              <a:t> transport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51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200" y="1825625"/>
            <a:ext cx="3777343" cy="4351338"/>
          </a:xfrm>
        </p:spPr>
        <p:txBody>
          <a:bodyPr>
            <a:normAutofit lnSpcReduction="10000"/>
          </a:bodyPr>
          <a:lstStyle/>
          <a:p>
            <a:r>
              <a:rPr lang="sv-SE" sz="2000" dirty="0" smtClean="0"/>
              <a:t>One-2-Many transport</a:t>
            </a:r>
          </a:p>
          <a:p>
            <a:pPr lvl="1"/>
            <a:r>
              <a:rPr lang="sv-SE" sz="1600" dirty="0" err="1" smtClean="0"/>
              <a:t>When</a:t>
            </a:r>
            <a:r>
              <a:rPr lang="sv-SE" sz="1600" dirty="0" smtClean="0"/>
              <a:t> metadata not </a:t>
            </a:r>
            <a:r>
              <a:rPr lang="sv-SE" sz="1600" dirty="0" err="1" smtClean="0"/>
              <a:t>used</a:t>
            </a:r>
            <a:endParaRPr lang="sv-SE" sz="1600" dirty="0" smtClean="0"/>
          </a:p>
          <a:p>
            <a:pPr lvl="1"/>
            <a:r>
              <a:rPr lang="sv-SE" sz="1600" dirty="0"/>
              <a:t>(Publisher) SDH </a:t>
            </a:r>
            <a:r>
              <a:rPr lang="sv-SE" sz="1600" dirty="0" err="1"/>
              <a:t>writes</a:t>
            </a:r>
            <a:r>
              <a:rPr lang="sv-SE" sz="1600" dirty="0"/>
              <a:t> data </a:t>
            </a:r>
            <a:r>
              <a:rPr lang="sv-SE" sz="1600" dirty="0" smtClean="0"/>
              <a:t>to a </a:t>
            </a:r>
            <a:r>
              <a:rPr lang="sv-SE" sz="1600" dirty="0" err="1" smtClean="0"/>
              <a:t>circular</a:t>
            </a:r>
            <a:r>
              <a:rPr lang="sv-SE" sz="1600" dirty="0" smtClean="0"/>
              <a:t> </a:t>
            </a:r>
            <a:r>
              <a:rPr lang="sv-SE" sz="1600" dirty="0" err="1" smtClean="0"/>
              <a:t>buffer</a:t>
            </a:r>
            <a:r>
              <a:rPr lang="sv-SE" sz="1600" dirty="0" smtClean="0"/>
              <a:t> in </a:t>
            </a:r>
            <a:r>
              <a:rPr lang="sv-SE" sz="1600" dirty="0" err="1" smtClean="0"/>
              <a:t>shared</a:t>
            </a:r>
            <a:r>
              <a:rPr lang="sv-SE" sz="1600" dirty="0" smtClean="0"/>
              <a:t> </a:t>
            </a:r>
            <a:r>
              <a:rPr lang="sv-SE" sz="1600" dirty="0" err="1" smtClean="0"/>
              <a:t>memory</a:t>
            </a:r>
            <a:endParaRPr lang="sv-SE" sz="1600" dirty="0" smtClean="0"/>
          </a:p>
          <a:p>
            <a:pPr lvl="1"/>
            <a:r>
              <a:rPr lang="sv-SE" sz="1600" dirty="0" smtClean="0"/>
              <a:t>Receivers </a:t>
            </a:r>
            <a:r>
              <a:rPr lang="sv-SE" sz="1600" dirty="0" err="1" smtClean="0"/>
              <a:t>have</a:t>
            </a:r>
            <a:r>
              <a:rPr lang="sv-SE" sz="1600" dirty="0" smtClean="0"/>
              <a:t> a </a:t>
            </a:r>
            <a:r>
              <a:rPr lang="sv-SE" sz="1600" dirty="0" err="1" smtClean="0"/>
              <a:t>thread</a:t>
            </a:r>
            <a:r>
              <a:rPr lang="sv-SE" sz="1600" dirty="0" smtClean="0"/>
              <a:t> </a:t>
            </a:r>
            <a:r>
              <a:rPr lang="sv-SE" sz="1600" dirty="0" err="1" smtClean="0"/>
              <a:t>waiting</a:t>
            </a:r>
            <a:r>
              <a:rPr lang="sv-SE" sz="1600" dirty="0" smtClean="0"/>
              <a:t> for </a:t>
            </a:r>
            <a:r>
              <a:rPr lang="sv-SE" sz="1600" dirty="0" err="1" smtClean="0"/>
              <a:t>unread</a:t>
            </a:r>
            <a:r>
              <a:rPr lang="sv-SE" sz="1600" dirty="0" smtClean="0"/>
              <a:t> data</a:t>
            </a:r>
          </a:p>
          <a:p>
            <a:r>
              <a:rPr lang="sv-SE" sz="2000" dirty="0" smtClean="0"/>
              <a:t>Many-2-Many transport</a:t>
            </a:r>
          </a:p>
          <a:p>
            <a:pPr lvl="1"/>
            <a:r>
              <a:rPr lang="sv-SE" sz="1600" dirty="0" err="1" smtClean="0"/>
              <a:t>When</a:t>
            </a:r>
            <a:r>
              <a:rPr lang="sv-SE" sz="1600" dirty="0" smtClean="0"/>
              <a:t> metadata is </a:t>
            </a:r>
            <a:r>
              <a:rPr lang="sv-SE" sz="1600" dirty="0" err="1" smtClean="0"/>
              <a:t>used</a:t>
            </a:r>
            <a:endParaRPr lang="sv-SE" sz="1600" dirty="0" smtClean="0"/>
          </a:p>
          <a:p>
            <a:pPr lvl="1"/>
            <a:r>
              <a:rPr lang="sv-SE" sz="1600" dirty="0" err="1" smtClean="0"/>
              <a:t>Shared</a:t>
            </a:r>
            <a:r>
              <a:rPr lang="sv-SE" sz="1600" dirty="0" smtClean="0"/>
              <a:t> </a:t>
            </a:r>
            <a:r>
              <a:rPr lang="sv-SE" sz="1600" dirty="0" err="1" smtClean="0"/>
              <a:t>memory</a:t>
            </a:r>
            <a:r>
              <a:rPr lang="sv-SE" sz="1600" dirty="0" smtClean="0"/>
              <a:t> </a:t>
            </a:r>
            <a:r>
              <a:rPr lang="sv-SE" sz="1600" dirty="0" err="1" smtClean="0"/>
              <a:t>name</a:t>
            </a:r>
            <a:r>
              <a:rPr lang="sv-SE" sz="1600" dirty="0" smtClean="0"/>
              <a:t> </a:t>
            </a:r>
            <a:r>
              <a:rPr lang="sv-SE" sz="1600" dirty="0" err="1"/>
              <a:t>published</a:t>
            </a:r>
            <a:r>
              <a:rPr lang="sv-SE" sz="1600" dirty="0"/>
              <a:t> by </a:t>
            </a:r>
            <a:r>
              <a:rPr lang="sv-SE" sz="1600" dirty="0" err="1"/>
              <a:t>Participant</a:t>
            </a:r>
            <a:r>
              <a:rPr lang="sv-SE" sz="1600" dirty="0"/>
              <a:t> </a:t>
            </a:r>
            <a:r>
              <a:rPr lang="sv-SE" sz="1600" dirty="0" smtClean="0"/>
              <a:t>metadata</a:t>
            </a:r>
          </a:p>
          <a:p>
            <a:pPr lvl="1"/>
            <a:r>
              <a:rPr lang="sv-SE" sz="1600" dirty="0"/>
              <a:t>RDH gets </a:t>
            </a:r>
            <a:r>
              <a:rPr lang="sv-SE" sz="1600" dirty="0" err="1" smtClean="0"/>
              <a:t>name</a:t>
            </a:r>
            <a:r>
              <a:rPr lang="sv-SE" sz="1600" dirty="0" smtClean="0"/>
              <a:t> </a:t>
            </a:r>
            <a:r>
              <a:rPr lang="sv-SE" sz="1600" dirty="0"/>
              <a:t>from </a:t>
            </a:r>
            <a:r>
              <a:rPr lang="sv-SE" sz="1600" dirty="0" err="1"/>
              <a:t>MetaDataHandler</a:t>
            </a:r>
            <a:r>
              <a:rPr lang="sv-SE" sz="1600" dirty="0"/>
              <a:t> as </a:t>
            </a:r>
            <a:r>
              <a:rPr lang="sv-SE" sz="1600" dirty="0" err="1"/>
              <a:t>they</a:t>
            </a:r>
            <a:r>
              <a:rPr lang="sv-SE" sz="1600" dirty="0"/>
              <a:t> </a:t>
            </a:r>
            <a:r>
              <a:rPr lang="sv-SE" sz="1600" dirty="0" err="1"/>
              <a:t>become</a:t>
            </a:r>
            <a:r>
              <a:rPr lang="sv-SE" sz="1600" dirty="0"/>
              <a:t> </a:t>
            </a:r>
            <a:r>
              <a:rPr lang="sv-SE" sz="1600" dirty="0" err="1"/>
              <a:t>available</a:t>
            </a:r>
            <a:r>
              <a:rPr lang="sv-SE" sz="1600" dirty="0"/>
              <a:t> and </a:t>
            </a:r>
            <a:r>
              <a:rPr lang="sv-SE" sz="1600" dirty="0" err="1"/>
              <a:t>creates</a:t>
            </a:r>
            <a:r>
              <a:rPr lang="sv-SE" sz="1600" dirty="0"/>
              <a:t> </a:t>
            </a:r>
            <a:r>
              <a:rPr lang="sv-SE" sz="1600" dirty="0" err="1"/>
              <a:t>RDCs</a:t>
            </a:r>
            <a:endParaRPr lang="sv-SE" sz="1600" dirty="0"/>
          </a:p>
          <a:p>
            <a:pPr lvl="1"/>
            <a:r>
              <a:rPr lang="sv-SE" sz="1600" dirty="0" smtClean="0"/>
              <a:t>(</a:t>
            </a:r>
            <a:r>
              <a:rPr lang="sv-SE" sz="1600" dirty="0"/>
              <a:t>Publisher) SDH </a:t>
            </a:r>
            <a:r>
              <a:rPr lang="sv-SE" sz="1600" dirty="0" err="1"/>
              <a:t>writes</a:t>
            </a:r>
            <a:r>
              <a:rPr lang="sv-SE" sz="1600" dirty="0"/>
              <a:t> data to a </a:t>
            </a:r>
            <a:r>
              <a:rPr lang="sv-SE" sz="1600" dirty="0" err="1"/>
              <a:t>circular</a:t>
            </a:r>
            <a:r>
              <a:rPr lang="sv-SE" sz="1600" dirty="0"/>
              <a:t> </a:t>
            </a:r>
            <a:r>
              <a:rPr lang="sv-SE" sz="1600" dirty="0" err="1"/>
              <a:t>buffer</a:t>
            </a:r>
            <a:r>
              <a:rPr lang="sv-SE" sz="1600" dirty="0"/>
              <a:t> in </a:t>
            </a:r>
            <a:r>
              <a:rPr lang="sv-SE" sz="1600" dirty="0" err="1"/>
              <a:t>shared</a:t>
            </a:r>
            <a:r>
              <a:rPr lang="sv-SE" sz="1600" dirty="0"/>
              <a:t> </a:t>
            </a:r>
            <a:r>
              <a:rPr lang="sv-SE" sz="1600" dirty="0" err="1"/>
              <a:t>memory</a:t>
            </a:r>
            <a:endParaRPr lang="sv-SE" sz="1600" dirty="0"/>
          </a:p>
          <a:p>
            <a:pPr lvl="1"/>
            <a:r>
              <a:rPr lang="sv-SE" sz="1600" dirty="0"/>
              <a:t>Receivers </a:t>
            </a:r>
            <a:r>
              <a:rPr lang="sv-SE" sz="1600" dirty="0" err="1"/>
              <a:t>have</a:t>
            </a:r>
            <a:r>
              <a:rPr lang="sv-SE" sz="1600" dirty="0"/>
              <a:t> a </a:t>
            </a:r>
            <a:r>
              <a:rPr lang="sv-SE" sz="1600" dirty="0" err="1"/>
              <a:t>thread</a:t>
            </a:r>
            <a:r>
              <a:rPr lang="sv-SE" sz="1600" dirty="0"/>
              <a:t> </a:t>
            </a:r>
            <a:r>
              <a:rPr lang="sv-SE" sz="1600" dirty="0" err="1"/>
              <a:t>waiting</a:t>
            </a:r>
            <a:r>
              <a:rPr lang="sv-SE" sz="1600" dirty="0"/>
              <a:t> for </a:t>
            </a:r>
            <a:r>
              <a:rPr lang="sv-SE" sz="1600" dirty="0" err="1"/>
              <a:t>unread</a:t>
            </a:r>
            <a:r>
              <a:rPr lang="sv-SE" sz="1600" dirty="0"/>
              <a:t> data</a:t>
            </a:r>
          </a:p>
          <a:p>
            <a:pPr lvl="1"/>
            <a:endParaRPr lang="sv-SE" sz="1600" dirty="0"/>
          </a:p>
        </p:txBody>
      </p:sp>
      <p:pic>
        <p:nvPicPr>
          <p:cNvPr id="9" name="Platshållare för innehåll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171" y="2434315"/>
            <a:ext cx="7074212" cy="3044266"/>
          </a:xfrm>
          <a:prstGeom prst="rect">
            <a:avLst/>
          </a:prstGeom>
        </p:spPr>
      </p:pic>
      <p:sp>
        <p:nvSpPr>
          <p:cNvPr id="8" name="textruta 7"/>
          <p:cNvSpPr txBox="1"/>
          <p:nvPr/>
        </p:nvSpPr>
        <p:spPr>
          <a:xfrm>
            <a:off x="10863711" y="1027906"/>
            <a:ext cx="956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>
                <a:hlinkClick r:id="rId4"/>
              </a:rPr>
              <a:t>Featurelist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400939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In-process transport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2026-05-27</a:t>
            </a:r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8D716-4495-4254-AF31-18E6145100B0}" type="slidenum">
              <a:rPr lang="sv-SE" smtClean="0"/>
              <a:t>52</a:t>
            </a:fld>
            <a:endParaRPr lang="sv-SE"/>
          </a:p>
        </p:txBody>
      </p:sp>
      <p:sp>
        <p:nvSpPr>
          <p:cNvPr id="7" name="Platshållare för innehåll 6"/>
          <p:cNvSpPr>
            <a:spLocks noGrp="1"/>
          </p:cNvSpPr>
          <p:nvPr>
            <p:ph idx="1"/>
          </p:nvPr>
        </p:nvSpPr>
        <p:spPr>
          <a:xfrm>
            <a:off x="838200" y="1825625"/>
            <a:ext cx="3886200" cy="4351338"/>
          </a:xfrm>
        </p:spPr>
        <p:txBody>
          <a:bodyPr>
            <a:normAutofit/>
          </a:bodyPr>
          <a:lstStyle/>
          <a:p>
            <a:r>
              <a:rPr lang="sv-SE" sz="2000" dirty="0" smtClean="0"/>
              <a:t>Many-2-Many transport</a:t>
            </a:r>
          </a:p>
          <a:p>
            <a:r>
              <a:rPr lang="sv-SE" sz="2000" dirty="0" smtClean="0"/>
              <a:t>No [de]</a:t>
            </a:r>
            <a:r>
              <a:rPr lang="sv-SE" sz="2000" dirty="0" err="1" smtClean="0"/>
              <a:t>serialization</a:t>
            </a:r>
            <a:endParaRPr lang="sv-SE" sz="2000" dirty="0" smtClean="0"/>
          </a:p>
          <a:p>
            <a:r>
              <a:rPr lang="sv-SE" sz="2000" dirty="0" err="1" smtClean="0"/>
              <a:t>Message</a:t>
            </a:r>
            <a:r>
              <a:rPr lang="sv-SE" sz="2000" dirty="0" smtClean="0"/>
              <a:t> sent as is (</a:t>
            </a:r>
            <a:r>
              <a:rPr lang="sv-SE" sz="2000" dirty="0" err="1" smtClean="0"/>
              <a:t>cloned</a:t>
            </a:r>
            <a:r>
              <a:rPr lang="sv-SE" sz="2000" dirty="0" smtClean="0"/>
              <a:t>)</a:t>
            </a:r>
          </a:p>
          <a:p>
            <a:endParaRPr lang="sv-SE" sz="2000" dirty="0"/>
          </a:p>
        </p:txBody>
      </p:sp>
      <p:pic>
        <p:nvPicPr>
          <p:cNvPr id="8" name="Platshållare för innehåll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37" y="2449286"/>
            <a:ext cx="6916761" cy="2874166"/>
          </a:xfrm>
          <a:prstGeom prst="rect">
            <a:avLst/>
          </a:prstGeom>
        </p:spPr>
      </p:pic>
      <p:sp>
        <p:nvSpPr>
          <p:cNvPr id="9" name="textruta 8"/>
          <p:cNvSpPr txBox="1"/>
          <p:nvPr/>
        </p:nvSpPr>
        <p:spPr>
          <a:xfrm>
            <a:off x="10863711" y="1027906"/>
            <a:ext cx="956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 smtClean="0">
                <a:hlinkClick r:id="rId4"/>
              </a:rPr>
              <a:t>Featurelist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3331881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7352</TotalTime>
  <Words>2490</Words>
  <Application>Microsoft Office PowerPoint</Application>
  <PresentationFormat>Bredbild</PresentationFormat>
  <Paragraphs>851</Paragraphs>
  <Slides>52</Slides>
  <Notes>50</Notes>
  <HiddenSlides>1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52</vt:i4>
      </vt:variant>
    </vt:vector>
  </HeadingPairs>
  <TitlesOfParts>
    <vt:vector size="57" baseType="lpstr">
      <vt:lpstr>Arial</vt:lpstr>
      <vt:lpstr>Calibri</vt:lpstr>
      <vt:lpstr>Calibri Light</vt:lpstr>
      <vt:lpstr>Wingdings</vt:lpstr>
      <vt:lpstr>Office-tema</vt:lpstr>
      <vt:lpstr>OPS4 in depth</vt:lpstr>
      <vt:lpstr>OPS4, Open Source</vt:lpstr>
      <vt:lpstr>OPS4, Entities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Data Objects</vt:lpstr>
      <vt:lpstr>OPS4, Topic</vt:lpstr>
      <vt:lpstr>OPS4, Domain</vt:lpstr>
      <vt:lpstr>OPS4, Participant</vt:lpstr>
      <vt:lpstr>OPS4, Publisher</vt:lpstr>
      <vt:lpstr>OPS4, Subscriber</vt:lpstr>
      <vt:lpstr>OPS4, Subscriber, Callback example</vt:lpstr>
      <vt:lpstr>OPS4, Subscriber, Lamda example</vt:lpstr>
      <vt:lpstr>OPS4, Transport </vt:lpstr>
      <vt:lpstr>OPS4, Transport </vt:lpstr>
      <vt:lpstr>OPS4, Participant</vt:lpstr>
      <vt:lpstr>OPS4, Configuration (minimal)</vt:lpstr>
      <vt:lpstr>OPS4, Configuration (full)</vt:lpstr>
      <vt:lpstr>OPS4, Configuration (full)</vt:lpstr>
      <vt:lpstr>OPS4, Configuration (full)</vt:lpstr>
      <vt:lpstr>OPS4, Configuration (full)</vt:lpstr>
      <vt:lpstr>OPS4, Large Data Objects </vt:lpstr>
      <vt:lpstr>OPS4, Memory Management </vt:lpstr>
      <vt:lpstr>OPS4, Version Handling </vt:lpstr>
      <vt:lpstr>OPS4, Binary Protocol </vt:lpstr>
      <vt:lpstr>OPS4, Tools </vt:lpstr>
      <vt:lpstr>OPS4 Artifact usage</vt:lpstr>
      <vt:lpstr>OPS4 Architecture (Internals)</vt:lpstr>
      <vt:lpstr>OPSObjects</vt:lpstr>
      <vt:lpstr>Example generated C++ data class</vt:lpstr>
      <vt:lpstr>TypeName and Inheritance descr., example</vt:lpstr>
      <vt:lpstr>Example generated C++ data class</vt:lpstr>
      <vt:lpstr>Example generated C++ data class, serialize()</vt:lpstr>
      <vt:lpstr>Archivers and OPSObject factories</vt:lpstr>
      <vt:lpstr>Example generated C++ factory</vt:lpstr>
      <vt:lpstr>Participant</vt:lpstr>
      <vt:lpstr>Publisher, SDHs and SDH Factory</vt:lpstr>
      <vt:lpstr>Subscriber, RDHs and RDH Factory</vt:lpstr>
      <vt:lpstr>Multicast transport</vt:lpstr>
      <vt:lpstr>UDP transport</vt:lpstr>
      <vt:lpstr>TCP transport</vt:lpstr>
      <vt:lpstr>Shared Memory transport</vt:lpstr>
      <vt:lpstr>In-process transport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</dc:title>
  <dc:creator>Lennart Andersson</dc:creator>
  <cp:lastModifiedBy>Microsoft-konto</cp:lastModifiedBy>
  <cp:revision>543</cp:revision>
  <cp:lastPrinted>2024-06-10T14:34:25Z</cp:lastPrinted>
  <dcterms:created xsi:type="dcterms:W3CDTF">2014-04-26T20:10:26Z</dcterms:created>
  <dcterms:modified xsi:type="dcterms:W3CDTF">2026-05-27T16:09:32Z</dcterms:modified>
</cp:coreProperties>
</file>